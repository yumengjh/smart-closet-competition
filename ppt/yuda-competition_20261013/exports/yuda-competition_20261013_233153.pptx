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  <Relationship Id="rId2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我们做的项目叫鱼搭，是一个可解释的 AI 数字衣柜与穿搭决策系统。我们从一个很日常的困境出发：衣服已经不少，出门时还是不知道穿什么。鱼搭希望让已有衣物重新获得机会，把每一次选择变得有依据。接下来，我们会讲清楚它怎么帮助用户，以及怎样走向可以持续提供的服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设想早上七点五十分，离出门只剩十分钟。衣柜有衣服，手机有照片，收藏里有灵感，但最后还是选择那几件熟悉的单品。这个情景不是调查数据，它只是把三个问题放到一起：照片分散和属性不清导致找不到；灵感不能落到已有衣物导致不会配；没有理由和预览又让人不敢试。鱼搭的机会，就在把这些断点接起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的判断是，很多时候缺少的是一套从拥有到选择的过程。先保留真实衣物，再用属性和图像理解它，结合场景、天气和风格做选择，最后把换件、喜好和恢复反馈带回下一次推荐。这是我们对项目立意的整理。让更多衣物真正被穿到是目标，目前还需要用户研究，不能把推荐曝光直接当成实际穿着效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用户首先拍照入柜，整理图片并修正属性；随后通过字段、文本和图像找衣物，得到计算推荐与理由。满意的组合可以进入搭台，在多画板里调整图层，也可以由用户接手操作。个人 OOTD 支持模特、动作和调整，用于观察效果。最后，反馈有不同粒度，也允许恢复，继续影响推荐。这里需要说明，OOTD 是生成式效果预览，不能保证尺码合身或者每个衣物细节都完全一致。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入柜不是简单存一张照片。系统保留原始资产，用本地 U²-Net 或 GrabCut 形成透明素材，原图和展示派生分开管理。属性也不把模型猜测直接当事实，而是区分已确认、推测、未知和冲突，允许用户修正。复杂背景和处理不理想的情况保留恢复路径。本页衣物是流程示意，真实实现依据在项目的图像工作流与算法文档中。这一步决定后续搜索与推荐的输入是否可靠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设想用户想明天通勤穿得精致一些。系统会计算自己的衣柜里有哪些组合，配色、场景和近期曝光可以成为具体依据。用户可以看为什么这样搭，也可以看为什么没有推荐某件衣服。想换双鞋，就重新计算替代品；这次换掉不等于永久讨厌这件单品。页面推荐和微调不调用远程大模型做推荐决策，但本地计算仍有成本。我们强调的，是有理由、能修改的选择过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助手不仅回答问题，也会协作操作搭台。LangGraph 理解意图，Java 后端掌握工具授权，通过流式事件把命令交给浏览器。浏览器实际执行后回执确认，并检查版本，因此完成状态不是聊天里一句口头承诺。多画板和图层都能由用户编辑、接手。本页界面是协议示意，不是真实截图。个人 OOTD 则先确认输入和额度，再冻结快照进入持久任务，让执行和费用有明确边界。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鱼搭把可计算步骤分成召回、组合、打分和重排。当前审美开启路径有十一维评分，风格资源有十八个画像。中文描述可用本地 BGE 和可选 CLIP，颜色通过 CIELAB 与 k-means 提取；曝光债让近期少出现的衣物重新获得机会，时间衰减反馈允许用户改变偏好。识图、对话和生图交给适合的模型，外部调用有明确用途和费用。预训练模型来自已有技术，我们的工作在领域特征、规则与重排、以及业务执行协议，当前没有自研基础模型的证据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架构里，用户端使用 Vue、TypeScript、Ant Design Vue、Pinia 和 Konva，负责交互、画板与回执，PWA 提供应用外壳。Java 二十一和 Spring Boot 四点一的主服务负责权限、推荐、数据归属、持久任务、资源池和成本确认。独立的 Node.js、TypeScript、LangGraph 运行时编排语言与工具；ONNX Runtime 承载本地抠图、文本和可选图文推理。数据使用 H2、Flyway、MyBatis Plus，图片可以本地或 S3 存储，Docker 和持续集成支撑交付。识图、生图、天气由后端按需访问，管理接口默认关闭。当前是可控单机架构，尚未证明水平扩展或高并发容量。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有一组明确条件下的历史模拟：一百六十七件仿内测衣柜、固定意图，连续二十八天。进入推荐的衣物从四十九件增加到九十七件，单品最高占比从百分之二十下降到百分之八。它说明在这个实验中，更多库存被重新看见，推荐也更少集中在同一件。数据来自十月十日的审美报告，不是本轮重测；它不等同真实穿着率，也不代表每个公平指标都改善。下一步需要把这种算法信号放到真实用户行为里验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数字衣柜并不是一个无人做过的方向。按竞品官网公开资料，Acloset 有 AI 整理、天气和场合推荐及虚拟试穿；Whering 强调穿搭规划、社交灵感和穿着统计；Stylebook 有画布拼贴、组合打乱与日历。这些基础能力与鱼搭存在重叠。我们的实现切口是中文风格线索、理由追踪、曝光均衡、反馈恢复和受控执行。资料截至十月十三日，没有付费实测；对方没有公开某个机制，不等于对方没有。我们用可展示的实现建立定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市场进入顺序从能触达、能观察的用户开始。高校与初入职场的人正在建立衣柜，也面临新的场合，适合通过校园和社群共创。通勤人群每天重复做选择，关注场景和天气之间的决策效率。穿搭爱好者则希望复用已有衣物，探索变化，编辑和预览自己的选择。这是待验证的用户假设，当前没有已经获得的规模或市场份额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阶段计划招募三十到五十位共创者，先帮助他们得到一套能够采纳的搭配，再用四周观察是否持续使用。我们会把推荐曝光与实际穿着分开记录，观察采纳、穿着覆盖和留存，随后通过付费访谈了解哪些服务值得持续购买。这里的人数和周期都是计划，不是已有成绩。获客不能停在注册，留存也不能只看打开页面，我们需要证明这件工具在日常里持续有用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商业设计准备分几层验证。衣柜与计算推荐作为基础免费能力，降低开始使用的门槛。订阅测试高级管理、长期洞察和专属服务的持续价值；OOTD 用按次或者额度包收费，把费用和生成成本绑定，避免无限生成。之后可以和造型、衣柜整理服务商共创授权工作台，先验证服务，再谈机构持续付费。高级订阅服务和机构方案尚未上线，也没有付费客户证据。我们不出售用户衣柜数据，商业合作也不暗改推荐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给一个透明的演算场景，所有数字都是假设。假设有一万活跃用户，百分之五转化为年费会员，就是五百人；假设年费一百九十九元，对应九万九千五百元年订阅收入，也就是九点九五万元。这不是预测，更不是净利润，还没有扣获客、服务器、存储、支持和税费。生成额度要单列成本；推荐虽然没有远程模型决策费，本地计算也不是零成本。先验证转化、留存和单位成本，再讨论放大市场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我们是一个全新团队，这是第一次参加比赛，没有过往竞赛奖项。我们希望评委看到已经做出的东西：前后端、搭台和个人 OOTD 的产品闭环，领域规则、风格画像、反例和快照形成的算法依据，以及持久任务、数据归属、持续集成和接口契约提供的工程保障。这些来自当前实现和既有验证记录，本轮并没有重跑业务测试或确认线上部署。成员履历没有额外编造，用户和商业验证是团队下一阶段要完成的工作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路线图把下一阶段放到证据上。已有系统提供产品和技术闭环；三十天目标是修正录入摩擦并进行四周共创观察；九十天目标是订阅和额度实验，核算单位成本；一百八十天目标是机构工作台共创，同时评估数据库与容量。时间是规划示意，不是有保证的交付日期。我们用入柜耗时、实际穿着覆盖、留存、付费和单位成本验收，而不以增加了多少功能验收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鱼搭希望做的，是理解衣柜、解释选择、持续反馈，给已有衣物一个新的出场机会。下一步我们计划招募首批共创者，一起验证更多衣物是否真正进入日常。可持续利用是愿景，我们尚未量化消费减少或者减排效果。我们愿意从一个可演示的系统出发，用真实证据把这个故事继续做下去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yuda-competitio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yuda-competitio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masthead"/>
          <p:cNvGrpSpPr/>
          <p:nvPr/>
        </p:nvGrpSpPr>
        <p:grpSpPr>
          <a:xfrm>
            <a:off x="602742" y="530225"/>
            <a:ext cx="10979658" cy="336550"/>
            <a:chOff x="602742" y="530225"/>
            <a:chExt cx="10979658" cy="336550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30225"/>
              <a:ext cx="656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YU / DA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8908542" y="530225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个人衣柜 · 新的可能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857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</p:sp>
      </p:grpSp>
      <p:grpSp>
        <p:nvGrpSpPr>
          <p:cNvPr id="10" name="cover-title"/>
          <p:cNvGrpSpPr/>
          <p:nvPr/>
        </p:nvGrpSpPr>
        <p:grpSpPr>
          <a:xfrm>
            <a:off x="590550" y="1250950"/>
            <a:ext cx="5164836" cy="3365881"/>
            <a:chOff x="590550" y="1250950"/>
            <a:chExt cx="5164836" cy="3365881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1250950"/>
              <a:ext cx="1915668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鱼搭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28650" y="250190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让衣柜里的每一件，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28650" y="3225800"/>
              <a:ext cx="34305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重新有机会。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37794" y="4235450"/>
              <a:ext cx="40971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可解释 AI 数字衣柜与穿搭决策系统</a:t>
              </a:r>
            </a:p>
          </p:txBody>
        </p:sp>
      </p:grpSp>
      <p:grpSp>
        <p:nvGrpSpPr>
          <p:cNvPr id="23" name="wardrobe-hero"/>
          <p:cNvGrpSpPr/>
          <p:nvPr/>
        </p:nvGrpSpPr>
        <p:grpSpPr>
          <a:xfrm>
            <a:off x="7191375" y="1412875"/>
            <a:ext cx="4191000" cy="3873500"/>
            <a:chOff x="7191375" y="1412875"/>
            <a:chExt cx="4191000" cy="3873500"/>
          </a:xfrm>
        </p:grpSpPr>
        <p:sp>
          <p:nvSpPr>
            <p:cNvPr id="11" name="Line 11"/>
            <p:cNvSpPr/>
            <p:nvPr/>
          </p:nvSpPr>
          <p:spPr>
            <a:xfrm>
              <a:off x="7191375" y="14192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9013825" y="1412875"/>
              <a:ext cx="292100" cy="406400"/>
            </a:xfrm>
            <a:custGeom>
              <a:avLst/>
              <a:gdLst/>
              <a:ahLst/>
              <a:cxnLst/>
              <a:rect l="l" t="t" r="r" b="b"/>
              <a:pathLst>
                <a:path w="292100" h="406400">
                  <a:moveTo>
                    <a:pt x="63500" y="406400"/>
                  </a:moveTo>
                  <a:cubicBezTo>
                    <a:pt x="0" y="196850"/>
                    <a:pt x="19050" y="69850"/>
                    <a:pt x="120650" y="25400"/>
                  </a:cubicBezTo>
                  <a:cubicBezTo>
                    <a:pt x="215900" y="0"/>
                    <a:pt x="273050" y="25400"/>
                    <a:pt x="292100" y="10160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8258175" y="1819275"/>
              <a:ext cx="1905000" cy="457200"/>
            </a:xfrm>
            <a:custGeom>
              <a:avLst/>
              <a:gdLst/>
              <a:ahLst/>
              <a:cxnLst/>
              <a:rect l="l" t="t" r="r" b="b"/>
              <a:pathLst>
                <a:path w="1905000" h="457200">
                  <a:moveTo>
                    <a:pt x="0" y="428625"/>
                  </a:moveTo>
                  <a:lnTo>
                    <a:pt x="819150" y="0"/>
                  </a:lnTo>
                  <a:lnTo>
                    <a:pt x="1905000" y="4572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372350" y="2057400"/>
              <a:ext cx="3324225" cy="3228975"/>
            </a:xfrm>
            <a:custGeom>
              <a:avLst/>
              <a:gdLst/>
              <a:ahLst/>
              <a:cxnLst/>
              <a:rect l="l" t="t" r="r" b="b"/>
              <a:pathLst>
                <a:path w="3324225" h="3228975">
                  <a:moveTo>
                    <a:pt x="1152525" y="66675"/>
                  </a:moveTo>
                  <a:lnTo>
                    <a:pt x="1457325" y="161925"/>
                  </a:lnTo>
                  <a:lnTo>
                    <a:pt x="1847850" y="133350"/>
                  </a:lnTo>
                  <a:lnTo>
                    <a:pt x="2095500" y="0"/>
                  </a:lnTo>
                  <a:lnTo>
                    <a:pt x="2895600" y="485775"/>
                  </a:lnTo>
                  <a:lnTo>
                    <a:pt x="3324225" y="1647825"/>
                  </a:lnTo>
                  <a:lnTo>
                    <a:pt x="2952750" y="1828800"/>
                  </a:lnTo>
                  <a:lnTo>
                    <a:pt x="2619375" y="1190625"/>
                  </a:lnTo>
                  <a:lnTo>
                    <a:pt x="2771775" y="3228975"/>
                  </a:lnTo>
                  <a:lnTo>
                    <a:pt x="552450" y="3228975"/>
                  </a:lnTo>
                  <a:lnTo>
                    <a:pt x="733425" y="1209675"/>
                  </a:lnTo>
                  <a:lnTo>
                    <a:pt x="419100" y="1838325"/>
                  </a:lnTo>
                  <a:lnTo>
                    <a:pt x="0" y="1647825"/>
                  </a:lnTo>
                  <a:lnTo>
                    <a:pt x="400050" y="50482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8D739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8524875" y="2124075"/>
              <a:ext cx="695325" cy="1085850"/>
            </a:xfrm>
            <a:custGeom>
              <a:avLst/>
              <a:gdLst/>
              <a:ahLst/>
              <a:cxnLst/>
              <a:rect l="l" t="t" r="r" b="b"/>
              <a:pathLst>
                <a:path w="695325" h="1085850">
                  <a:moveTo>
                    <a:pt x="0" y="0"/>
                  </a:moveTo>
                  <a:lnTo>
                    <a:pt x="495300" y="1085850"/>
                  </a:lnTo>
                  <a:lnTo>
                    <a:pt x="695325" y="66675"/>
                  </a:lnTo>
                  <a:lnTo>
                    <a:pt x="504825" y="285750"/>
                  </a:lnTo>
                  <a:lnTo>
                    <a:pt x="209550" y="64770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9020175" y="2057400"/>
              <a:ext cx="447675" cy="1152525"/>
            </a:xfrm>
            <a:custGeom>
              <a:avLst/>
              <a:gdLst/>
              <a:ahLst/>
              <a:cxnLst/>
              <a:rect l="l" t="t" r="r" b="b"/>
              <a:pathLst>
                <a:path w="447675" h="1152525">
                  <a:moveTo>
                    <a:pt x="447675" y="0"/>
                  </a:moveTo>
                  <a:lnTo>
                    <a:pt x="0" y="1152525"/>
                  </a:lnTo>
                  <a:lnTo>
                    <a:pt x="200025" y="133350"/>
                  </a:lnTo>
                  <a:lnTo>
                    <a:pt x="333375" y="419100"/>
                  </a:lnTo>
                  <a:lnTo>
                    <a:pt x="276225" y="6381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9020175" y="3209925"/>
              <a:ext cx="9525" cy="2028825"/>
            </a:xfrm>
            <a:custGeom>
              <a:avLst/>
              <a:gdLst/>
              <a:ahLst/>
              <a:cxnLst/>
              <a:rect l="l" t="t" r="r" b="b"/>
              <a:pathLst>
                <a:path w="9525" h="2028825">
                  <a:moveTo>
                    <a:pt x="0" y="0"/>
                  </a:moveTo>
                  <a:lnTo>
                    <a:pt x="0" y="2028825"/>
                  </a:lnTo>
                </a:path>
              </a:pathLst>
            </a:custGeom>
            <a:noFill/>
            <a:ln w="19050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239250" y="352425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239250" y="39243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315325" y="4181475"/>
              <a:ext cx="361950" cy="5715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458325" y="4181475"/>
              <a:ext cx="361950" cy="5715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 rot="-5400000">
              <a:off x="9772256" y="4555731"/>
              <a:ext cx="8490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RE: WEAR</a:t>
              </a:r>
            </a:p>
          </p:txBody>
        </p:sp>
      </p:grpSp>
      <p:grpSp>
        <p:nvGrpSpPr>
          <p:cNvPr id="26" name="cover-deckline"/>
          <p:cNvGrpSpPr/>
          <p:nvPr/>
        </p:nvGrpSpPr>
        <p:grpSpPr>
          <a:xfrm>
            <a:off x="640080" y="5213350"/>
            <a:ext cx="2438400" cy="617220"/>
            <a:chOff x="640080" y="5213350"/>
            <a:chExt cx="2438400" cy="617220"/>
          </a:xfrm>
        </p:grpSpPr>
        <p:sp>
          <p:nvSpPr>
            <p:cNvPr id="24" name="TextBox 24"/>
            <p:cNvSpPr txBox="1"/>
            <p:nvPr/>
          </p:nvSpPr>
          <p:spPr>
            <a:xfrm>
              <a:off x="640080" y="52133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从已有衣物出发，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0080" y="55372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把每一次选择变得有依据。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3504" y="6210300"/>
            <a:ext cx="10978896" cy="368046"/>
            <a:chOff x="603504" y="6210300"/>
            <a:chExt cx="10978896" cy="368046"/>
          </a:xfrm>
        </p:grpSpPr>
        <p:sp>
          <p:nvSpPr>
            <p:cNvPr id="27" name="Line 27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3504" y="634365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竞赛路演 / 2026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14354" y="63436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20700"/>
            <a:ext cx="6181344" cy="1094613"/>
            <a:chOff x="591312" y="520700"/>
            <a:chExt cx="6181344" cy="109461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20700"/>
              <a:ext cx="21451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/ THE DAILY DECISION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11225"/>
              <a:ext cx="618134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衣柜很满，却总穿那几件。</a:t>
              </a:r>
            </a:p>
          </p:txBody>
        </p:sp>
      </p:grpSp>
      <p:grpSp>
        <p:nvGrpSpPr>
          <p:cNvPr id="11" name="morning"/>
          <p:cNvGrpSpPr/>
          <p:nvPr/>
        </p:nvGrpSpPr>
        <p:grpSpPr>
          <a:xfrm>
            <a:off x="590550" y="2092325"/>
            <a:ext cx="3648075" cy="3399917"/>
            <a:chOff x="590550" y="2092325"/>
            <a:chExt cx="3648075" cy="3399917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2092325"/>
              <a:ext cx="2481453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07:50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9130" y="32797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出门前十分钟 · 情景示意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66750" y="3876675"/>
              <a:ext cx="3571875" cy="9525"/>
            </a:xfrm>
            <a:custGeom>
              <a:avLst/>
              <a:gdLst/>
              <a:ahLst/>
              <a:cxnLst/>
              <a:rect l="l" t="t" r="r" b="b"/>
              <a:pathLst>
                <a:path w="3571875" h="9525">
                  <a:moveTo>
                    <a:pt x="0" y="0"/>
                  </a:moveTo>
                  <a:lnTo>
                    <a:pt x="35718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54558" y="410845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照片有，灵感有。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54558" y="456565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今天怎么穿，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4558" y="502285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还是没有答案。</a:t>
              </a:r>
            </a:p>
          </p:txBody>
        </p:sp>
      </p:grpSp>
      <p:grpSp>
        <p:nvGrpSpPr>
          <p:cNvPr id="30" name="missing-choice"/>
          <p:cNvGrpSpPr/>
          <p:nvPr/>
        </p:nvGrpSpPr>
        <p:grpSpPr>
          <a:xfrm>
            <a:off x="5238750" y="2095500"/>
            <a:ext cx="6134100" cy="3311017"/>
            <a:chOff x="5238750" y="2095500"/>
            <a:chExt cx="6134100" cy="3311017"/>
          </a:xfrm>
        </p:grpSpPr>
        <p:grpSp>
          <p:nvGrpSpPr>
            <p:cNvPr id="15" name="Group 15"/>
            <p:cNvGrpSpPr/>
            <p:nvPr/>
          </p:nvGrpSpPr>
          <p:grpSpPr>
            <a:xfrm>
              <a:off x="5238750" y="2095500"/>
              <a:ext cx="5781675" cy="1076325"/>
              <a:chOff x="5238750" y="2095500"/>
              <a:chExt cx="5781675" cy="10763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238750" y="2095500"/>
                <a:ext cx="1047750" cy="1076325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1076325">
                    <a:moveTo>
                      <a:pt x="390525" y="0"/>
                    </a:moveTo>
                    <a:lnTo>
                      <a:pt x="561975" y="95250"/>
                    </a:lnTo>
                    <a:lnTo>
                      <a:pt x="723900" y="0"/>
                    </a:lnTo>
                    <a:lnTo>
                      <a:pt x="1047750" y="257175"/>
                    </a:lnTo>
                    <a:lnTo>
                      <a:pt x="914400" y="523875"/>
                    </a:lnTo>
                    <a:lnTo>
                      <a:pt x="800100" y="438150"/>
                    </a:lnTo>
                    <a:lnTo>
                      <a:pt x="800100" y="1076325"/>
                    </a:lnTo>
                    <a:lnTo>
                      <a:pt x="295275" y="1076325"/>
                    </a:lnTo>
                    <a:lnTo>
                      <a:pt x="295275" y="438150"/>
                    </a:lnTo>
                    <a:lnTo>
                      <a:pt x="152400" y="523875"/>
                    </a:lnTo>
                    <a:lnTo>
                      <a:pt x="0" y="25717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791325" y="2095500"/>
                <a:ext cx="1038225" cy="1076325"/>
              </a:xfrm>
              <a:custGeom>
                <a:avLst/>
                <a:gdLst/>
                <a:ahLst/>
                <a:cxnLst/>
                <a:rect l="l" t="t" r="r" b="b"/>
                <a:pathLst>
                  <a:path w="1038225" h="1076325">
                    <a:moveTo>
                      <a:pt x="381000" y="0"/>
                    </a:moveTo>
                    <a:lnTo>
                      <a:pt x="542925" y="95250"/>
                    </a:lnTo>
                    <a:lnTo>
                      <a:pt x="704850" y="0"/>
                    </a:lnTo>
                    <a:lnTo>
                      <a:pt x="1038225" y="257175"/>
                    </a:lnTo>
                    <a:lnTo>
                      <a:pt x="904875" y="523875"/>
                    </a:lnTo>
                    <a:lnTo>
                      <a:pt x="790575" y="438150"/>
                    </a:lnTo>
                    <a:lnTo>
                      <a:pt x="790575" y="1076325"/>
                    </a:lnTo>
                    <a:lnTo>
                      <a:pt x="295275" y="1076325"/>
                    </a:lnTo>
                    <a:lnTo>
                      <a:pt x="295275" y="438150"/>
                    </a:lnTo>
                    <a:lnTo>
                      <a:pt x="142875" y="523875"/>
                    </a:lnTo>
                    <a:lnTo>
                      <a:pt x="0" y="25717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982200" y="2095500"/>
                <a:ext cx="1038225" cy="1076325"/>
              </a:xfrm>
              <a:custGeom>
                <a:avLst/>
                <a:gdLst/>
                <a:ahLst/>
                <a:cxnLst/>
                <a:rect l="l" t="t" r="r" b="b"/>
                <a:pathLst>
                  <a:path w="1038225" h="1076325">
                    <a:moveTo>
                      <a:pt x="381000" y="0"/>
                    </a:moveTo>
                    <a:lnTo>
                      <a:pt x="542925" y="95250"/>
                    </a:lnTo>
                    <a:lnTo>
                      <a:pt x="704850" y="0"/>
                    </a:lnTo>
                    <a:lnTo>
                      <a:pt x="1038225" y="257175"/>
                    </a:lnTo>
                    <a:lnTo>
                      <a:pt x="904875" y="523875"/>
                    </a:lnTo>
                    <a:lnTo>
                      <a:pt x="790575" y="438150"/>
                    </a:lnTo>
                    <a:lnTo>
                      <a:pt x="790575" y="1076325"/>
                    </a:lnTo>
                    <a:lnTo>
                      <a:pt x="295275" y="1076325"/>
                    </a:lnTo>
                    <a:lnTo>
                      <a:pt x="295275" y="438150"/>
                    </a:lnTo>
                    <a:lnTo>
                      <a:pt x="142875" y="523875"/>
                    </a:lnTo>
                    <a:lnTo>
                      <a:pt x="0" y="25717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</p:grpSp>
        <p:sp>
          <p:nvSpPr>
            <p:cNvPr id="16" name="Freeform 16"/>
            <p:cNvSpPr/>
            <p:nvPr/>
          </p:nvSpPr>
          <p:spPr>
            <a:xfrm>
              <a:off x="8391525" y="2095500"/>
              <a:ext cx="1038225" cy="1076325"/>
            </a:xfrm>
            <a:custGeom>
              <a:avLst/>
              <a:gdLst/>
              <a:ahLst/>
              <a:cxnLst/>
              <a:rect l="l" t="t" r="r" b="b"/>
              <a:pathLst>
                <a:path w="1038225" h="1076325">
                  <a:moveTo>
                    <a:pt x="381000" y="0"/>
                  </a:moveTo>
                  <a:lnTo>
                    <a:pt x="542925" y="95250"/>
                  </a:lnTo>
                  <a:lnTo>
                    <a:pt x="704850" y="0"/>
                  </a:lnTo>
                  <a:lnTo>
                    <a:pt x="1038225" y="257175"/>
                  </a:lnTo>
                  <a:lnTo>
                    <a:pt x="904875" y="523875"/>
                  </a:lnTo>
                  <a:lnTo>
                    <a:pt x="790575" y="438150"/>
                  </a:lnTo>
                  <a:lnTo>
                    <a:pt x="790575" y="1076325"/>
                  </a:lnTo>
                  <a:lnTo>
                    <a:pt x="295275" y="1076325"/>
                  </a:lnTo>
                  <a:lnTo>
                    <a:pt x="295275" y="438150"/>
                  </a:lnTo>
                  <a:lnTo>
                    <a:pt x="142875" y="523875"/>
                  </a:lnTo>
                  <a:lnTo>
                    <a:pt x="0" y="2571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734425" y="2486025"/>
              <a:ext cx="400050" cy="4000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24900" y="25844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选它</a:t>
              </a:r>
            </a:p>
          </p:txBody>
        </p:sp>
        <p:grpSp>
          <p:nvGrpSpPr>
            <p:cNvPr id="22" name="pain-find"/>
            <p:cNvGrpSpPr/>
            <p:nvPr/>
          </p:nvGrpSpPr>
          <p:grpSpPr>
            <a:xfrm>
              <a:off x="5321808" y="3536950"/>
              <a:ext cx="6051042" cy="596900"/>
              <a:chOff x="5321808" y="3536950"/>
              <a:chExt cx="6051042" cy="596900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5321808" y="3536950"/>
                <a:ext cx="99364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找不到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924294" y="3587750"/>
                <a:ext cx="238239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照片分散，属性不清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5334000" y="4124325"/>
                <a:ext cx="6038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8850" h="9525">
                    <a:moveTo>
                      <a:pt x="0" y="0"/>
                    </a:moveTo>
                    <a:lnTo>
                      <a:pt x="603885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6" name="pain-match"/>
            <p:cNvGrpSpPr/>
            <p:nvPr/>
          </p:nvGrpSpPr>
          <p:grpSpPr>
            <a:xfrm>
              <a:off x="5321808" y="4232275"/>
              <a:ext cx="6051042" cy="606425"/>
              <a:chOff x="5321808" y="4232275"/>
              <a:chExt cx="6051042" cy="606425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5321808" y="4232275"/>
                <a:ext cx="99364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不会配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924294" y="4283075"/>
                <a:ext cx="238239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灵感落不到已有衣物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5334000" y="4829175"/>
                <a:ext cx="6038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8850" h="9525">
                    <a:moveTo>
                      <a:pt x="0" y="0"/>
                    </a:moveTo>
                    <a:lnTo>
                      <a:pt x="603885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9" name="pain-try"/>
            <p:cNvGrpSpPr/>
            <p:nvPr/>
          </p:nvGrpSpPr>
          <p:grpSpPr>
            <a:xfrm>
              <a:off x="5321808" y="4937125"/>
              <a:ext cx="4247388" cy="469392"/>
              <a:chOff x="5321808" y="4937125"/>
              <a:chExt cx="4247388" cy="469392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5321808" y="4937125"/>
                <a:ext cx="99364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不敢试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924294" y="4987925"/>
                <a:ext cx="264490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缺少理由，也缺少预览</a:t>
                </a:r>
              </a:p>
            </p:txBody>
          </p:sp>
        </p:grpSp>
      </p:grpSp>
      <p:grpSp>
        <p:nvGrpSpPr>
          <p:cNvPr id="33" name="footer"/>
          <p:cNvGrpSpPr/>
          <p:nvPr/>
        </p:nvGrpSpPr>
        <p:grpSpPr>
          <a:xfrm>
            <a:off x="603504" y="6324600"/>
            <a:ext cx="10800740" cy="234696"/>
            <a:chOff x="603504" y="6324600"/>
            <a:chExt cx="10800740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603504" y="6324600"/>
              <a:ext cx="2944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鱼搭 / 用户困境的情景表达，非调查数据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14354" y="63246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91312" y="549275"/>
            <a:ext cx="5278374" cy="1657731"/>
            <a:chOff x="591312" y="549275"/>
            <a:chExt cx="5278374" cy="1657731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49275"/>
              <a:ext cx="1165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REFRAME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1006475"/>
              <a:ext cx="515721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缺的是一套决策过程。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9694" y="182562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把库存变成可理解、可组合、可反馈的资源。</a:t>
              </a:r>
            </a:p>
          </p:txBody>
        </p:sp>
      </p:grpSp>
      <p:grpSp>
        <p:nvGrpSpPr>
          <p:cNvPr id="27" name="decision-chain"/>
          <p:cNvGrpSpPr/>
          <p:nvPr/>
        </p:nvGrpSpPr>
        <p:grpSpPr>
          <a:xfrm>
            <a:off x="595884" y="2962275"/>
            <a:ext cx="10896219" cy="1820545"/>
            <a:chOff x="595884" y="2962275"/>
            <a:chExt cx="10896219" cy="1820545"/>
          </a:xfrm>
        </p:grpSpPr>
        <p:sp>
          <p:nvSpPr>
            <p:cNvPr id="6" name="Line 6"/>
            <p:cNvSpPr/>
            <p:nvPr/>
          </p:nvSpPr>
          <p:spPr>
            <a:xfrm>
              <a:off x="1362075" y="3057525"/>
              <a:ext cx="92964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11" name="own"/>
            <p:cNvGrpSpPr/>
            <p:nvPr/>
          </p:nvGrpSpPr>
          <p:grpSpPr>
            <a:xfrm>
              <a:off x="595884" y="2962275"/>
              <a:ext cx="1232916" cy="1820545"/>
              <a:chOff x="595884" y="2962275"/>
              <a:chExt cx="1232916" cy="1820545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276350" y="2962275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595884" y="3349625"/>
                <a:ext cx="7955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rgbClr val="F5F1E8"/>
                    </a:solidFill>
                    <a:latin typeface="+mj-lt"/>
                    <a:ea typeface="+mj-ea"/>
                    <a:cs typeface="+mj-cs"/>
                  </a:rPr>
                  <a:t>拥有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99694" y="3997325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真实衣物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01980" y="448945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库存成为起点</a:t>
                </a:r>
              </a:p>
            </p:txBody>
          </p:sp>
        </p:grpSp>
        <p:grpSp>
          <p:nvGrpSpPr>
            <p:cNvPr id="16" name="understand"/>
            <p:cNvGrpSpPr/>
            <p:nvPr/>
          </p:nvGrpSpPr>
          <p:grpSpPr>
            <a:xfrm>
              <a:off x="3367659" y="2962275"/>
              <a:ext cx="1434846" cy="1820545"/>
              <a:chOff x="3367659" y="2962275"/>
              <a:chExt cx="1434846" cy="1820545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4029075" y="2962275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367659" y="3349625"/>
                <a:ext cx="7955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rgbClr val="F5F1E8"/>
                    </a:solidFill>
                    <a:latin typeface="+mj-lt"/>
                    <a:ea typeface="+mj-ea"/>
                    <a:cs typeface="+mj-cs"/>
                  </a:rPr>
                  <a:t>理解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371469" y="3997325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属性与图像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373755" y="4489450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知道它适合什么</a:t>
                </a:r>
              </a:p>
            </p:txBody>
          </p:sp>
        </p:grpSp>
        <p:grpSp>
          <p:nvGrpSpPr>
            <p:cNvPr id="21" name="choose"/>
            <p:cNvGrpSpPr/>
            <p:nvPr/>
          </p:nvGrpSpPr>
          <p:grpSpPr>
            <a:xfrm>
              <a:off x="6139434" y="2962275"/>
              <a:ext cx="2123694" cy="1820545"/>
              <a:chOff x="6139434" y="2962275"/>
              <a:chExt cx="2123694" cy="1820545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6810375" y="2962275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139434" y="3349625"/>
                <a:ext cx="7955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rgbClr val="F5F1E8"/>
                    </a:solidFill>
                    <a:latin typeface="+mj-lt"/>
                    <a:ea typeface="+mj-ea"/>
                    <a:cs typeface="+mj-cs"/>
                  </a:rPr>
                  <a:t>选择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143244" y="3997325"/>
                <a:ext cx="211988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场景、天气、风格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145530" y="448945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每次都有依据</a:t>
                </a:r>
              </a:p>
            </p:txBody>
          </p:sp>
        </p:grpSp>
        <p:grpSp>
          <p:nvGrpSpPr>
            <p:cNvPr id="26" name="feedback"/>
            <p:cNvGrpSpPr/>
            <p:nvPr/>
          </p:nvGrpSpPr>
          <p:grpSpPr>
            <a:xfrm>
              <a:off x="9368409" y="2962275"/>
              <a:ext cx="2123694" cy="1820545"/>
              <a:chOff x="9368409" y="2962275"/>
              <a:chExt cx="2123694" cy="1820545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10258425" y="2962275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368409" y="3349625"/>
                <a:ext cx="7955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rgbClr val="F5F1E8"/>
                    </a:solidFill>
                    <a:latin typeface="+mj-lt"/>
                    <a:ea typeface="+mj-ea"/>
                    <a:cs typeface="+mj-cs"/>
                  </a:rPr>
                  <a:t>反馈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372219" y="3997325"/>
                <a:ext cx="211988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换件、喜好、恢复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374505" y="4489450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影响下一次选择</a:t>
                </a:r>
              </a:p>
            </p:txBody>
          </p:sp>
        </p:grpSp>
      </p:grpSp>
      <p:grpSp>
        <p:nvGrpSpPr>
          <p:cNvPr id="29" name="goal"/>
          <p:cNvGrpSpPr/>
          <p:nvPr/>
        </p:nvGrpSpPr>
        <p:grpSpPr>
          <a:xfrm>
            <a:off x="599694" y="5454650"/>
            <a:ext cx="6845046" cy="381381"/>
            <a:chOff x="599694" y="5454650"/>
            <a:chExt cx="6845046" cy="381381"/>
          </a:xfrm>
        </p:grpSpPr>
        <p:sp>
          <p:nvSpPr>
            <p:cNvPr id="28" name="TextBox 28"/>
            <p:cNvSpPr txBox="1"/>
            <p:nvPr/>
          </p:nvSpPr>
          <p:spPr>
            <a:xfrm>
              <a:off x="599694" y="5454650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目标：让更多已有衣物进入日常穿着。效果仍需用户验证。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603504" y="6324600"/>
            <a:ext cx="10800740" cy="234696"/>
            <a:chOff x="603504" y="6324600"/>
            <a:chExt cx="10800740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603504" y="632460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鱼搭 / 立意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14354" y="63246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91312" y="520700"/>
            <a:ext cx="6181344" cy="1385570"/>
            <a:chOff x="591312" y="520700"/>
            <a:chExt cx="6181344" cy="1385570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20700"/>
              <a:ext cx="1780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/ PRODUCT LOOP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11225"/>
              <a:ext cx="618134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一个从入柜到出门的闭环。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61290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围绕真实衣柜，把能力接起来。</a:t>
              </a:r>
            </a:p>
          </p:txBody>
        </p:sp>
      </p:grpSp>
      <p:grpSp>
        <p:nvGrpSpPr>
          <p:cNvPr id="40" name="loop"/>
          <p:cNvGrpSpPr/>
          <p:nvPr/>
        </p:nvGrpSpPr>
        <p:grpSpPr>
          <a:xfrm>
            <a:off x="759333" y="2212975"/>
            <a:ext cx="9803892" cy="3217545"/>
            <a:chOff x="759333" y="2212975"/>
            <a:chExt cx="9803892" cy="3217545"/>
          </a:xfrm>
        </p:grpSpPr>
        <p:sp>
          <p:nvSpPr>
            <p:cNvPr id="6" name="Line 6"/>
            <p:cNvSpPr/>
            <p:nvPr/>
          </p:nvSpPr>
          <p:spPr>
            <a:xfrm>
              <a:off x="1895475" y="2619375"/>
              <a:ext cx="829627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10334625" y="2714625"/>
              <a:ext cx="1" cy="1609725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 flipH="1">
              <a:off x="1876425" y="4400550"/>
              <a:ext cx="841057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 flipV="1">
              <a:off x="1676400" y="2724150"/>
              <a:ext cx="1" cy="16192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prstDash val="lgDash"/>
              <a:tailEnd type="triangle" w="lg" len="lg"/>
            </a:ln>
          </p:spPr>
        </p:sp>
        <p:grpSp>
          <p:nvGrpSpPr>
            <p:cNvPr id="14" name="intake"/>
            <p:cNvGrpSpPr/>
            <p:nvPr/>
          </p:nvGrpSpPr>
          <p:grpSpPr>
            <a:xfrm>
              <a:off x="1447800" y="2212975"/>
              <a:ext cx="2731580" cy="798195"/>
              <a:chOff x="1447800" y="2212975"/>
              <a:chExt cx="2731580" cy="798195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1447800" y="2390775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613249" y="250507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311908" y="22129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拍照入柜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316480" y="2717800"/>
                <a:ext cx="18629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图片整理 · 属性修正</a:t>
                </a:r>
              </a:p>
            </p:txBody>
          </p:sp>
        </p:grpSp>
        <p:grpSp>
          <p:nvGrpSpPr>
            <p:cNvPr id="19" name="search"/>
            <p:cNvGrpSpPr/>
            <p:nvPr/>
          </p:nvGrpSpPr>
          <p:grpSpPr>
            <a:xfrm>
              <a:off x="5791200" y="2212975"/>
              <a:ext cx="2455164" cy="798195"/>
              <a:chOff x="5791200" y="2212975"/>
              <a:chExt cx="2455164" cy="798195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5791200" y="2390775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956649" y="250507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550533" y="22129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混合检索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555105" y="2717800"/>
                <a:ext cx="169125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字段 · 文本 · 图像</a:t>
                </a:r>
              </a:p>
            </p:txBody>
          </p:sp>
        </p:grpSp>
        <p:grpSp>
          <p:nvGrpSpPr>
            <p:cNvPr id="24" name="recommend"/>
            <p:cNvGrpSpPr/>
            <p:nvPr/>
          </p:nvGrpSpPr>
          <p:grpSpPr>
            <a:xfrm>
              <a:off x="8474583" y="2390775"/>
              <a:ext cx="2088642" cy="1591945"/>
              <a:chOff x="8474583" y="2390775"/>
              <a:chExt cx="2088642" cy="1591945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10106025" y="2390775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271474" y="250507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474583" y="3222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计算推荐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479155" y="3689350"/>
                <a:ext cx="169125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组合 · 评分 · 理由</a:t>
                </a:r>
              </a:p>
            </p:txBody>
          </p:sp>
        </p:grpSp>
        <p:grpSp>
          <p:nvGrpSpPr>
            <p:cNvPr id="29" name="compose"/>
            <p:cNvGrpSpPr/>
            <p:nvPr/>
          </p:nvGrpSpPr>
          <p:grpSpPr>
            <a:xfrm>
              <a:off x="8417433" y="4171950"/>
              <a:ext cx="2145792" cy="1258570"/>
              <a:chOff x="8417433" y="4171950"/>
              <a:chExt cx="2145792" cy="125857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10106025" y="4171950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271474" y="428625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417433" y="46704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搭台编辑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422005" y="5137150"/>
                <a:ext cx="14590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多画板 · 可接手</a:t>
                </a:r>
              </a:p>
            </p:txBody>
          </p:sp>
        </p:grpSp>
        <p:grpSp>
          <p:nvGrpSpPr>
            <p:cNvPr id="34" name="ootd"/>
            <p:cNvGrpSpPr/>
            <p:nvPr/>
          </p:nvGrpSpPr>
          <p:grpSpPr>
            <a:xfrm>
              <a:off x="5083683" y="4171950"/>
              <a:ext cx="1710050" cy="1258570"/>
              <a:chOff x="5083683" y="4171950"/>
              <a:chExt cx="1710050" cy="1258570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5791200" y="4171950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956649" y="428625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083683" y="4670425"/>
                <a:ext cx="171005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OOTD 预览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088255" y="5137150"/>
                <a:ext cx="169125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模特 · 动作 · 调整</a:t>
                </a:r>
              </a:p>
            </p:txBody>
          </p:sp>
        </p:grpSp>
        <p:grpSp>
          <p:nvGrpSpPr>
            <p:cNvPr id="39" name="feedback"/>
            <p:cNvGrpSpPr/>
            <p:nvPr/>
          </p:nvGrpSpPr>
          <p:grpSpPr>
            <a:xfrm>
              <a:off x="759333" y="4171950"/>
              <a:ext cx="1463612" cy="1258570"/>
              <a:chOff x="759333" y="4171950"/>
              <a:chExt cx="1463612" cy="1258570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1447800" y="4171950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613249" y="428625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59333" y="46704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反馈调整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63905" y="5137150"/>
                <a:ext cx="14590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有粒度 · 可恢复</a:t>
                </a:r>
              </a:p>
            </p:txBody>
          </p:sp>
        </p:grpSp>
      </p:grpSp>
      <p:grpSp>
        <p:nvGrpSpPr>
          <p:cNvPr id="42" name="boundary"/>
          <p:cNvGrpSpPr/>
          <p:nvPr/>
        </p:nvGrpSpPr>
        <p:grpSpPr>
          <a:xfrm>
            <a:off x="603504" y="5829300"/>
            <a:ext cx="4868875" cy="234696"/>
            <a:chOff x="603504" y="5829300"/>
            <a:chExt cx="4868875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603504" y="5829300"/>
              <a:ext cx="4868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OOTD 用于效果预览，不能证明尺码合身或保证衣物细节完全一致。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603504" y="6324600"/>
            <a:ext cx="10800740" cy="234696"/>
            <a:chOff x="603504" y="6324600"/>
            <a:chExt cx="10800740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603504" y="6324600"/>
              <a:ext cx="31865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依据：competition/01、05 · 用户链路整理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14354" y="63246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91312" y="520700"/>
            <a:ext cx="6181344" cy="1366520"/>
            <a:chOff x="591312" y="520700"/>
            <a:chExt cx="6181344" cy="1366520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20700"/>
              <a:ext cx="19106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INTAKE / 照片成为资产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11225"/>
              <a:ext cx="618134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拍一张，先变成可用资产。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59385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原图与展示派生分开；用户始终可以修正。</a:t>
              </a:r>
            </a:p>
          </p:txBody>
        </p:sp>
      </p:grpSp>
      <p:grpSp>
        <p:nvGrpSpPr>
          <p:cNvPr id="10" name="photo-source"/>
          <p:cNvGrpSpPr/>
          <p:nvPr/>
        </p:nvGrpSpPr>
        <p:grpSpPr>
          <a:xfrm>
            <a:off x="609600" y="2238375"/>
            <a:ext cx="3048000" cy="3496945"/>
            <a:chOff x="609600" y="2238375"/>
            <a:chExt cx="3048000" cy="3496945"/>
          </a:xfrm>
        </p:grpSpPr>
        <p:sp>
          <p:nvSpPr>
            <p:cNvPr id="6" name="Freeform 6"/>
            <p:cNvSpPr/>
            <p:nvPr/>
          </p:nvSpPr>
          <p:spPr>
            <a:xfrm>
              <a:off x="609600" y="2238375"/>
              <a:ext cx="3048000" cy="3086100"/>
            </a:xfrm>
            <a:prstGeom prst="foldedCorner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019175" y="2847975"/>
              <a:ext cx="1866900" cy="1838325"/>
            </a:xfrm>
            <a:custGeom>
              <a:avLst/>
              <a:gdLst/>
              <a:ahLst/>
              <a:cxnLst/>
              <a:rect l="l" t="t" r="r" b="b"/>
              <a:pathLst>
                <a:path w="1866900" h="1838325">
                  <a:moveTo>
                    <a:pt x="581025" y="0"/>
                  </a:moveTo>
                  <a:lnTo>
                    <a:pt x="923925" y="171450"/>
                  </a:lnTo>
                  <a:lnTo>
                    <a:pt x="1266825" y="0"/>
                  </a:lnTo>
                  <a:lnTo>
                    <a:pt x="1866900" y="466725"/>
                  </a:lnTo>
                  <a:lnTo>
                    <a:pt x="1590675" y="981075"/>
                  </a:lnTo>
                  <a:lnTo>
                    <a:pt x="1390650" y="857250"/>
                  </a:lnTo>
                  <a:lnTo>
                    <a:pt x="1390650" y="1838325"/>
                  </a:lnTo>
                  <a:lnTo>
                    <a:pt x="457200" y="1838325"/>
                  </a:lnTo>
                  <a:lnTo>
                    <a:pt x="457200" y="857250"/>
                  </a:lnTo>
                  <a:lnTo>
                    <a:pt x="257175" y="981075"/>
                  </a:lnTo>
                  <a:lnTo>
                    <a:pt x="0" y="4667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0392" y="2435225"/>
              <a:ext cx="1233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ORIGINAL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9630" y="54419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保留原始资产</a:t>
              </a:r>
            </a:p>
          </p:txBody>
        </p:sp>
      </p:grpSp>
      <p:grpSp>
        <p:nvGrpSpPr>
          <p:cNvPr id="15" name="cutout"/>
          <p:cNvGrpSpPr/>
          <p:nvPr/>
        </p:nvGrpSpPr>
        <p:grpSpPr>
          <a:xfrm>
            <a:off x="4010025" y="2238375"/>
            <a:ext cx="3429000" cy="3496945"/>
            <a:chOff x="4010025" y="2238375"/>
            <a:chExt cx="3429000" cy="3496945"/>
          </a:xfrm>
        </p:grpSpPr>
        <p:sp>
          <p:nvSpPr>
            <p:cNvPr id="11" name="Rectangle 11"/>
            <p:cNvSpPr/>
            <p:nvPr/>
          </p:nvSpPr>
          <p:spPr>
            <a:xfrm>
              <a:off x="4010025" y="2238375"/>
              <a:ext cx="3429000" cy="3086100"/>
            </a:xfrm>
            <a:prstGeom prst="roundRect">
              <a:avLst>
                <a:gd name="adj" fmla="val 3704"/>
              </a:avLst>
            </a:pr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743450" y="2809875"/>
              <a:ext cx="1866900" cy="1838325"/>
            </a:xfrm>
            <a:custGeom>
              <a:avLst/>
              <a:gdLst/>
              <a:ahLst/>
              <a:cxnLst/>
              <a:rect l="l" t="t" r="r" b="b"/>
              <a:pathLst>
                <a:path w="1866900" h="1838325">
                  <a:moveTo>
                    <a:pt x="581025" y="0"/>
                  </a:moveTo>
                  <a:lnTo>
                    <a:pt x="923925" y="171450"/>
                  </a:lnTo>
                  <a:lnTo>
                    <a:pt x="1266825" y="0"/>
                  </a:lnTo>
                  <a:lnTo>
                    <a:pt x="1866900" y="466725"/>
                  </a:lnTo>
                  <a:lnTo>
                    <a:pt x="1590675" y="981075"/>
                  </a:lnTo>
                  <a:lnTo>
                    <a:pt x="1390650" y="857250"/>
                  </a:lnTo>
                  <a:lnTo>
                    <a:pt x="1390650" y="1838325"/>
                  </a:lnTo>
                  <a:lnTo>
                    <a:pt x="457200" y="1838325"/>
                  </a:lnTo>
                  <a:lnTo>
                    <a:pt x="457200" y="857250"/>
                  </a:lnTo>
                  <a:lnTo>
                    <a:pt x="257175" y="981075"/>
                  </a:lnTo>
                  <a:lnTo>
                    <a:pt x="0" y="4667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41292" y="2435225"/>
              <a:ext cx="11178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CUTOUT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40530" y="5441950"/>
              <a:ext cx="2770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U²-Net / GrabCut · 透明素材</a:t>
              </a:r>
            </a:p>
          </p:txBody>
        </p:sp>
      </p:grpSp>
      <p:grpSp>
        <p:nvGrpSpPr>
          <p:cNvPr id="24" name="attributes"/>
          <p:cNvGrpSpPr/>
          <p:nvPr/>
        </p:nvGrpSpPr>
        <p:grpSpPr>
          <a:xfrm>
            <a:off x="8036433" y="2435225"/>
            <a:ext cx="3117342" cy="3300095"/>
            <a:chOff x="8036433" y="2435225"/>
            <a:chExt cx="3117342" cy="3300095"/>
          </a:xfrm>
        </p:grpSpPr>
        <p:sp>
          <p:nvSpPr>
            <p:cNvPr id="16" name="TextBox 16"/>
            <p:cNvSpPr txBox="1"/>
            <p:nvPr/>
          </p:nvSpPr>
          <p:spPr>
            <a:xfrm>
              <a:off x="8041767" y="2435225"/>
              <a:ext cx="1242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EVIDENCE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36433" y="291782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属性有证据状态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48625" y="3495675"/>
              <a:ext cx="3105150" cy="409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91119" y="3530600"/>
              <a:ext cx="163424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已确认 / 推测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91119" y="3987800"/>
              <a:ext cx="13717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未知 / 冲突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41005" y="467995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猜测不直接变成事实；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41005" y="49942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复杂背景有恢复路径。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41005" y="54419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人工修正，进入真实衣柜</a:t>
              </a:r>
            </a:p>
          </p:txBody>
        </p:sp>
      </p:grpSp>
      <p:grpSp>
        <p:nvGrpSpPr>
          <p:cNvPr id="26" name="arrows"/>
          <p:cNvGrpSpPr/>
          <p:nvPr/>
        </p:nvGrpSpPr>
        <p:grpSpPr>
          <a:xfrm>
            <a:off x="3724275" y="3781425"/>
            <a:ext cx="238125" cy="1"/>
            <a:chOff x="3724275" y="3781425"/>
            <a:chExt cx="238125" cy="1"/>
          </a:xfrm>
        </p:grpSpPr>
        <p:sp>
          <p:nvSpPr>
            <p:cNvPr id="25" name="Line 25"/>
            <p:cNvSpPr/>
            <p:nvPr/>
          </p:nvSpPr>
          <p:spPr>
            <a:xfrm>
              <a:off x="3724275" y="3781425"/>
              <a:ext cx="23812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8" name="next-arrow"/>
          <p:cNvGrpSpPr/>
          <p:nvPr/>
        </p:nvGrpSpPr>
        <p:grpSpPr>
          <a:xfrm>
            <a:off x="7496175" y="3781425"/>
            <a:ext cx="247650" cy="1"/>
            <a:chOff x="7496175" y="3781425"/>
            <a:chExt cx="247650" cy="1"/>
          </a:xfrm>
        </p:grpSpPr>
        <p:sp>
          <p:nvSpPr>
            <p:cNvPr id="27" name="Line 27"/>
            <p:cNvSpPr/>
            <p:nvPr/>
          </p:nvSpPr>
          <p:spPr>
            <a:xfrm>
              <a:off x="7496175" y="3781425"/>
              <a:ext cx="2476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31" name="footer"/>
          <p:cNvGrpSpPr/>
          <p:nvPr/>
        </p:nvGrpSpPr>
        <p:grpSpPr>
          <a:xfrm>
            <a:off x="603504" y="6324600"/>
            <a:ext cx="10800740" cy="234696"/>
            <a:chOff x="603504" y="6324600"/>
            <a:chExt cx="10800740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603504" y="6324600"/>
              <a:ext cx="41557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依据：competition/04、05 · 衣物与图片为原生流程示意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14354" y="63246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91312" y="520700"/>
            <a:ext cx="6181344" cy="1414145"/>
            <a:chOff x="591312" y="520700"/>
            <a:chExt cx="6181344" cy="1414145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20700"/>
              <a:ext cx="2208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RECOMMEND / 理由与选择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11225"/>
              <a:ext cx="618134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先给你理由，再给你选择。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641475"/>
              <a:ext cx="3680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明天通勤，想精致一些。 / 功能情景示意</a:t>
              </a:r>
            </a:p>
          </p:txBody>
        </p:sp>
      </p:grpSp>
      <p:grpSp>
        <p:nvGrpSpPr>
          <p:cNvPr id="13" name="outfit"/>
          <p:cNvGrpSpPr/>
          <p:nvPr/>
        </p:nvGrpSpPr>
        <p:grpSpPr>
          <a:xfrm>
            <a:off x="609600" y="2266950"/>
            <a:ext cx="5219700" cy="3371850"/>
            <a:chOff x="609600" y="2266950"/>
            <a:chExt cx="5219700" cy="3371850"/>
          </a:xfrm>
        </p:grpSpPr>
        <p:sp>
          <p:nvSpPr>
            <p:cNvPr id="6" name="Rectangle 6"/>
            <p:cNvSpPr/>
            <p:nvPr/>
          </p:nvSpPr>
          <p:spPr>
            <a:xfrm>
              <a:off x="609600" y="2266950"/>
              <a:ext cx="5219700" cy="3371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238250" y="2657475"/>
              <a:ext cx="1619250" cy="1466850"/>
            </a:xfrm>
            <a:custGeom>
              <a:avLst/>
              <a:gdLst/>
              <a:ahLst/>
              <a:cxnLst/>
              <a:rect l="l" t="t" r="r" b="b"/>
              <a:pathLst>
                <a:path w="1619250" h="1466850">
                  <a:moveTo>
                    <a:pt x="476250" y="0"/>
                  </a:moveTo>
                  <a:lnTo>
                    <a:pt x="800100" y="152400"/>
                  </a:lnTo>
                  <a:lnTo>
                    <a:pt x="1123950" y="0"/>
                  </a:lnTo>
                  <a:lnTo>
                    <a:pt x="1619250" y="352425"/>
                  </a:lnTo>
                  <a:lnTo>
                    <a:pt x="1428750" y="723900"/>
                  </a:lnTo>
                  <a:lnTo>
                    <a:pt x="1209675" y="590550"/>
                  </a:lnTo>
                  <a:lnTo>
                    <a:pt x="1209675" y="1466850"/>
                  </a:lnTo>
                  <a:lnTo>
                    <a:pt x="400050" y="1466850"/>
                  </a:lnTo>
                  <a:lnTo>
                    <a:pt x="400050" y="590550"/>
                  </a:lnTo>
                  <a:lnTo>
                    <a:pt x="190500" y="723900"/>
                  </a:lnTo>
                  <a:lnTo>
                    <a:pt x="0" y="35242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3343275" y="2686050"/>
              <a:ext cx="1038225" cy="1771650"/>
            </a:xfrm>
            <a:custGeom>
              <a:avLst/>
              <a:gdLst/>
              <a:ahLst/>
              <a:cxnLst/>
              <a:rect l="l" t="t" r="r" b="b"/>
              <a:pathLst>
                <a:path w="1038225" h="1771650">
                  <a:moveTo>
                    <a:pt x="180975" y="0"/>
                  </a:moveTo>
                  <a:lnTo>
                    <a:pt x="857250" y="0"/>
                  </a:lnTo>
                  <a:lnTo>
                    <a:pt x="1038225" y="1733550"/>
                  </a:lnTo>
                  <a:lnTo>
                    <a:pt x="657225" y="1771650"/>
                  </a:lnTo>
                  <a:lnTo>
                    <a:pt x="504825" y="723900"/>
                  </a:lnTo>
                  <a:lnTo>
                    <a:pt x="381000" y="1771650"/>
                  </a:lnTo>
                  <a:lnTo>
                    <a:pt x="0" y="17335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24000" y="4895850"/>
              <a:ext cx="1196975" cy="514350"/>
            </a:xfrm>
            <a:custGeom>
              <a:avLst/>
              <a:gdLst/>
              <a:ahLst/>
              <a:cxnLst/>
              <a:rect l="l" t="t" r="r" b="b"/>
              <a:pathLst>
                <a:path w="1196975" h="514350">
                  <a:moveTo>
                    <a:pt x="76200" y="0"/>
                  </a:moveTo>
                  <a:lnTo>
                    <a:pt x="438150" y="0"/>
                  </a:lnTo>
                  <a:lnTo>
                    <a:pt x="571500" y="200025"/>
                  </a:lnTo>
                  <a:lnTo>
                    <a:pt x="1085850" y="285750"/>
                  </a:lnTo>
                  <a:cubicBezTo>
                    <a:pt x="1174750" y="323850"/>
                    <a:pt x="1196975" y="400050"/>
                    <a:pt x="1152525" y="514350"/>
                  </a:cubicBezTo>
                  <a:lnTo>
                    <a:pt x="19050" y="514350"/>
                  </a:lnTo>
                  <a:lnTo>
                    <a:pt x="0" y="2762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3133725" y="4895850"/>
              <a:ext cx="1196975" cy="514350"/>
            </a:xfrm>
            <a:custGeom>
              <a:avLst/>
              <a:gdLst/>
              <a:ahLst/>
              <a:cxnLst/>
              <a:rect l="l" t="t" r="r" b="b"/>
              <a:pathLst>
                <a:path w="1196975" h="514350">
                  <a:moveTo>
                    <a:pt x="76200" y="0"/>
                  </a:moveTo>
                  <a:lnTo>
                    <a:pt x="438150" y="0"/>
                  </a:lnTo>
                  <a:lnTo>
                    <a:pt x="571500" y="200025"/>
                  </a:lnTo>
                  <a:lnTo>
                    <a:pt x="1085850" y="285750"/>
                  </a:lnTo>
                  <a:cubicBezTo>
                    <a:pt x="1174750" y="323850"/>
                    <a:pt x="1196975" y="400050"/>
                    <a:pt x="1152525" y="514350"/>
                  </a:cubicBezTo>
                  <a:lnTo>
                    <a:pt x="19050" y="514350"/>
                  </a:lnTo>
                  <a:lnTo>
                    <a:pt x="0" y="2762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0392" y="4311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配色呼应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0392" y="24638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通勤组合</a:t>
              </a:r>
            </a:p>
          </p:txBody>
        </p:sp>
      </p:grpSp>
      <p:grpSp>
        <p:nvGrpSpPr>
          <p:cNvPr id="18" name="reasons"/>
          <p:cNvGrpSpPr/>
          <p:nvPr/>
        </p:nvGrpSpPr>
        <p:grpSpPr>
          <a:xfrm>
            <a:off x="6340983" y="2346325"/>
            <a:ext cx="3959733" cy="1979295"/>
            <a:chOff x="6340983" y="2346325"/>
            <a:chExt cx="3959733" cy="1979295"/>
          </a:xfrm>
        </p:grpSpPr>
        <p:sp>
          <p:nvSpPr>
            <p:cNvPr id="14" name="TextBox 14"/>
            <p:cNvSpPr txBox="1"/>
            <p:nvPr/>
          </p:nvSpPr>
          <p:spPr>
            <a:xfrm>
              <a:off x="6340983" y="234632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为什么这样搭？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43269" y="2968625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配色关系、场景适配、近期曝光，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43269" y="336867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都可以成为具体依据。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45555" y="403225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也能查看：为什么没推荐那件。</a:t>
              </a:r>
            </a:p>
          </p:txBody>
        </p:sp>
      </p:grpSp>
      <p:grpSp>
        <p:nvGrpSpPr>
          <p:cNvPr id="22" name="swap"/>
          <p:cNvGrpSpPr/>
          <p:nvPr/>
        </p:nvGrpSpPr>
        <p:grpSpPr>
          <a:xfrm>
            <a:off x="6353175" y="4743450"/>
            <a:ext cx="5229225" cy="990600"/>
            <a:chOff x="6353175" y="4743450"/>
            <a:chExt cx="5229225" cy="990600"/>
          </a:xfrm>
        </p:grpSpPr>
        <p:sp>
          <p:nvSpPr>
            <p:cNvPr id="19" name="Rectangle 19"/>
            <p:cNvSpPr/>
            <p:nvPr/>
          </p:nvSpPr>
          <p:spPr>
            <a:xfrm>
              <a:off x="6353175" y="4743450"/>
              <a:ext cx="5229225" cy="990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79108" y="483235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换双鞋，重新计算。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83680" y="534670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这次不合适，不等于永久讨厌这件单品。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603504" y="6115050"/>
            <a:ext cx="10800740" cy="482346"/>
            <a:chOff x="603504" y="6115050"/>
            <a:chExt cx="10800740" cy="482346"/>
          </a:xfrm>
        </p:grpSpPr>
        <p:sp>
          <p:nvSpPr>
            <p:cNvPr id="23" name="TextBox 23"/>
            <p:cNvSpPr txBox="1"/>
            <p:nvPr/>
          </p:nvSpPr>
          <p:spPr>
            <a:xfrm>
              <a:off x="603504" y="6115050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页面推荐与微调：零远程大模型决策调用；本地计算仍有成本。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3504" y="6362700"/>
              <a:ext cx="39780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依据：competition/04 · 衣物为示意，不对应实际评分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14354" y="63627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20700"/>
            <a:ext cx="6181344" cy="1094613"/>
            <a:chOff x="591312" y="520700"/>
            <a:chExt cx="6181344" cy="109461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20700"/>
              <a:ext cx="21835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AGENT / TRUSTED ACTION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11225"/>
              <a:ext cx="618134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会聊天，也会把操作做实。</a:t>
              </a:r>
            </a:p>
          </p:txBody>
        </p:sp>
      </p:grpSp>
      <p:grpSp>
        <p:nvGrpSpPr>
          <p:cNvPr id="18" name="workspace"/>
          <p:cNvGrpSpPr/>
          <p:nvPr/>
        </p:nvGrpSpPr>
        <p:grpSpPr>
          <a:xfrm>
            <a:off x="609600" y="2162175"/>
            <a:ext cx="5343525" cy="3495675"/>
            <a:chOff x="609600" y="2162175"/>
            <a:chExt cx="5343525" cy="3495675"/>
          </a:xfrm>
        </p:grpSpPr>
        <p:sp>
          <p:nvSpPr>
            <p:cNvPr id="5" name="Rectangle 5"/>
            <p:cNvSpPr/>
            <p:nvPr/>
          </p:nvSpPr>
          <p:spPr>
            <a:xfrm>
              <a:off x="609600" y="2162175"/>
              <a:ext cx="5343525" cy="3495675"/>
            </a:xfrm>
            <a:prstGeom prst="roundRect">
              <a:avLst>
                <a:gd name="adj" fmla="val 327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2162175"/>
              <a:ext cx="5343525" cy="4095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3242" y="2263775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搭台 · 多画板与图层 / 示意界面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38200" y="2781300"/>
              <a:ext cx="2952750" cy="26003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190625" y="3086100"/>
              <a:ext cx="1371600" cy="1190625"/>
            </a:xfrm>
            <a:custGeom>
              <a:avLst/>
              <a:gdLst/>
              <a:ahLst/>
              <a:cxnLst/>
              <a:rect l="l" t="t" r="r" b="b"/>
              <a:pathLst>
                <a:path w="1371600" h="1190625">
                  <a:moveTo>
                    <a:pt x="409575" y="0"/>
                  </a:moveTo>
                  <a:lnTo>
                    <a:pt x="676275" y="123825"/>
                  </a:lnTo>
                  <a:lnTo>
                    <a:pt x="942975" y="0"/>
                  </a:lnTo>
                  <a:lnTo>
                    <a:pt x="1371600" y="314325"/>
                  </a:lnTo>
                  <a:lnTo>
                    <a:pt x="1228725" y="628650"/>
                  </a:lnTo>
                  <a:lnTo>
                    <a:pt x="1028700" y="523875"/>
                  </a:lnTo>
                  <a:lnTo>
                    <a:pt x="1028700" y="1190625"/>
                  </a:lnTo>
                  <a:lnTo>
                    <a:pt x="333375" y="1190625"/>
                  </a:lnTo>
                  <a:lnTo>
                    <a:pt x="333375" y="523875"/>
                  </a:lnTo>
                  <a:lnTo>
                    <a:pt x="142875" y="628650"/>
                  </a:lnTo>
                  <a:lnTo>
                    <a:pt x="0" y="3143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667000" y="3228975"/>
              <a:ext cx="638175" cy="1543050"/>
            </a:xfrm>
            <a:custGeom>
              <a:avLst/>
              <a:gdLst/>
              <a:ahLst/>
              <a:cxnLst/>
              <a:rect l="l" t="t" r="r" b="b"/>
              <a:pathLst>
                <a:path w="638175" h="1543050">
                  <a:moveTo>
                    <a:pt x="123825" y="0"/>
                  </a:moveTo>
                  <a:lnTo>
                    <a:pt x="504825" y="0"/>
                  </a:lnTo>
                  <a:lnTo>
                    <a:pt x="638175" y="1543050"/>
                  </a:lnTo>
                  <a:lnTo>
                    <a:pt x="390525" y="1543050"/>
                  </a:lnTo>
                  <a:lnTo>
                    <a:pt x="314325" y="685800"/>
                  </a:lnTo>
                  <a:lnTo>
                    <a:pt x="238125" y="1543050"/>
                  </a:lnTo>
                  <a:lnTo>
                    <a:pt x="0" y="15430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4040505" y="2917825"/>
              <a:ext cx="1598295" cy="2398395"/>
              <a:chOff x="4040505" y="2917825"/>
              <a:chExt cx="1598295" cy="2398395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4040505" y="291782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鱼搭助手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040505" y="3489325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调整布局，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040505" y="381317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并等待回执。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4048125" y="4400550"/>
                <a:ext cx="1590675" cy="3619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173855" y="4470400"/>
                <a:ext cx="121843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已执行 · ACK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040505" y="502285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用户可接手</a:t>
                </a:r>
              </a:p>
            </p:txBody>
          </p:sp>
        </p:grpSp>
      </p:grpSp>
      <p:grpSp>
        <p:nvGrpSpPr>
          <p:cNvPr id="28" name="execution"/>
          <p:cNvGrpSpPr/>
          <p:nvPr/>
        </p:nvGrpSpPr>
        <p:grpSpPr>
          <a:xfrm>
            <a:off x="6464808" y="2203450"/>
            <a:ext cx="3624548" cy="2394331"/>
            <a:chOff x="6464808" y="2203450"/>
            <a:chExt cx="3624548" cy="2394331"/>
          </a:xfrm>
        </p:grpSpPr>
        <p:sp>
          <p:nvSpPr>
            <p:cNvPr id="19" name="TextBox 19"/>
            <p:cNvSpPr txBox="1"/>
            <p:nvPr/>
          </p:nvSpPr>
          <p:spPr>
            <a:xfrm>
              <a:off x="6464808" y="2203450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完成，由实际结果确认。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9380" y="2822575"/>
              <a:ext cx="36199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LangGraph 理解意图，Java 掌握授权。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657975" y="3400425"/>
              <a:ext cx="1" cy="100965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2" name="Ellipse 22"/>
            <p:cNvSpPr/>
            <p:nvPr/>
          </p:nvSpPr>
          <p:spPr>
            <a:xfrm>
              <a:off x="6581775" y="32861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24294" y="3206750"/>
              <a:ext cx="268427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后端授权 / 工具与权限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581775" y="37909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24294" y="3711575"/>
              <a:ext cx="27001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SSE 命令 / 浏览器执行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581775" y="429577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24294" y="4216400"/>
              <a:ext cx="31623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ACK + revision / 结果确认</a:t>
              </a:r>
            </a:p>
          </p:txBody>
        </p:sp>
      </p:grpSp>
      <p:grpSp>
        <p:nvGrpSpPr>
          <p:cNvPr id="31" name="generation"/>
          <p:cNvGrpSpPr/>
          <p:nvPr/>
        </p:nvGrpSpPr>
        <p:grpSpPr>
          <a:xfrm>
            <a:off x="6469380" y="5089525"/>
            <a:ext cx="3057144" cy="636270"/>
            <a:chOff x="6469380" y="5089525"/>
            <a:chExt cx="3057144" cy="636270"/>
          </a:xfrm>
        </p:grpSpPr>
        <p:sp>
          <p:nvSpPr>
            <p:cNvPr id="29" name="TextBox 29"/>
            <p:cNvSpPr txBox="1"/>
            <p:nvPr/>
          </p:nvSpPr>
          <p:spPr>
            <a:xfrm>
              <a:off x="6469380" y="5089525"/>
              <a:ext cx="30571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个人 OOTD：确认输入与额度后，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9380" y="54324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冻结快照，进入持久任务。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03504" y="6324600"/>
            <a:ext cx="10800740" cy="234696"/>
            <a:chOff x="603504" y="6324600"/>
            <a:chExt cx="10800740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603504" y="6324600"/>
              <a:ext cx="33319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依据：competition/05 · 示意界面非真实截图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14354" y="63246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20700"/>
            <a:ext cx="7205472" cy="1094613"/>
            <a:chOff x="591312" y="520700"/>
            <a:chExt cx="7205472" cy="109461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20700"/>
              <a:ext cx="3402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/ COMPUTE WHAT CAN BE COMPUTED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11225"/>
              <a:ext cx="7205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算法负责决策，模型负责表达。</a:t>
              </a:r>
            </a:p>
          </p:txBody>
        </p:sp>
      </p:grpSp>
      <p:grpSp>
        <p:nvGrpSpPr>
          <p:cNvPr id="18" name="compute"/>
          <p:cNvGrpSpPr/>
          <p:nvPr/>
        </p:nvGrpSpPr>
        <p:grpSpPr>
          <a:xfrm>
            <a:off x="609600" y="2085975"/>
            <a:ext cx="6972300" cy="3324225"/>
            <a:chOff x="609600" y="2085975"/>
            <a:chExt cx="6972300" cy="3324225"/>
          </a:xfrm>
        </p:grpSpPr>
        <p:sp>
          <p:nvSpPr>
            <p:cNvPr id="5" name="Rectangle 5"/>
            <p:cNvSpPr/>
            <p:nvPr/>
          </p:nvSpPr>
          <p:spPr>
            <a:xfrm>
              <a:off x="609600" y="2085975"/>
              <a:ext cx="6972300" cy="33242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49630" y="2327275"/>
              <a:ext cx="33369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推荐计算 / 可重复 · 可解释 · 可测试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38200" y="271780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35658" y="302260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维评分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76700" y="271780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50358" y="30226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风格画像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04875" y="3810000"/>
              <a:ext cx="620077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6394" y="3978275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召回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33269" y="3978275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09669" y="3978275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95644" y="3978275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重排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630" y="4565650"/>
              <a:ext cx="39069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BGE 语义 / 可选 CLIP · CIELAB / k-means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9630" y="4918075"/>
              <a:ext cx="41144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曝光债 · 时间衰减反馈 · 领域规则与风格线索</a:t>
              </a:r>
            </a:p>
          </p:txBody>
        </p:sp>
      </p:grpSp>
      <p:grpSp>
        <p:nvGrpSpPr>
          <p:cNvPr id="25" name="model"/>
          <p:cNvGrpSpPr/>
          <p:nvPr/>
        </p:nvGrpSpPr>
        <p:grpSpPr>
          <a:xfrm>
            <a:off x="7987284" y="2232025"/>
            <a:ext cx="3595116" cy="2979420"/>
            <a:chOff x="7987284" y="2232025"/>
            <a:chExt cx="3595116" cy="2979420"/>
          </a:xfrm>
        </p:grpSpPr>
        <p:sp>
          <p:nvSpPr>
            <p:cNvPr id="19" name="TextBox 19"/>
            <p:cNvSpPr txBox="1"/>
            <p:nvPr/>
          </p:nvSpPr>
          <p:spPr>
            <a:xfrm>
              <a:off x="7988808" y="223202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模型的工作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001000" y="2819400"/>
              <a:ext cx="3581400" cy="9525"/>
            </a:xfrm>
            <a:custGeom>
              <a:avLst/>
              <a:gdLst/>
              <a:ahLst/>
              <a:cxnLst/>
              <a:rect l="l" t="t" r="r" b="b"/>
              <a:pathLst>
                <a:path w="3581400" h="9525">
                  <a:moveTo>
                    <a:pt x="0" y="0"/>
                  </a:moveTo>
                  <a:lnTo>
                    <a:pt x="358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87284" y="3051175"/>
              <a:ext cx="321503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识图 · 对话 · 生图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91094" y="3787775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理解自然语言，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91094" y="4187825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提供视觉能力。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93380" y="49180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外部调用有明确用途与费用。</a:t>
              </a:r>
            </a:p>
          </p:txBody>
        </p:sp>
      </p:grpSp>
      <p:grpSp>
        <p:nvGrpSpPr>
          <p:cNvPr id="27" name="contribution"/>
          <p:cNvGrpSpPr/>
          <p:nvPr/>
        </p:nvGrpSpPr>
        <p:grpSpPr>
          <a:xfrm>
            <a:off x="601980" y="5775325"/>
            <a:ext cx="7486650" cy="293370"/>
            <a:chOff x="601980" y="5775325"/>
            <a:chExt cx="7486650" cy="293370"/>
          </a:xfrm>
        </p:grpSpPr>
        <p:sp>
          <p:nvSpPr>
            <p:cNvPr id="26" name="TextBox 26"/>
            <p:cNvSpPr txBox="1"/>
            <p:nvPr/>
          </p:nvSpPr>
          <p:spPr>
            <a:xfrm>
              <a:off x="601980" y="577532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项目贡献：</a:t>
              </a: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领域特征、规则与重排、执行协议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。预训练模型复用，未自研基础模型。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3504" y="6324600"/>
            <a:ext cx="10800740" cy="234696"/>
            <a:chOff x="603504" y="6324600"/>
            <a:chExt cx="10800740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603504" y="6324600"/>
              <a:ext cx="5238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依据：competition/04 · 11 维为当前审美开启路径，18 为风格画像资源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14354" y="63246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20700"/>
            <a:ext cx="5669280" cy="1094613"/>
            <a:chOff x="591312" y="520700"/>
            <a:chExt cx="5669280" cy="109461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20700"/>
              <a:ext cx="25443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ARCHITECTURE / 业务掌握边界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11225"/>
              <a:ext cx="566928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为可控的真实产品而建。</a:t>
              </a:r>
            </a:p>
          </p:txBody>
        </p:sp>
      </p:grpSp>
      <p:grpSp>
        <p:nvGrpSpPr>
          <p:cNvPr id="40" name="architecture"/>
          <p:cNvGrpSpPr/>
          <p:nvPr/>
        </p:nvGrpSpPr>
        <p:grpSpPr>
          <a:xfrm>
            <a:off x="609600" y="2133600"/>
            <a:ext cx="10972800" cy="3524250"/>
            <a:chOff x="609600" y="2133600"/>
            <a:chExt cx="10972800" cy="3524250"/>
          </a:xfrm>
        </p:grpSpPr>
        <p:grpSp>
          <p:nvGrpSpPr>
            <p:cNvPr id="11" name="client"/>
            <p:cNvGrpSpPr/>
            <p:nvPr/>
          </p:nvGrpSpPr>
          <p:grpSpPr>
            <a:xfrm>
              <a:off x="609600" y="2133600"/>
              <a:ext cx="2895600" cy="2152650"/>
              <a:chOff x="609600" y="2133600"/>
              <a:chExt cx="2895600" cy="215265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609600" y="2133600"/>
                <a:ext cx="2895600" cy="2152650"/>
              </a:xfrm>
              <a:prstGeom prst="rect">
                <a:avLst/>
              </a:prstGeom>
              <a:solidFill>
                <a:srgbClr val="4A3853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16483" y="2251075"/>
                <a:ext cx="99364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用户端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8769" y="2730500"/>
                <a:ext cx="238666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Vue 3 / TypeScript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21055" y="3152775"/>
                <a:ext cx="213305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Ant Design Vue · Pinia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21055" y="3517900"/>
                <a:ext cx="18839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Konva 多画板 · PWA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21817" y="3930650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交互、编辑、执行回执</a:t>
                </a:r>
              </a:p>
            </p:txBody>
          </p:sp>
        </p:grpSp>
        <p:grpSp>
          <p:nvGrpSpPr>
            <p:cNvPr id="19" name="java"/>
            <p:cNvGrpSpPr/>
            <p:nvPr/>
          </p:nvGrpSpPr>
          <p:grpSpPr>
            <a:xfrm>
              <a:off x="4010025" y="2133600"/>
              <a:ext cx="3629025" cy="2152650"/>
              <a:chOff x="4010025" y="2133600"/>
              <a:chExt cx="3629025" cy="21526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010025" y="2133600"/>
                <a:ext cx="3629025" cy="21526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4235958" y="2251075"/>
                <a:ext cx="3276838" cy="1943608"/>
                <a:chOff x="4235958" y="2251075"/>
                <a:chExt cx="3276838" cy="1943608"/>
              </a:xfrm>
            </p:grpSpPr>
            <p:sp>
              <p:nvSpPr>
                <p:cNvPr id="13" name="TextBox 13"/>
                <p:cNvSpPr txBox="1"/>
                <p:nvPr/>
              </p:nvSpPr>
              <p:spPr>
                <a:xfrm>
                  <a:off x="4235958" y="2251075"/>
                  <a:ext cx="2499932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4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Java 业务主服务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4238244" y="2730500"/>
                  <a:ext cx="3274552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9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Java 21 / Spring Boot 4.1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4240530" y="3165475"/>
                  <a:ext cx="2940701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Security · 推荐计算 · 数据归属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4240530" y="3517900"/>
                  <a:ext cx="2700909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持久任务 · 资源池 · 成本确认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4241292" y="3930650"/>
                  <a:ext cx="2215134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管理 API 可插拔，默认关闭</a:t>
                  </a:r>
                </a:p>
              </p:txBody>
            </p:sp>
          </p:grpSp>
        </p:grpSp>
        <p:grpSp>
          <p:nvGrpSpPr>
            <p:cNvPr id="23" name="agent"/>
            <p:cNvGrpSpPr/>
            <p:nvPr/>
          </p:nvGrpSpPr>
          <p:grpSpPr>
            <a:xfrm>
              <a:off x="8134350" y="2133600"/>
              <a:ext cx="3448050" cy="1000125"/>
              <a:chOff x="8134350" y="2133600"/>
              <a:chExt cx="3448050" cy="1000125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134350" y="2133600"/>
                <a:ext cx="3448050" cy="1000125"/>
              </a:xfrm>
              <a:prstGeom prst="rect">
                <a:avLst/>
              </a:prstGeom>
              <a:solidFill>
                <a:srgbClr val="4A3853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362569" y="2273300"/>
                <a:ext cx="272373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Node.js / LangGraph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64855" y="2727325"/>
                <a:ext cx="273573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TypeScript · 语言与工具编排</a:t>
                </a:r>
              </a:p>
            </p:txBody>
          </p:sp>
        </p:grpSp>
        <p:grpSp>
          <p:nvGrpSpPr>
            <p:cNvPr id="27" name="onnx"/>
            <p:cNvGrpSpPr/>
            <p:nvPr/>
          </p:nvGrpSpPr>
          <p:grpSpPr>
            <a:xfrm>
              <a:off x="8134350" y="3362325"/>
              <a:ext cx="3448050" cy="923925"/>
              <a:chOff x="8134350" y="3362325"/>
              <a:chExt cx="3448050" cy="9239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8134350" y="3362325"/>
                <a:ext cx="3448050" cy="923925"/>
              </a:xfrm>
              <a:prstGeom prst="rect">
                <a:avLst/>
              </a:prstGeom>
              <a:solidFill>
                <a:srgbClr val="4A3853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362569" y="3463925"/>
                <a:ext cx="185753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ONNX Runtime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364855" y="3908425"/>
                <a:ext cx="24223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U²-Net · BGE · 可选 CLIP</a:t>
                </a:r>
              </a:p>
            </p:txBody>
          </p:sp>
        </p:grpSp>
        <p:sp>
          <p:nvSpPr>
            <p:cNvPr id="28" name="Line 28"/>
            <p:cNvSpPr/>
            <p:nvPr/>
          </p:nvSpPr>
          <p:spPr>
            <a:xfrm>
              <a:off x="3514725" y="3219450"/>
              <a:ext cx="4762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9" name="Line 29"/>
            <p:cNvSpPr/>
            <p:nvPr/>
          </p:nvSpPr>
          <p:spPr>
            <a:xfrm>
              <a:off x="7658100" y="2638425"/>
              <a:ext cx="44767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0" name="Line 30"/>
            <p:cNvSpPr/>
            <p:nvPr/>
          </p:nvSpPr>
          <p:spPr>
            <a:xfrm>
              <a:off x="7658100" y="3819525"/>
              <a:ext cx="44767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1" name="Line 31"/>
            <p:cNvSpPr/>
            <p:nvPr/>
          </p:nvSpPr>
          <p:spPr>
            <a:xfrm>
              <a:off x="5829300" y="4295775"/>
              <a:ext cx="1" cy="3333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35" name="persistence"/>
            <p:cNvGrpSpPr/>
            <p:nvPr/>
          </p:nvGrpSpPr>
          <p:grpSpPr>
            <a:xfrm>
              <a:off x="609600" y="4667250"/>
              <a:ext cx="7029450" cy="990600"/>
              <a:chOff x="609600" y="4667250"/>
              <a:chExt cx="7029450" cy="9906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09600" y="4667250"/>
                <a:ext cx="7029450" cy="990600"/>
              </a:xfrm>
              <a:prstGeom prst="rect">
                <a:avLst/>
              </a:prstGeom>
              <a:solidFill>
                <a:srgbClr val="4A385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28294" y="4768850"/>
                <a:ext cx="340609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H2 / Flyway / MyBatis Plus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30580" y="5232400"/>
                <a:ext cx="539582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本地或 S3 图片 · 持久执行记录 · Docker / GitHub Actions</a:t>
                </a:r>
              </a:p>
            </p:txBody>
          </p:sp>
        </p:grpSp>
        <p:grpSp>
          <p:nvGrpSpPr>
            <p:cNvPr id="39" name="upstream"/>
            <p:cNvGrpSpPr/>
            <p:nvPr/>
          </p:nvGrpSpPr>
          <p:grpSpPr>
            <a:xfrm>
              <a:off x="8134350" y="4667250"/>
              <a:ext cx="3448050" cy="990600"/>
              <a:chOff x="8134350" y="4667250"/>
              <a:chExt cx="3448050" cy="9906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8134350" y="4667250"/>
                <a:ext cx="3448050" cy="990600"/>
              </a:xfrm>
              <a:prstGeom prst="rect">
                <a:avLst/>
              </a:prstGeom>
              <a:noFill/>
              <a:ln w="9525">
                <a:solidFill>
                  <a:schemeClr val="accent6"/>
                </a:solidFill>
                <a:prstDash val="lgDash"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362569" y="4768850"/>
                <a:ext cx="242176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外部服务 / 按需调用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364855" y="5232400"/>
                <a:ext cx="28725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识图、生图、天气 · 由后端访问</a:t>
                </a:r>
              </a:p>
            </p:txBody>
          </p:sp>
        </p:grpSp>
      </p:grpSp>
      <p:grpSp>
        <p:nvGrpSpPr>
          <p:cNvPr id="42" name="boundary"/>
          <p:cNvGrpSpPr/>
          <p:nvPr/>
        </p:nvGrpSpPr>
        <p:grpSpPr>
          <a:xfrm>
            <a:off x="603504" y="5895975"/>
            <a:ext cx="4785817" cy="234696"/>
            <a:chOff x="603504" y="5895975"/>
            <a:chExt cx="4785817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603504" y="5895975"/>
              <a:ext cx="47858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当前为可控单机架构；未证明数据库/调度水平扩展或高并发容量。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603504" y="6324600"/>
            <a:ext cx="10800740" cy="234696"/>
            <a:chOff x="603504" y="6324600"/>
            <a:chExt cx="10800740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603504" y="6324600"/>
              <a:ext cx="48019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依据：competition/03、05 · 主要技术栈；完整版本与取舍见资料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14354" y="63246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91312" y="520700"/>
            <a:ext cx="7256678" cy="1423670"/>
            <a:chOff x="591312" y="520700"/>
            <a:chExt cx="7256678" cy="1423670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20700"/>
              <a:ext cx="2121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EVIDENCE / 历史模拟实验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36625"/>
              <a:ext cx="725667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让“总穿那几件”成为可测问题。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651000"/>
              <a:ext cx="42456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167 件仿内测衣柜 · 固定意图 · 连续模拟 28 天</a:t>
              </a:r>
            </a:p>
          </p:txBody>
        </p:sp>
      </p:grpSp>
      <p:grpSp>
        <p:nvGrpSpPr>
          <p:cNvPr id="13" name="coverage"/>
          <p:cNvGrpSpPr/>
          <p:nvPr/>
        </p:nvGrpSpPr>
        <p:grpSpPr>
          <a:xfrm>
            <a:off x="590550" y="2501900"/>
            <a:ext cx="4724400" cy="2757170"/>
            <a:chOff x="590550" y="2501900"/>
            <a:chExt cx="4724400" cy="2757170"/>
          </a:xfrm>
        </p:grpSpPr>
        <p:sp>
          <p:nvSpPr>
            <p:cNvPr id="6" name="TextBox 6"/>
            <p:cNvSpPr txBox="1"/>
            <p:nvPr/>
          </p:nvSpPr>
          <p:spPr>
            <a:xfrm>
              <a:off x="599694" y="250190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进入推荐的衣物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3044825"/>
              <a:ext cx="1015441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57400" y="3222625"/>
              <a:ext cx="34907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81325" y="3044825"/>
              <a:ext cx="1064308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97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4238625"/>
              <a:ext cx="4705350" cy="5238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8769" y="434022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更多库存，被重新看见。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1980" y="496570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单位：件；统计推荐曝光，非实际穿着。</a:t>
              </a:r>
            </a:p>
          </p:txBody>
        </p:sp>
      </p:grpSp>
      <p:grpSp>
        <p:nvGrpSpPr>
          <p:cNvPr id="20" name="concentration"/>
          <p:cNvGrpSpPr/>
          <p:nvPr/>
        </p:nvGrpSpPr>
        <p:grpSpPr>
          <a:xfrm>
            <a:off x="6372225" y="2501900"/>
            <a:ext cx="5210175" cy="2486406"/>
            <a:chOff x="6372225" y="2501900"/>
            <a:chExt cx="5210175" cy="2486406"/>
          </a:xfrm>
        </p:grpSpPr>
        <p:sp>
          <p:nvSpPr>
            <p:cNvPr id="14" name="TextBox 14"/>
            <p:cNvSpPr txBox="1"/>
            <p:nvPr/>
          </p:nvSpPr>
          <p:spPr>
            <a:xfrm>
              <a:off x="6381369" y="2501900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单品最高占比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72225" y="3044825"/>
              <a:ext cx="1681810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86775" y="3222625"/>
              <a:ext cx="34907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63075" y="3044825"/>
              <a:ext cx="1250892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8%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391275" y="4400550"/>
              <a:ext cx="5191125" cy="9525"/>
            </a:xfrm>
            <a:custGeom>
              <a:avLst/>
              <a:gdLst/>
              <a:ahLst/>
              <a:cxnLst/>
              <a:rect l="l" t="t" r="r" b="b"/>
              <a:pathLst>
                <a:path w="5191125" h="9525">
                  <a:moveTo>
                    <a:pt x="0" y="0"/>
                  </a:moveTo>
                  <a:lnTo>
                    <a:pt x="51911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1369" y="460692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避免过度集中在同一件。</a:t>
              </a:r>
            </a:p>
          </p:txBody>
        </p:sp>
      </p:grpSp>
      <p:grpSp>
        <p:nvGrpSpPr>
          <p:cNvPr id="22" name="qualifier"/>
          <p:cNvGrpSpPr/>
          <p:nvPr/>
        </p:nvGrpSpPr>
        <p:grpSpPr>
          <a:xfrm>
            <a:off x="601980" y="5632450"/>
            <a:ext cx="6678930" cy="293370"/>
            <a:chOff x="601980" y="5632450"/>
            <a:chExt cx="6678930" cy="293370"/>
          </a:xfrm>
        </p:grpSpPr>
        <p:sp>
          <p:nvSpPr>
            <p:cNvPr id="21" name="TextBox 21"/>
            <p:cNvSpPr txBox="1"/>
            <p:nvPr/>
          </p:nvSpPr>
          <p:spPr>
            <a:xfrm>
              <a:off x="601980" y="56324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支持曝光覆盖改善；不等同真实穿着效果，也不代表所有公平指标都改善。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603504" y="6286500"/>
            <a:ext cx="10800740" cy="234696"/>
            <a:chOff x="603504" y="6286500"/>
            <a:chExt cx="10800740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603504" y="6286500"/>
              <a:ext cx="66575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来源：2026-10-10 reports/recommend-aesthetic/README.md · 历史记录，非本轮重测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14354" y="62865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91312" y="520700"/>
            <a:ext cx="7205472" cy="1395095"/>
            <a:chOff x="591312" y="520700"/>
            <a:chExt cx="7205472" cy="1395095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20700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 / POSITIONING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11225"/>
              <a:ext cx="7205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同赛道，选择更可解释的切口。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62242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基础功能已有同类；我们的定位建立在可展示的实现特点上。</a:t>
              </a:r>
            </a:p>
          </p:txBody>
        </p:sp>
      </p:grpSp>
      <p:grpSp>
        <p:nvGrpSpPr>
          <p:cNvPr id="11" name="acloset"/>
          <p:cNvGrpSpPr/>
          <p:nvPr/>
        </p:nvGrpSpPr>
        <p:grpSpPr>
          <a:xfrm>
            <a:off x="595884" y="2298700"/>
            <a:ext cx="3109341" cy="2038858"/>
            <a:chOff x="595884" y="2298700"/>
            <a:chExt cx="3109341" cy="2038858"/>
          </a:xfrm>
        </p:grpSpPr>
        <p:sp>
          <p:nvSpPr>
            <p:cNvPr id="6" name="TextBox 6"/>
            <p:cNvSpPr txBox="1"/>
            <p:nvPr/>
          </p:nvSpPr>
          <p:spPr>
            <a:xfrm>
              <a:off x="595884" y="2298700"/>
              <a:ext cx="145232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Acloset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2886075"/>
              <a:ext cx="3095625" cy="9525"/>
            </a:xfrm>
            <a:custGeom>
              <a:avLst/>
              <a:gdLst/>
              <a:ahLst/>
              <a:cxnLst/>
              <a:rect l="l" t="t" r="r" b="b"/>
              <a:pathLst>
                <a:path w="3095625" h="9525">
                  <a:moveTo>
                    <a:pt x="0" y="0"/>
                  </a:moveTo>
                  <a:lnTo>
                    <a:pt x="30956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694" y="3111500"/>
              <a:ext cx="23207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整理、天气/场合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694" y="3511550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推荐与虚拟试穿。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4073525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acloset.app</a:t>
              </a:r>
            </a:p>
          </p:txBody>
        </p:sp>
      </p:grpSp>
      <p:grpSp>
        <p:nvGrpSpPr>
          <p:cNvPr id="17" name="whering"/>
          <p:cNvGrpSpPr/>
          <p:nvPr/>
        </p:nvGrpSpPr>
        <p:grpSpPr>
          <a:xfrm>
            <a:off x="4310634" y="2298700"/>
            <a:ext cx="3109341" cy="2038858"/>
            <a:chOff x="4310634" y="2298700"/>
            <a:chExt cx="3109341" cy="2038858"/>
          </a:xfrm>
        </p:grpSpPr>
        <p:sp>
          <p:nvSpPr>
            <p:cNvPr id="12" name="TextBox 12"/>
            <p:cNvSpPr txBox="1"/>
            <p:nvPr/>
          </p:nvSpPr>
          <p:spPr>
            <a:xfrm>
              <a:off x="4310634" y="2298700"/>
              <a:ext cx="153148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Whering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324350" y="2886075"/>
              <a:ext cx="3095625" cy="9525"/>
            </a:xfrm>
            <a:custGeom>
              <a:avLst/>
              <a:gdLst/>
              <a:ahLst/>
              <a:cxnLst/>
              <a:rect l="l" t="t" r="r" b="b"/>
              <a:pathLst>
                <a:path w="3095625" h="9525">
                  <a:moveTo>
                    <a:pt x="0" y="0"/>
                  </a:moveTo>
                  <a:lnTo>
                    <a:pt x="30956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314444" y="311150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穿搭规划、社交灵感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14444" y="3511550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与穿着统计。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7492" y="4073525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whering.co.uk</a:t>
              </a:r>
            </a:p>
          </p:txBody>
        </p:sp>
      </p:grpSp>
      <p:grpSp>
        <p:nvGrpSpPr>
          <p:cNvPr id="23" name="stylebook"/>
          <p:cNvGrpSpPr/>
          <p:nvPr/>
        </p:nvGrpSpPr>
        <p:grpSpPr>
          <a:xfrm>
            <a:off x="8006334" y="2298700"/>
            <a:ext cx="3576066" cy="2038858"/>
            <a:chOff x="8006334" y="2298700"/>
            <a:chExt cx="3576066" cy="2038858"/>
          </a:xfrm>
        </p:grpSpPr>
        <p:sp>
          <p:nvSpPr>
            <p:cNvPr id="18" name="TextBox 18"/>
            <p:cNvSpPr txBox="1"/>
            <p:nvPr/>
          </p:nvSpPr>
          <p:spPr>
            <a:xfrm>
              <a:off x="8006334" y="2298700"/>
              <a:ext cx="1875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Stylebook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20050" y="2886075"/>
              <a:ext cx="3562350" cy="9525"/>
            </a:xfrm>
            <a:custGeom>
              <a:avLst/>
              <a:gdLst/>
              <a:ahLst/>
              <a:cxnLst/>
              <a:rect l="l" t="t" r="r" b="b"/>
              <a:pathLst>
                <a:path w="3562350" h="9525">
                  <a:moveTo>
                    <a:pt x="0" y="0"/>
                  </a:moveTo>
                  <a:lnTo>
                    <a:pt x="35623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10144" y="3111500"/>
              <a:ext cx="22850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画布拼贴、Shuffle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10144" y="3511550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与穿着日历。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13192" y="4073525"/>
              <a:ext cx="16039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stylebookapp.com</a:t>
              </a:r>
            </a:p>
          </p:txBody>
        </p:sp>
      </p:grpSp>
      <p:grpSp>
        <p:nvGrpSpPr>
          <p:cNvPr id="27" name="yuda-position"/>
          <p:cNvGrpSpPr/>
          <p:nvPr/>
        </p:nvGrpSpPr>
        <p:grpSpPr>
          <a:xfrm>
            <a:off x="609600" y="4657725"/>
            <a:ext cx="10972800" cy="1247775"/>
            <a:chOff x="609600" y="4657725"/>
            <a:chExt cx="10972800" cy="1247775"/>
          </a:xfrm>
        </p:grpSpPr>
        <p:sp>
          <p:nvSpPr>
            <p:cNvPr id="24" name="Rectangle 24"/>
            <p:cNvSpPr/>
            <p:nvPr/>
          </p:nvSpPr>
          <p:spPr>
            <a:xfrm>
              <a:off x="609600" y="4657725"/>
              <a:ext cx="10972800" cy="12477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6008" y="479425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鱼搭的实现切口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8294" y="5349875"/>
              <a:ext cx="70025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中文风格线索 · 理由追踪 · 曝光均衡 · 反馈恢复 · 受控执行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03504" y="6143625"/>
            <a:ext cx="10800740" cy="472821"/>
            <a:chOff x="603504" y="6143625"/>
            <a:chExt cx="10800740" cy="472821"/>
          </a:xfrm>
        </p:grpSpPr>
        <p:sp>
          <p:nvSpPr>
            <p:cNvPr id="28" name="TextBox 28"/>
            <p:cNvSpPr txBox="1"/>
            <p:nvPr/>
          </p:nvSpPr>
          <p:spPr>
            <a:xfrm>
              <a:off x="603504" y="6143625"/>
              <a:ext cx="57470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来源：竞品官网公开能力，2026-10-13；未付费实测，未公开不代表竞品没有。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3504" y="6381750"/>
              <a:ext cx="5270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依据：competition/02 · 比较公开能力与自身定位，不评判竞品内部算法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14354" y="63817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20700"/>
            <a:ext cx="8280806" cy="1120013"/>
            <a:chOff x="591312" y="520700"/>
            <a:chExt cx="8280806" cy="112001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20700"/>
              <a:ext cx="23248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TARGET MARKET / 用户假设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36625"/>
              <a:ext cx="828080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先找到“衣服不少、选择很难”的人。</a:t>
              </a:r>
            </a:p>
          </p:txBody>
        </p:sp>
      </p:grpSp>
      <p:grpSp>
        <p:nvGrpSpPr>
          <p:cNvPr id="13" name="first-audience"/>
          <p:cNvGrpSpPr/>
          <p:nvPr/>
        </p:nvGrpSpPr>
        <p:grpSpPr>
          <a:xfrm>
            <a:off x="609600" y="2181225"/>
            <a:ext cx="5305425" cy="3600450"/>
            <a:chOff x="609600" y="2181225"/>
            <a:chExt cx="5305425" cy="3600450"/>
          </a:xfrm>
        </p:grpSpPr>
        <p:sp>
          <p:nvSpPr>
            <p:cNvPr id="5" name="Rectangle 5"/>
            <p:cNvSpPr/>
            <p:nvPr/>
          </p:nvSpPr>
          <p:spPr>
            <a:xfrm>
              <a:off x="609600" y="2181225"/>
              <a:ext cx="5305425" cy="3600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50392" y="2463800"/>
              <a:ext cx="14415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FIRST / 优先触达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43534" y="2968625"/>
              <a:ext cx="271576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高校与初入职场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7344" y="374015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开始建立自己的衣柜，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7344" y="414020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也开始面对新的场合。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857250" y="472440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9630" y="50895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校园、社群共创；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538480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用真实任务验证价值。</a:t>
              </a:r>
            </a:p>
          </p:txBody>
        </p:sp>
      </p:grpSp>
      <p:grpSp>
        <p:nvGrpSpPr>
          <p:cNvPr id="17" name="commuter"/>
          <p:cNvGrpSpPr/>
          <p:nvPr/>
        </p:nvGrpSpPr>
        <p:grpSpPr>
          <a:xfrm>
            <a:off x="6482334" y="2254250"/>
            <a:ext cx="3698748" cy="1467231"/>
            <a:chOff x="6482334" y="2254250"/>
            <a:chExt cx="3698748" cy="1467231"/>
          </a:xfrm>
        </p:grpSpPr>
        <p:sp>
          <p:nvSpPr>
            <p:cNvPr id="14" name="TextBox 14"/>
            <p:cNvSpPr txBox="1"/>
            <p:nvPr/>
          </p:nvSpPr>
          <p:spPr>
            <a:xfrm>
              <a:off x="6482334" y="2254250"/>
              <a:ext cx="23317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日常通勤人群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86144" y="2940050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高频决策：每天少绕几个弯，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86144" y="3340100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在场景与天气之间选得更清楚。</a:t>
              </a:r>
            </a:p>
          </p:txBody>
        </p:sp>
      </p:grpSp>
      <p:grpSp>
        <p:nvGrpSpPr>
          <p:cNvPr id="22" name="enthusiast"/>
          <p:cNvGrpSpPr/>
          <p:nvPr/>
        </p:nvGrpSpPr>
        <p:grpSpPr>
          <a:xfrm>
            <a:off x="6482334" y="4133850"/>
            <a:ext cx="5100066" cy="1578356"/>
            <a:chOff x="6482334" y="4133850"/>
            <a:chExt cx="5100066" cy="1578356"/>
          </a:xfrm>
        </p:grpSpPr>
        <p:sp>
          <p:nvSpPr>
            <p:cNvPr id="18" name="Line 18"/>
            <p:cNvSpPr/>
            <p:nvPr/>
          </p:nvSpPr>
          <p:spPr>
            <a:xfrm>
              <a:off x="6496050" y="4133850"/>
              <a:ext cx="5086350" cy="9525"/>
            </a:xfrm>
            <a:custGeom>
              <a:avLst/>
              <a:gdLst/>
              <a:ahLst/>
              <a:cxnLst/>
              <a:rect l="l" t="t" r="r" b="b"/>
              <a:pathLst>
                <a:path w="5086350" h="9525">
                  <a:moveTo>
                    <a:pt x="0" y="0"/>
                  </a:moveTo>
                  <a:lnTo>
                    <a:pt x="50863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82334" y="4244975"/>
              <a:ext cx="19476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穿搭爱好者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86144" y="4930775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复用已有衣物，探索新变化；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86144" y="5330825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编辑、预览并保留自己的选择。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603504" y="6296025"/>
            <a:ext cx="10800740" cy="234696"/>
            <a:chOff x="603504" y="6296025"/>
            <a:chExt cx="10800740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603504" y="6296025"/>
              <a:ext cx="4858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待验证目标用户；不代表已获得用户规模、已证实需求或市场份额。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14354" y="629602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91312" y="520700"/>
            <a:ext cx="5157216" cy="1685163"/>
            <a:chOff x="591312" y="520700"/>
            <a:chExt cx="5157216" cy="168516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20700"/>
              <a:ext cx="2793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GO TO MARKET / 小样本，真任务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882650"/>
              <a:ext cx="515721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获客靠一次有效搭配，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1312" y="1501775"/>
              <a:ext cx="41330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留存靠每天能用。</a:t>
              </a:r>
            </a:p>
          </p:txBody>
        </p:sp>
      </p:grpSp>
      <p:grpSp>
        <p:nvGrpSpPr>
          <p:cNvPr id="27" name="validation-path"/>
          <p:cNvGrpSpPr/>
          <p:nvPr/>
        </p:nvGrpSpPr>
        <p:grpSpPr>
          <a:xfrm>
            <a:off x="590550" y="2838450"/>
            <a:ext cx="10800969" cy="2077720"/>
            <a:chOff x="590550" y="2838450"/>
            <a:chExt cx="10800969" cy="2077720"/>
          </a:xfrm>
        </p:grpSpPr>
        <p:sp>
          <p:nvSpPr>
            <p:cNvPr id="6" name="Line 6"/>
            <p:cNvSpPr/>
            <p:nvPr/>
          </p:nvSpPr>
          <p:spPr>
            <a:xfrm>
              <a:off x="923925" y="2924175"/>
              <a:ext cx="99631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11" name="recruit"/>
            <p:cNvGrpSpPr/>
            <p:nvPr/>
          </p:nvGrpSpPr>
          <p:grpSpPr>
            <a:xfrm>
              <a:off x="590550" y="2838450"/>
              <a:ext cx="1670704" cy="2077720"/>
              <a:chOff x="590550" y="2838450"/>
              <a:chExt cx="1670704" cy="207772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828675" y="2838450"/>
                <a:ext cx="171450" cy="1714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590550" y="3203575"/>
                <a:ext cx="1670704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30–50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99694" y="3997325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人共创招募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01980" y="4622800"/>
                <a:ext cx="10551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校园 / 社群</a:t>
                </a:r>
              </a:p>
            </p:txBody>
          </p:sp>
        </p:grpSp>
        <p:grpSp>
          <p:nvGrpSpPr>
            <p:cNvPr id="16" name="first-outfit"/>
            <p:cNvGrpSpPr/>
            <p:nvPr/>
          </p:nvGrpSpPr>
          <p:grpSpPr>
            <a:xfrm>
              <a:off x="3272409" y="2838450"/>
              <a:ext cx="2123694" cy="2077720"/>
              <a:chOff x="3272409" y="2838450"/>
              <a:chExt cx="2123694" cy="2077720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3857625" y="2838450"/>
                <a:ext cx="171450" cy="1714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272409" y="3368675"/>
                <a:ext cx="156362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rgbClr val="F5F1E8"/>
                    </a:solidFill>
                    <a:latin typeface="+mj-lt"/>
                    <a:ea typeface="+mj-ea"/>
                    <a:cs typeface="+mj-cs"/>
                  </a:rPr>
                  <a:t>首套采纳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276219" y="3997325"/>
                <a:ext cx="211988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把已有衣物用起来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278505" y="462280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首次体验价值</a:t>
                </a:r>
              </a:p>
            </p:txBody>
          </p:sp>
        </p:grpSp>
        <p:grpSp>
          <p:nvGrpSpPr>
            <p:cNvPr id="21" name="habit"/>
            <p:cNvGrpSpPr/>
            <p:nvPr/>
          </p:nvGrpSpPr>
          <p:grpSpPr>
            <a:xfrm>
              <a:off x="6286500" y="2838450"/>
              <a:ext cx="2247900" cy="2077720"/>
              <a:chOff x="6286500" y="2838450"/>
              <a:chExt cx="2247900" cy="2077720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7105650" y="2838450"/>
                <a:ext cx="171450" cy="1714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286500" y="3216275"/>
                <a:ext cx="1108127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4 周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295644" y="3997325"/>
                <a:ext cx="185737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观察使用与穿着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297930" y="4622800"/>
                <a:ext cx="22364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分开记录曝光与实际使用</a:t>
                </a:r>
              </a:p>
            </p:txBody>
          </p:sp>
        </p:grpSp>
        <p:grpSp>
          <p:nvGrpSpPr>
            <p:cNvPr id="26" name="pay"/>
            <p:cNvGrpSpPr/>
            <p:nvPr/>
          </p:nvGrpSpPr>
          <p:grpSpPr>
            <a:xfrm>
              <a:off x="9530334" y="2838450"/>
              <a:ext cx="1861185" cy="2077720"/>
              <a:chOff x="9530334" y="2838450"/>
              <a:chExt cx="1861185" cy="207772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10553700" y="2838450"/>
                <a:ext cx="171450" cy="1714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530334" y="3368675"/>
                <a:ext cx="156362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rgbClr val="F5F1E8"/>
                    </a:solidFill>
                    <a:latin typeface="+mj-lt"/>
                    <a:ea typeface="+mj-ea"/>
                    <a:cs typeface="+mj-cs"/>
                  </a:rPr>
                  <a:t>付费访谈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534144" y="3997325"/>
                <a:ext cx="185737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确认谁愿意付费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536430" y="462280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验证服务价值</a:t>
                </a:r>
              </a:p>
            </p:txBody>
          </p:sp>
        </p:grpSp>
      </p:grpSp>
      <p:grpSp>
        <p:nvGrpSpPr>
          <p:cNvPr id="30" name="signals"/>
          <p:cNvGrpSpPr/>
          <p:nvPr/>
        </p:nvGrpSpPr>
        <p:grpSpPr>
          <a:xfrm>
            <a:off x="599694" y="5353050"/>
            <a:ext cx="10982706" cy="606806"/>
            <a:chOff x="599694" y="5353050"/>
            <a:chExt cx="10982706" cy="606806"/>
          </a:xfrm>
        </p:grpSpPr>
        <p:sp>
          <p:nvSpPr>
            <p:cNvPr id="28" name="Line 28"/>
            <p:cNvSpPr/>
            <p:nvPr/>
          </p:nvSpPr>
          <p:spPr>
            <a:xfrm>
              <a:off x="609600" y="53530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9694" y="5578475"/>
              <a:ext cx="59131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观察：推荐采纳 · 实际穿着覆盖 · 留存 · 付费意愿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3504" y="6324600"/>
            <a:ext cx="10800740" cy="234696"/>
            <a:chOff x="603504" y="6324600"/>
            <a:chExt cx="10800740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603504" y="6324600"/>
              <a:ext cx="40750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验证计划 / 人数与周期为目标，当前无真实用户规模证据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14354" y="63246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91312" y="520700"/>
            <a:ext cx="6693408" cy="1423670"/>
            <a:chOff x="591312" y="520700"/>
            <a:chExt cx="6693408" cy="1423670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20700"/>
              <a:ext cx="2344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REVENUE DESIGN / 商业假设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11225"/>
              <a:ext cx="669340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第一笔收入，来自持续服务。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65100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让基础体验形成习惯；对持续价值与明确成本收费。</a:t>
              </a:r>
            </a:p>
          </p:txBody>
        </p:sp>
      </p:grpSp>
      <p:grpSp>
        <p:nvGrpSpPr>
          <p:cNvPr id="9" name="free"/>
          <p:cNvGrpSpPr/>
          <p:nvPr/>
        </p:nvGrpSpPr>
        <p:grpSpPr>
          <a:xfrm>
            <a:off x="597408" y="2270125"/>
            <a:ext cx="10984992" cy="625475"/>
            <a:chOff x="597408" y="2270125"/>
            <a:chExt cx="10984992" cy="625475"/>
          </a:xfrm>
        </p:grpSpPr>
        <p:sp>
          <p:nvSpPr>
            <p:cNvPr id="6" name="TextBox 6"/>
            <p:cNvSpPr txBox="1"/>
            <p:nvPr/>
          </p:nvSpPr>
          <p:spPr>
            <a:xfrm>
              <a:off x="597408" y="22701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基础免费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228594" y="232092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衣柜与计算推荐，降低开始使用的门槛。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886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3" name="subscription"/>
          <p:cNvGrpSpPr/>
          <p:nvPr/>
        </p:nvGrpSpPr>
        <p:grpSpPr>
          <a:xfrm>
            <a:off x="609600" y="3095625"/>
            <a:ext cx="10972800" cy="809625"/>
            <a:chOff x="609600" y="3095625"/>
            <a:chExt cx="10972800" cy="809625"/>
          </a:xfrm>
        </p:grpSpPr>
        <p:sp>
          <p:nvSpPr>
            <p:cNvPr id="10" name="Rectangle 10"/>
            <p:cNvSpPr/>
            <p:nvPr/>
          </p:nvSpPr>
          <p:spPr>
            <a:xfrm>
              <a:off x="609600" y="3095625"/>
              <a:ext cx="10972800" cy="809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6008" y="32512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持续订阅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28594" y="3302000"/>
              <a:ext cx="4784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高级管理、长期洞察与专属服务 / 待验证</a:t>
              </a:r>
            </a:p>
          </p:txBody>
        </p:sp>
      </p:grpSp>
      <p:grpSp>
        <p:nvGrpSpPr>
          <p:cNvPr id="17" name="usage"/>
          <p:cNvGrpSpPr/>
          <p:nvPr/>
        </p:nvGrpSpPr>
        <p:grpSpPr>
          <a:xfrm>
            <a:off x="597408" y="4270375"/>
            <a:ext cx="10984992" cy="644525"/>
            <a:chOff x="597408" y="4270375"/>
            <a:chExt cx="10984992" cy="644525"/>
          </a:xfrm>
        </p:grpSpPr>
        <p:sp>
          <p:nvSpPr>
            <p:cNvPr id="14" name="TextBox 14"/>
            <p:cNvSpPr txBox="1"/>
            <p:nvPr/>
          </p:nvSpPr>
          <p:spPr>
            <a:xfrm>
              <a:off x="597408" y="427037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生成额度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28594" y="4321175"/>
              <a:ext cx="52868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OOTD 按次或额度包，费用与调用成本绑定。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" y="49053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1" name="business"/>
          <p:cNvGrpSpPr/>
          <p:nvPr/>
        </p:nvGrpSpPr>
        <p:grpSpPr>
          <a:xfrm>
            <a:off x="597408" y="5280025"/>
            <a:ext cx="7678045" cy="731520"/>
            <a:chOff x="597408" y="5280025"/>
            <a:chExt cx="7678045" cy="731520"/>
          </a:xfrm>
        </p:grpSpPr>
        <p:sp>
          <p:nvSpPr>
            <p:cNvPr id="18" name="TextBox 18"/>
            <p:cNvSpPr txBox="1"/>
            <p:nvPr/>
          </p:nvSpPr>
          <p:spPr>
            <a:xfrm>
              <a:off x="597408" y="5280025"/>
              <a:ext cx="136952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未来 B2B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28594" y="5311775"/>
              <a:ext cx="504685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为造型 / 衣柜整理服务商提供授权工作台。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30880" y="57181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先试点服务，再验证机构持续付费。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603504" y="6162675"/>
            <a:ext cx="10800740" cy="491871"/>
            <a:chOff x="603504" y="6162675"/>
            <a:chExt cx="10800740" cy="491871"/>
          </a:xfrm>
        </p:grpSpPr>
        <p:sp>
          <p:nvSpPr>
            <p:cNvPr id="22" name="TextBox 22"/>
            <p:cNvSpPr txBox="1"/>
            <p:nvPr/>
          </p:nvSpPr>
          <p:spPr>
            <a:xfrm>
              <a:off x="603504" y="6162675"/>
              <a:ext cx="5343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商业设计待验证；高级订阅服务与机构方案尚未上线，暂无付费客户证据。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3504" y="6419850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不出售用户衣柜数据；不承诺无限生成；商业合作不暗改推荐。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14354" y="64198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20700"/>
            <a:ext cx="7205472" cy="1094613"/>
            <a:chOff x="591312" y="520700"/>
            <a:chExt cx="7205472" cy="109461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20700"/>
              <a:ext cx="24112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UNIT ECONOMICS / 情景演算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11225"/>
              <a:ext cx="7205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先算清一位用户，再放大市场。</a:t>
              </a:r>
            </a:p>
          </p:txBody>
        </p:sp>
      </p:grpSp>
      <p:grpSp>
        <p:nvGrpSpPr>
          <p:cNvPr id="13" name="inputs"/>
          <p:cNvGrpSpPr/>
          <p:nvPr/>
        </p:nvGrpSpPr>
        <p:grpSpPr>
          <a:xfrm>
            <a:off x="590550" y="2232025"/>
            <a:ext cx="5429250" cy="2070481"/>
            <a:chOff x="590550" y="2232025"/>
            <a:chExt cx="5429250" cy="2070481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2279650"/>
              <a:ext cx="199722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10,000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980" y="3022600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活跃用户 / 假设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2705100" y="2733675"/>
              <a:ext cx="73342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59380" y="2232025"/>
              <a:ext cx="7421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5% 转化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19525" y="227965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500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30955" y="3022600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年费会员 / 假设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3609975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694" y="3921125"/>
              <a:ext cx="32913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价格假设：</a:t>
              </a:r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199 元 / 人 / 年</a:t>
              </a:r>
            </a:p>
          </p:txBody>
        </p:sp>
      </p:grpSp>
      <p:grpSp>
        <p:nvGrpSpPr>
          <p:cNvPr id="19" name="annual"/>
          <p:cNvGrpSpPr/>
          <p:nvPr/>
        </p:nvGrpSpPr>
        <p:grpSpPr>
          <a:xfrm>
            <a:off x="6791325" y="2209800"/>
            <a:ext cx="4791075" cy="2333625"/>
            <a:chOff x="6791325" y="2209800"/>
            <a:chExt cx="4791075" cy="2333625"/>
          </a:xfrm>
        </p:grpSpPr>
        <p:sp>
          <p:nvSpPr>
            <p:cNvPr id="14" name="Rectangle 14"/>
            <p:cNvSpPr/>
            <p:nvPr/>
          </p:nvSpPr>
          <p:spPr>
            <a:xfrm>
              <a:off x="6791325" y="2209800"/>
              <a:ext cx="4791075" cy="2333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40880" y="2489200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年订阅收入 / 情景数据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29450" y="2863850"/>
              <a:ext cx="2090517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9.95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530334" y="3282950"/>
              <a:ext cx="79552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万元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40880" y="40989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不是预测，也不是净利润。</a:t>
              </a:r>
            </a:p>
          </p:txBody>
        </p:sp>
      </p:grpSp>
      <p:grpSp>
        <p:nvGrpSpPr>
          <p:cNvPr id="22" name="costs"/>
          <p:cNvGrpSpPr/>
          <p:nvPr/>
        </p:nvGrpSpPr>
        <p:grpSpPr>
          <a:xfrm>
            <a:off x="599694" y="4968875"/>
            <a:ext cx="6277356" cy="842645"/>
            <a:chOff x="599694" y="4968875"/>
            <a:chExt cx="6277356" cy="842645"/>
          </a:xfrm>
        </p:grpSpPr>
        <p:sp>
          <p:nvSpPr>
            <p:cNvPr id="20" name="TextBox 20"/>
            <p:cNvSpPr txBox="1"/>
            <p:nvPr/>
          </p:nvSpPr>
          <p:spPr>
            <a:xfrm>
              <a:off x="599694" y="4968875"/>
              <a:ext cx="542749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尚未扣除：获客 · 服务器 · 存储 · 支持 · 税费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1980" y="5518150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生成额度单列成本；推荐无远程模型决策费，仍需承担本地计算成本。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603504" y="6181725"/>
            <a:ext cx="10800740" cy="472821"/>
            <a:chOff x="603504" y="6181725"/>
            <a:chExt cx="10800740" cy="472821"/>
          </a:xfrm>
        </p:grpSpPr>
        <p:sp>
          <p:nvSpPr>
            <p:cNvPr id="23" name="TextBox 23"/>
            <p:cNvSpPr txBox="1"/>
            <p:nvPr/>
          </p:nvSpPr>
          <p:spPr>
            <a:xfrm>
              <a:off x="603504" y="6181725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全部商业数字为示意假设；无现有用户、正式价格或收入证据。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3504" y="641985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先验证转化、留存与单位成本，再决定扩张。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14354" y="64198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20700"/>
            <a:ext cx="6181344" cy="1094613"/>
            <a:chOff x="591312" y="520700"/>
            <a:chExt cx="6181344" cy="109461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20700"/>
              <a:ext cx="3201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 / TEAM WITH A WORKING PRODUCT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11225"/>
              <a:ext cx="618134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新团队，拿作品建立信任。</a:t>
              </a:r>
            </a:p>
          </p:txBody>
        </p:sp>
      </p:grpSp>
      <p:grpSp>
        <p:nvGrpSpPr>
          <p:cNvPr id="12" name="first-entry"/>
          <p:cNvGrpSpPr/>
          <p:nvPr/>
        </p:nvGrpSpPr>
        <p:grpSpPr>
          <a:xfrm>
            <a:off x="609600" y="2133600"/>
            <a:ext cx="4219575" cy="3648075"/>
            <a:chOff x="609600" y="2133600"/>
            <a:chExt cx="4219575" cy="3648075"/>
          </a:xfrm>
        </p:grpSpPr>
        <p:sp>
          <p:nvSpPr>
            <p:cNvPr id="5" name="Rectangle 5"/>
            <p:cNvSpPr/>
            <p:nvPr/>
          </p:nvSpPr>
          <p:spPr>
            <a:xfrm>
              <a:off x="609600" y="2133600"/>
              <a:ext cx="4219575" cy="36480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50392" y="2463800"/>
              <a:ext cx="10794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FIRST ENTRY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38200" y="2949575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我们第一次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8200" y="3673475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参加比赛。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57250" y="4591050"/>
              <a:ext cx="3609975" cy="9525"/>
            </a:xfrm>
            <a:custGeom>
              <a:avLst/>
              <a:gdLst/>
              <a:ahLst/>
              <a:cxnLst/>
              <a:rect l="l" t="t" r="r" b="b"/>
              <a:pathLst>
                <a:path w="3609975" h="9525">
                  <a:moveTo>
                    <a:pt x="0" y="0"/>
                  </a:moveTo>
                  <a:lnTo>
                    <a:pt x="3609975" y="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49180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全新团队，暂无过往竞赛奖项。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52800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让已做出的系统成为实力依据。</a:t>
              </a:r>
            </a:p>
          </p:txBody>
        </p:sp>
      </p:grpSp>
      <p:grpSp>
        <p:nvGrpSpPr>
          <p:cNvPr id="15" name="product-proof"/>
          <p:cNvGrpSpPr/>
          <p:nvPr/>
        </p:nvGrpSpPr>
        <p:grpSpPr>
          <a:xfrm>
            <a:off x="5388483" y="2212975"/>
            <a:ext cx="4584802" cy="889381"/>
            <a:chOff x="5388483" y="2212975"/>
            <a:chExt cx="4584802" cy="889381"/>
          </a:xfrm>
        </p:grpSpPr>
        <p:sp>
          <p:nvSpPr>
            <p:cNvPr id="13" name="TextBox 13"/>
            <p:cNvSpPr txBox="1"/>
            <p:nvPr/>
          </p:nvSpPr>
          <p:spPr>
            <a:xfrm>
              <a:off x="5388483" y="221297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产品闭环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90769" y="2720975"/>
              <a:ext cx="45825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前后端、搭台与个人 OOTD 已有实现。</a:t>
              </a:r>
            </a:p>
          </p:txBody>
        </p:sp>
      </p:grpSp>
      <p:grpSp>
        <p:nvGrpSpPr>
          <p:cNvPr id="19" name="algorithm-proof"/>
          <p:cNvGrpSpPr/>
          <p:nvPr/>
        </p:nvGrpSpPr>
        <p:grpSpPr>
          <a:xfrm>
            <a:off x="5388483" y="3457575"/>
            <a:ext cx="6193917" cy="1006856"/>
            <a:chOff x="5388483" y="3457575"/>
            <a:chExt cx="6193917" cy="1006856"/>
          </a:xfrm>
        </p:grpSpPr>
        <p:sp>
          <p:nvSpPr>
            <p:cNvPr id="16" name="Line 16"/>
            <p:cNvSpPr/>
            <p:nvPr/>
          </p:nvSpPr>
          <p:spPr>
            <a:xfrm>
              <a:off x="5400675" y="3457575"/>
              <a:ext cx="6181725" cy="9525"/>
            </a:xfrm>
            <a:custGeom>
              <a:avLst/>
              <a:gdLst/>
              <a:ahLst/>
              <a:cxnLst/>
              <a:rect l="l" t="t" r="r" b="b"/>
              <a:pathLst>
                <a:path w="6181725" h="9525">
                  <a:moveTo>
                    <a:pt x="0" y="0"/>
                  </a:moveTo>
                  <a:lnTo>
                    <a:pt x="61817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388483" y="35750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算法依据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90769" y="4083050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领域规则、风格画像、反例与快照守护。</a:t>
              </a:r>
            </a:p>
          </p:txBody>
        </p:sp>
      </p:grpSp>
      <p:grpSp>
        <p:nvGrpSpPr>
          <p:cNvPr id="23" name="engineering-proof"/>
          <p:cNvGrpSpPr/>
          <p:nvPr/>
        </p:nvGrpSpPr>
        <p:grpSpPr>
          <a:xfrm>
            <a:off x="5388483" y="4838700"/>
            <a:ext cx="6193917" cy="940181"/>
            <a:chOff x="5388483" y="4838700"/>
            <a:chExt cx="6193917" cy="940181"/>
          </a:xfrm>
        </p:grpSpPr>
        <p:sp>
          <p:nvSpPr>
            <p:cNvPr id="20" name="Line 20"/>
            <p:cNvSpPr/>
            <p:nvPr/>
          </p:nvSpPr>
          <p:spPr>
            <a:xfrm>
              <a:off x="5400675" y="4838700"/>
              <a:ext cx="6181725" cy="9525"/>
            </a:xfrm>
            <a:custGeom>
              <a:avLst/>
              <a:gdLst/>
              <a:ahLst/>
              <a:cxnLst/>
              <a:rect l="l" t="t" r="r" b="b"/>
              <a:pathLst>
                <a:path w="6181725" h="9525">
                  <a:moveTo>
                    <a:pt x="0" y="0"/>
                  </a:moveTo>
                  <a:lnTo>
                    <a:pt x="61817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388483" y="49371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工程保障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90769" y="5397500"/>
              <a:ext cx="45389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持久任务、数据归属、CI 与接口契约。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03504" y="6143625"/>
            <a:ext cx="10800740" cy="472821"/>
            <a:chOff x="603504" y="6143625"/>
            <a:chExt cx="10800740" cy="472821"/>
          </a:xfrm>
        </p:grpSpPr>
        <p:sp>
          <p:nvSpPr>
            <p:cNvPr id="24" name="TextBox 24"/>
            <p:cNvSpPr txBox="1"/>
            <p:nvPr/>
          </p:nvSpPr>
          <p:spPr>
            <a:xfrm>
              <a:off x="603504" y="6143625"/>
              <a:ext cx="5666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团队经历来自用户陈述；能力来自当前实现与既有验证记录，不虚构成员履历。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3504" y="6381750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用户和商业验证是下一步；本轮未运行业务测试或确认线上部署。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14354" y="63817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91312" y="520700"/>
            <a:ext cx="7717536" cy="1433195"/>
            <a:chOff x="591312" y="520700"/>
            <a:chExt cx="7717536" cy="1433195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20700"/>
              <a:ext cx="25045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ROADMAP / 每阶段以证据验收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11225"/>
              <a:ext cx="77175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下一阶段，把可演示变成可复用。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6605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时间为规划示意；用效果和成本决定是否继续放大。</a:t>
              </a:r>
            </a:p>
          </p:txBody>
        </p:sp>
      </p:grpSp>
      <p:grpSp>
        <p:nvGrpSpPr>
          <p:cNvPr id="31" name="milestones"/>
          <p:cNvGrpSpPr/>
          <p:nvPr/>
        </p:nvGrpSpPr>
        <p:grpSpPr>
          <a:xfrm>
            <a:off x="595884" y="2733675"/>
            <a:ext cx="10777195" cy="2401570"/>
            <a:chOff x="595884" y="2733675"/>
            <a:chExt cx="10777195" cy="2401570"/>
          </a:xfrm>
        </p:grpSpPr>
        <p:sp>
          <p:nvSpPr>
            <p:cNvPr id="6" name="Line 6"/>
            <p:cNvSpPr/>
            <p:nvPr/>
          </p:nvSpPr>
          <p:spPr>
            <a:xfrm>
              <a:off x="933450" y="2867025"/>
              <a:ext cx="995362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lgDash"/>
              <a:tailEnd type="triangle" w="lg" len="lg"/>
            </a:ln>
          </p:spPr>
        </p:sp>
        <p:grpSp>
          <p:nvGrpSpPr>
            <p:cNvPr id="12" name="now"/>
            <p:cNvGrpSpPr/>
            <p:nvPr/>
          </p:nvGrpSpPr>
          <p:grpSpPr>
            <a:xfrm>
              <a:off x="595884" y="2733675"/>
              <a:ext cx="1900561" cy="2401570"/>
              <a:chOff x="595884" y="2733675"/>
              <a:chExt cx="1900561" cy="240157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781050" y="2733675"/>
                <a:ext cx="266700" cy="26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595884" y="3244850"/>
                <a:ext cx="7955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rgbClr val="F5F1E8"/>
                    </a:solidFill>
                    <a:latin typeface="+mj-lt"/>
                    <a:ea typeface="+mj-ea"/>
                    <a:cs typeface="+mj-cs"/>
                  </a:rPr>
                  <a:t>已有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99694" y="3883025"/>
                <a:ext cx="189675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产品 / 技术闭环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01980" y="4498975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可追溯的实现与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01980" y="484187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历史验证记录</a:t>
                </a:r>
              </a:p>
            </p:txBody>
          </p:sp>
        </p:grpSp>
        <p:grpSp>
          <p:nvGrpSpPr>
            <p:cNvPr id="18" name="day30"/>
            <p:cNvGrpSpPr/>
            <p:nvPr/>
          </p:nvGrpSpPr>
          <p:grpSpPr>
            <a:xfrm>
              <a:off x="3310509" y="2771775"/>
              <a:ext cx="1717243" cy="2363470"/>
              <a:chOff x="3310509" y="2771775"/>
              <a:chExt cx="1717243" cy="236347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3848100" y="2771775"/>
                <a:ext cx="190500" cy="1905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310509" y="3270250"/>
                <a:ext cx="171724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rgbClr val="F5F1E8"/>
                    </a:solidFill>
                    <a:latin typeface="+mj-lt"/>
                    <a:ea typeface="+mj-ea"/>
                    <a:cs typeface="+mj-cs"/>
                  </a:rPr>
                  <a:t>30 天目标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314319" y="3883025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共创观察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316605" y="4498975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修正录入摩擦；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316605" y="484187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四周行为观察</a:t>
                </a:r>
              </a:p>
            </p:txBody>
          </p:sp>
        </p:grpSp>
        <p:grpSp>
          <p:nvGrpSpPr>
            <p:cNvPr id="24" name="day90"/>
            <p:cNvGrpSpPr/>
            <p:nvPr/>
          </p:nvGrpSpPr>
          <p:grpSpPr>
            <a:xfrm>
              <a:off x="6225159" y="2771775"/>
              <a:ext cx="1717243" cy="2363470"/>
              <a:chOff x="6225159" y="2771775"/>
              <a:chExt cx="1717243" cy="236347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7067550" y="2771775"/>
                <a:ext cx="190500" cy="1905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225159" y="3270250"/>
                <a:ext cx="171724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rgbClr val="F5F1E8"/>
                    </a:solidFill>
                    <a:latin typeface="+mj-lt"/>
                    <a:ea typeface="+mj-ea"/>
                    <a:cs typeface="+mj-cs"/>
                  </a:rPr>
                  <a:t>90 天目标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228969" y="3883025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收费验证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231255" y="4498975"/>
                <a:ext cx="16609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订阅 / 额度实验；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231255" y="484187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单位成本核算</a:t>
                </a:r>
              </a:p>
            </p:txBody>
          </p:sp>
        </p:grpSp>
        <p:grpSp>
          <p:nvGrpSpPr>
            <p:cNvPr id="30" name="day180"/>
            <p:cNvGrpSpPr/>
            <p:nvPr/>
          </p:nvGrpSpPr>
          <p:grpSpPr>
            <a:xfrm>
              <a:off x="9444609" y="2771775"/>
              <a:ext cx="1928470" cy="2363470"/>
              <a:chOff x="9444609" y="2771775"/>
              <a:chExt cx="1928470" cy="236347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10420350" y="2771775"/>
                <a:ext cx="190500" cy="1905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444609" y="3270250"/>
                <a:ext cx="1928470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rgbClr val="F5F1E8"/>
                    </a:solidFill>
                    <a:latin typeface="+mj-lt"/>
                    <a:ea typeface="+mj-ea"/>
                    <a:cs typeface="+mj-cs"/>
                  </a:rPr>
                  <a:t>180 天目标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448419" y="3883025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合作试点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450705" y="4498975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机构工作台共创；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450705" y="4841875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数据库与容量评估</a:t>
                </a:r>
              </a:p>
            </p:txBody>
          </p:sp>
        </p:grpSp>
      </p:grpSp>
      <p:grpSp>
        <p:nvGrpSpPr>
          <p:cNvPr id="33" name="criteria"/>
          <p:cNvGrpSpPr/>
          <p:nvPr/>
        </p:nvGrpSpPr>
        <p:grpSpPr>
          <a:xfrm>
            <a:off x="599694" y="5635625"/>
            <a:ext cx="7002551" cy="381381"/>
            <a:chOff x="599694" y="5635625"/>
            <a:chExt cx="7002551" cy="381381"/>
          </a:xfrm>
        </p:grpSpPr>
        <p:sp>
          <p:nvSpPr>
            <p:cNvPr id="32" name="TextBox 32"/>
            <p:cNvSpPr txBox="1"/>
            <p:nvPr/>
          </p:nvSpPr>
          <p:spPr>
            <a:xfrm>
              <a:off x="599694" y="5635625"/>
              <a:ext cx="70025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看证据：入柜耗时 · 实际穿着覆盖 · 留存 · 付费 · 单位成本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603504" y="6324600"/>
            <a:ext cx="10800740" cy="234696"/>
            <a:chOff x="603504" y="6324600"/>
            <a:chExt cx="10800740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603504" y="6324600"/>
              <a:ext cx="34288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路线图目标 / 非已完成成绩或有保证的交付时间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14354" y="63246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masthead"/>
          <p:cNvGrpSpPr/>
          <p:nvPr/>
        </p:nvGrpSpPr>
        <p:grpSpPr>
          <a:xfrm>
            <a:off x="602742" y="539750"/>
            <a:ext cx="10979658" cy="336550"/>
            <a:chOff x="602742" y="539750"/>
            <a:chExt cx="10979658" cy="336550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39750"/>
              <a:ext cx="656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YU / DA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527667" y="539750"/>
              <a:ext cx="14923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RE: WEAR / 2026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8667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</p:sp>
      </p:grpSp>
      <p:grpSp>
        <p:nvGrpSpPr>
          <p:cNvPr id="9" name="title"/>
          <p:cNvGrpSpPr/>
          <p:nvPr/>
        </p:nvGrpSpPr>
        <p:grpSpPr>
          <a:xfrm>
            <a:off x="590550" y="1692275"/>
            <a:ext cx="5853684" cy="2276856"/>
            <a:chOff x="590550" y="1692275"/>
            <a:chExt cx="5853684" cy="2276856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1692275"/>
              <a:ext cx="391515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给已有衣物，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2559050"/>
              <a:ext cx="585368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一个新的出场机会。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7794" y="3587750"/>
              <a:ext cx="4784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鱼搭 / 理解衣柜，解释选择，持续反馈。</a:t>
              </a:r>
            </a:p>
          </p:txBody>
        </p:sp>
      </p:grpSp>
      <p:grpSp>
        <p:nvGrpSpPr>
          <p:cNvPr id="18" name="new-outfit"/>
          <p:cNvGrpSpPr/>
          <p:nvPr/>
        </p:nvGrpSpPr>
        <p:grpSpPr>
          <a:xfrm>
            <a:off x="7794333" y="1809750"/>
            <a:ext cx="2835567" cy="3752850"/>
            <a:chOff x="7794333" y="1809750"/>
            <a:chExt cx="2835567" cy="3752850"/>
          </a:xfrm>
        </p:grpSpPr>
        <p:sp>
          <p:nvSpPr>
            <p:cNvPr id="10" name="Freeform 10"/>
            <p:cNvSpPr/>
            <p:nvPr/>
          </p:nvSpPr>
          <p:spPr>
            <a:xfrm>
              <a:off x="8839200" y="1809750"/>
              <a:ext cx="1790700" cy="1895475"/>
            </a:xfrm>
            <a:custGeom>
              <a:avLst/>
              <a:gdLst/>
              <a:ahLst/>
              <a:cxnLst/>
              <a:rect l="l" t="t" r="r" b="b"/>
              <a:pathLst>
                <a:path w="1790700" h="1895475">
                  <a:moveTo>
                    <a:pt x="581025" y="0"/>
                  </a:moveTo>
                  <a:lnTo>
                    <a:pt x="895350" y="161925"/>
                  </a:lnTo>
                  <a:lnTo>
                    <a:pt x="1209675" y="0"/>
                  </a:lnTo>
                  <a:lnTo>
                    <a:pt x="1790700" y="476250"/>
                  </a:lnTo>
                  <a:lnTo>
                    <a:pt x="1514475" y="942975"/>
                  </a:lnTo>
                  <a:lnTo>
                    <a:pt x="1314450" y="828675"/>
                  </a:lnTo>
                  <a:lnTo>
                    <a:pt x="1314450" y="1895475"/>
                  </a:lnTo>
                  <a:lnTo>
                    <a:pt x="476250" y="1895475"/>
                  </a:lnTo>
                  <a:lnTo>
                    <a:pt x="476250" y="828675"/>
                  </a:lnTo>
                  <a:lnTo>
                    <a:pt x="276225" y="942975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467850" y="1828800"/>
              <a:ext cx="533400" cy="571500"/>
            </a:xfrm>
            <a:custGeom>
              <a:avLst/>
              <a:gdLst/>
              <a:ahLst/>
              <a:cxnLst/>
              <a:rect l="l" t="t" r="r" b="b"/>
              <a:pathLst>
                <a:path w="533400" h="571500">
                  <a:moveTo>
                    <a:pt x="0" y="123825"/>
                  </a:moveTo>
                  <a:lnTo>
                    <a:pt x="266700" y="571500"/>
                  </a:lnTo>
                  <a:lnTo>
                    <a:pt x="533400" y="123825"/>
                  </a:lnTo>
                  <a:lnTo>
                    <a:pt x="466725" y="0"/>
                  </a:lnTo>
                  <a:lnTo>
                    <a:pt x="266700" y="14287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696450" y="26289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696450" y="29051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8905875" y="3905250"/>
              <a:ext cx="1695450" cy="1657350"/>
            </a:xfrm>
            <a:custGeom>
              <a:avLst/>
              <a:gdLst/>
              <a:ahLst/>
              <a:cxnLst/>
              <a:rect l="l" t="t" r="r" b="b"/>
              <a:pathLst>
                <a:path w="1695450" h="1657350">
                  <a:moveTo>
                    <a:pt x="428625" y="0"/>
                  </a:moveTo>
                  <a:lnTo>
                    <a:pt x="1257300" y="0"/>
                  </a:lnTo>
                  <a:lnTo>
                    <a:pt x="1695450" y="1657350"/>
                  </a:lnTo>
                  <a:lnTo>
                    <a:pt x="0" y="1657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9353550" y="3990975"/>
              <a:ext cx="180975" cy="1466850"/>
            </a:xfrm>
            <a:custGeom>
              <a:avLst/>
              <a:gdLst/>
              <a:ahLst/>
              <a:cxnLst/>
              <a:rect l="l" t="t" r="r" b="b"/>
              <a:pathLst>
                <a:path w="180975" h="1466850">
                  <a:moveTo>
                    <a:pt x="180975" y="0"/>
                  </a:moveTo>
                  <a:lnTo>
                    <a:pt x="0" y="1466850"/>
                  </a:lnTo>
                </a:path>
              </a:pathLst>
            </a:custGeom>
            <a:noFill/>
            <a:ln w="19050">
              <a:solidFill>
                <a:schemeClr val="accent1">
                  <a:alpha val="20000"/>
                </a:scheme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9944100" y="3990975"/>
              <a:ext cx="219075" cy="1466850"/>
            </a:xfrm>
            <a:custGeom>
              <a:avLst/>
              <a:gdLst/>
              <a:ahLst/>
              <a:cxnLst/>
              <a:rect l="l" t="t" r="r" b="b"/>
              <a:pathLst>
                <a:path w="219075" h="1466850">
                  <a:moveTo>
                    <a:pt x="0" y="0"/>
                  </a:moveTo>
                  <a:lnTo>
                    <a:pt x="219075" y="1466850"/>
                  </a:lnTo>
                </a:path>
              </a:pathLst>
            </a:custGeom>
            <a:noFill/>
            <a:ln w="19050">
              <a:solidFill>
                <a:schemeClr val="accent1">
                  <a:alpha val="20000"/>
                </a:scheme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 rot="-5400000">
              <a:off x="7794333" y="4749508"/>
              <a:ext cx="12234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NEW CHANCE</a:t>
              </a:r>
            </a:p>
          </p:txBody>
        </p:sp>
      </p:grpSp>
      <p:grpSp>
        <p:nvGrpSpPr>
          <p:cNvPr id="22" name="call-to-action"/>
          <p:cNvGrpSpPr/>
          <p:nvPr/>
        </p:nvGrpSpPr>
        <p:grpSpPr>
          <a:xfrm>
            <a:off x="609600" y="4572000"/>
            <a:ext cx="7000875" cy="1121156"/>
            <a:chOff x="609600" y="4572000"/>
            <a:chExt cx="7000875" cy="1121156"/>
          </a:xfrm>
        </p:grpSpPr>
        <p:sp>
          <p:nvSpPr>
            <p:cNvPr id="19" name="Line 19"/>
            <p:cNvSpPr/>
            <p:nvPr/>
          </p:nvSpPr>
          <p:spPr>
            <a:xfrm>
              <a:off x="609600" y="4572000"/>
              <a:ext cx="7000875" cy="9525"/>
            </a:xfrm>
            <a:custGeom>
              <a:avLst/>
              <a:gdLst/>
              <a:ahLst/>
              <a:cxnLst/>
              <a:rect l="l" t="t" r="r" b="b"/>
              <a:pathLst>
                <a:path w="7000875" h="9525">
                  <a:moveTo>
                    <a:pt x="0" y="0"/>
                  </a:moveTo>
                  <a:lnTo>
                    <a:pt x="7000875" y="0"/>
                  </a:lnTo>
                </a:path>
              </a:pathLst>
            </a:cu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508" y="4775200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下一步：招募首批共创者。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794" y="5311775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一起验证，让更多衣物真正进入日常选择。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603504" y="6296025"/>
            <a:ext cx="10800740" cy="234696"/>
            <a:chOff x="603504" y="6296025"/>
            <a:chExt cx="10800740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603504" y="6296025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可持续利用是愿景；消费减少与减排效果尚未量化。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14354" y="629602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yuda-competition">
  <a:themeElements>
    <a:clrScheme name="yuda-competition">
      <a:dk1>
        <a:srgbClr val="302238"/>
      </a:dk1>
      <a:lt1>
        <a:srgbClr val="F5F1E8"/>
      </a:lt1>
      <a:dk2>
        <a:srgbClr val="1F497D"/>
      </a:dk2>
      <a:lt2>
        <a:srgbClr val="E8E1D6"/>
      </a:lt2>
      <a:accent1>
        <a:srgbClr val="302238"/>
      </a:accent1>
      <a:accent2>
        <a:srgbClr val="D8F36A"/>
      </a:accent2>
      <a:accent3>
        <a:srgbClr val="BBA4CB"/>
      </a:accent3>
      <a:accent4>
        <a:srgbClr val="302238"/>
      </a:accent4>
      <a:accent5>
        <a:srgbClr val="6B6071"/>
      </a:accent5>
      <a:accent6>
        <a:srgbClr val="C7BECC"/>
      </a:accent6>
      <a:hlink>
        <a:srgbClr val="D8F36A"/>
      </a:hlink>
      <a:folHlink>
        <a:srgbClr val="BBA4CB"/>
      </a:folHlink>
    </a:clrScheme>
    <a:fontScheme name="yuda-competition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yuda-competi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yuda-competition">
  <a:themeElements>
    <a:clrScheme name="yuda-competition">
      <a:dk1>
        <a:srgbClr val="302238"/>
      </a:dk1>
      <a:lt1>
        <a:srgbClr val="F5F1E8"/>
      </a:lt1>
      <a:dk2>
        <a:srgbClr val="1F497D"/>
      </a:dk2>
      <a:lt2>
        <a:srgbClr val="E8E1D6"/>
      </a:lt2>
      <a:accent1>
        <a:srgbClr val="302238"/>
      </a:accent1>
      <a:accent2>
        <a:srgbClr val="D8F36A"/>
      </a:accent2>
      <a:accent3>
        <a:srgbClr val="BBA4CB"/>
      </a:accent3>
      <a:accent4>
        <a:srgbClr val="302238"/>
      </a:accent4>
      <a:accent5>
        <a:srgbClr val="6B6071"/>
      </a:accent5>
      <a:accent6>
        <a:srgbClr val="C7BECC"/>
      </a:accent6>
      <a:hlink>
        <a:srgbClr val="D8F36A"/>
      </a:hlink>
      <a:folHlink>
        <a:srgbClr val="BBA4CB"/>
      </a:folHlink>
    </a:clrScheme>
    <a:fontScheme name="yuda-competition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yuda-competi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2026-10-13T15:31:54Z</dcterms:created>
  <dcterms:modified xsi:type="dcterms:W3CDTF">2026-10-13T15:31:54Z</dcterms:modified>
  <cp:category/>
  <cp:contentStatus/>
</cp:coreProperties>
</file>