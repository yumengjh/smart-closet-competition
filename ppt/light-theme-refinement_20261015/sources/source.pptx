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notesSlides/notesSlide1_tf1.xml" ContentType="application/vnd.openxmlformats-officedocument.presentationml.notesSlide+xml"/>
  <Override PartName="/ppt/notesSlides/notesSlide2_tf1.xml" ContentType="application/vnd.openxmlformats-officedocument.presentationml.notesSlide+xml"/>
  <Override PartName="/ppt/notesSlides/notesSlide3_tf1.xml" ContentType="application/vnd.openxmlformats-officedocument.presentationml.notesSlide+xml"/>
  <Override PartName="/ppt/notesSlides/notesSlide4_tf1.xml" ContentType="application/vnd.openxmlformats-officedocument.presentationml.notesSlide+xml"/>
  <Override PartName="/ppt/notesSlides/notesSlide5_tf1.xml" ContentType="application/vnd.openxmlformats-officedocument.presentationml.notesSlide+xml"/>
  <Override PartName="/ppt/notesSlides/notesSlide6_tf1.xml" ContentType="application/vnd.openxmlformats-officedocument.presentationml.notesSlide+xml"/>
  <Override PartName="/ppt/notesSlides/notesSlide7_tf1.xml" ContentType="application/vnd.openxmlformats-officedocument.presentationml.notesSlide+xml"/>
  <Override PartName="/ppt/notesSlides/notesSlide8_tf1.xml" ContentType="application/vnd.openxmlformats-officedocument.presentationml.notesSlide+xml"/>
  <Override PartName="/ppt/notesSlides/notesSlide8_tf2.xml" ContentType="application/vnd.openxmlformats-officedocument.presentationml.notesSlide+xml"/>
  <Override PartName="/ppt/notesSlides/notesSlide9_tf1.xml" ContentType="application/vnd.openxmlformats-officedocument.presentationml.notesSlide+xml"/>
  <Override PartName="/ppt/notesSlides/notesSlide10_tf1.xml" ContentType="application/vnd.openxmlformats-officedocument.presentationml.notesSlide+xml"/>
  <Override PartName="/ppt/notesSlides/notesSlide11_tf1.xml" ContentType="application/vnd.openxmlformats-officedocument.presentationml.notesSlide+xml"/>
  <Override PartName="/ppt/notesSlides/notesSlide12_tf1.xml" ContentType="application/vnd.openxmlformats-officedocument.presentationml.notesSlide+xml"/>
  <Override PartName="/ppt/notesSlides/notesSlide12_tf2.xml" ContentType="application/vnd.openxmlformats-officedocument.presentationml.notesSlide+xml"/>
  <Override PartName="/ppt/notesSlides/notesSlide13_tf1.xml" ContentType="application/vnd.openxmlformats-officedocument.presentationml.notesSlide+xml"/>
  <Override PartName="/ppt/notesSlides/notesSlide14_tf1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5_tf1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trictFirstAndLastChars="0" autoCompressPictures="0">
  <p:sldMasterIdLst>
    <p:sldMasterId id="2147483648" r:id="rId1"/>
    <p:sldMasterId id="2147483660" r:id="rId3"/>
    <p:sldMasterId id="2147483663" r:id="rId4"/>
  </p:sldMasterIdLst>
  <p:notesMasterIdLst>
    <p:notesMasterId r:id="rId6"/>
  </p:notes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6"/>
        <p:guide pos="3000"/>
      </p:guideLst>
    </p:cSldViewPr>
  </p:slideViewPr>
  <p:gridSpacing cx="72008" cy="72008"/>
</p:viewPr>
</file>

<file path=ppt/_rels/presentation.xml.rels><?xml version='1.0' encoding='utf-8'?>
<Relationships xmlns="http://schemas.openxmlformats.org/package/2006/relationships"><Relationship Id="rId6" Type="http://schemas.openxmlformats.org/officeDocument/2006/relationships/notesMaster" Target="notesMasters/notesMaster1.xml" /><Relationship Id="rId4" Type="http://schemas.openxmlformats.org/officeDocument/2006/relationships/slideMaster" Target="slideMasters/slideMaster3.xml" /><Relationship Id="rId3" Type="http://schemas.openxmlformats.org/officeDocument/2006/relationships/slideMaster" Target="slideMasters/slideMaster2.xml" /><Relationship Id="rId24" Type="http://schemas.openxmlformats.org/officeDocument/2006/relationships/tableStyles" Target="tableStyles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2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5" Type="http://schemas.openxmlformats.org/officeDocument/2006/relationships/slide" Target="slides/slide1.xml" /><Relationship Id="rId26" Type="http://schemas.openxmlformats.org/officeDocument/2006/relationships/slide" Target="slides/slide2.xml" /><Relationship Id="rId27" Type="http://schemas.openxmlformats.org/officeDocument/2006/relationships/slide" Target="slides/slide3.xml" /><Relationship Id="rId28" Type="http://schemas.openxmlformats.org/officeDocument/2006/relationships/slide" Target="slides/slide4.xml" /><Relationship Id="rId29" Type="http://schemas.openxmlformats.org/officeDocument/2006/relationships/slide" Target="slides/slide5.xml" /><Relationship Id="rId30" Type="http://schemas.openxmlformats.org/officeDocument/2006/relationships/slide" Target="slides/slide6.xml" /><Relationship Id="rId31" Type="http://schemas.openxmlformats.org/officeDocument/2006/relationships/slide" Target="slides/slide7.xml" /><Relationship Id="rId32" Type="http://schemas.openxmlformats.org/officeDocument/2006/relationships/slide" Target="slides/slide8.xml" /><Relationship Id="rId33" Type="http://schemas.openxmlformats.org/officeDocument/2006/relationships/slide" Target="slides/slide9.xml" /><Relationship Id="rId34" Type="http://schemas.openxmlformats.org/officeDocument/2006/relationships/slide" Target="slides/slide10.xml" /><Relationship Id="rId35" Type="http://schemas.openxmlformats.org/officeDocument/2006/relationships/slide" Target="slides/slide11.xml" /><Relationship Id="rId36" Type="http://schemas.openxmlformats.org/officeDocument/2006/relationships/slide" Target="slides/slide12.xml" /><Relationship Id="rId37" Type="http://schemas.openxmlformats.org/officeDocument/2006/relationships/slide" Target="slides/slide13.xml" /><Relationship Id="rId38" Type="http://schemas.openxmlformats.org/officeDocument/2006/relationships/slide" Target="slides/slide14.xml" /><Relationship Id="rId39" Type="http://schemas.openxmlformats.org/officeDocument/2006/relationships/slide" Target="slides/slide15.xml" /><Relationship Id="rId40" Type="http://schemas.openxmlformats.org/officeDocument/2006/relationships/slide" Target="slides/slide16.xml" /><Relationship Id="rId41" Type="http://schemas.openxmlformats.org/officeDocument/2006/relationships/slide" Target="slides/slide17.xml" /><Relationship Id="rId42" Type="http://schemas.openxmlformats.org/officeDocument/2006/relationships/slide" Target="slides/slide18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6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7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8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8_tf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9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0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2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2_tf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3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4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5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大家好，我们是鱼力无限团队，带来的网页作品叫鱼搭。它是一个 AI 数字衣柜和穿搭决策网站，从已有衣物出发，让每天的选择更容易理解和调整。</a:t>
            </a:r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这次路演先从用户的日常困境出发，再展示入柜、推荐、组合台与 OOTD 的产品闭环。之后解释创新机制、Web 技术架构和运行边界，最后讨论目标用户、盈利验证、团队能力与下一阶段计划。</a:t>
            </a:r>
          </a:p>
        </p:txBody>
      </p:sp>
    </p:spTree>
  </p:cSld>
  <p:clrMapOvr>
    <a:masterClrMapping/>
  </p:clrMapOvr>
</p:notes>
</file>

<file path=ppt/notesSlides/notesSlide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衣柜已经装满，为什么仍不知道穿什么？我们关注三个断点：场景和天气之间很难选择；衣物多而难以记忆、查找和整理；收藏了灵感，也难用自己的衣物还原。鱼搭分别提供建议、衣物记忆和组合辅助，先把这些问题接成日常可执行的流程。这里描述用户情景，不代表已经完成大规模需求调查。</a:t>
            </a:r>
          </a:p>
        </p:txBody>
      </p:sp>
    </p:spTree>
  </p:cSld>
  <p:clrMapOvr>
    <a:masterClrMapping/>
  </p:clrMapOvr>
</p:notes>
</file>

<file path=ppt/notesSlides/notesSlide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把衣柜看成一种决策资源：真实衣物是起点，属性和图像帮助理解，再按场景、天气、风格选择，最后把换件、喜好和恢复反馈带回下一次推荐。每次选择都应有依据，也允许用户接手。让更多已有衣物进入日常是产品目标，实际穿着效果还要用用户研究验证。</a:t>
            </a:r>
          </a:p>
        </p:txBody>
      </p:sp>
    </p:spTree>
  </p:cSld>
  <p:clrMapOvr>
    <a:masterClrMapping/>
  </p:clrMapOvr>
</p:notes>
</file>

<file path=ppt/notesSlides/notesSlide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用户在浏览器中拍照或批量上传，耗时操作进入后台处理，之后核对并确认入柜。衣物进入真实衣柜后，后续检索与搭配都围绕这些已有资产展开。画面展示的是可运行网站中的真实衣柜界面。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完整用户链路包含六步：拍照入柜，混合检索，计算推荐，多画板搭台编辑，个人 OOTD 预览，以及反馈调整。检索结合字段、文本和图像，推荐提供组合、评分与理由，搭台允许用户编辑和接手，反馈有粒度也可以恢复。OOTD 支持模特、动作与调整，但只是生成式效果预览，不能证明真实尺码合身或保证衣物细节完全一致。</a:t>
            </a:r>
          </a:p>
        </p:txBody>
      </p:sp>
    </p:spTree>
  </p:cSld>
  <p:clrMapOvr>
    <a:masterClrMapping/>
  </p:clrMapOvr>
</p:notes>
</file>

<file path=ppt/notesSlides/notesSlide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两张是十月十五日访问本机网站得到的实际页面，截图裁去了账户栏。我的衣柜支持品类、颜色等字段筛选，以及语义和图像检索；组合台提供已有衣物的推荐、编辑和保存。产品把批量上传、图像预处理、本地抠图、自动识别和穿搭辅助连接起来，而不承诺一秒完成整个衣柜的整理。</a:t>
            </a:r>
          </a:p>
        </p:txBody>
      </p:sp>
    </p:spTree>
  </p:cSld>
  <p:clrMapOvr>
    <a:masterClrMapping/>
  </p:clrMapOvr>
</p:notes>
</file>

<file path=ppt/notesSlides/notesSlide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从用户问题解释实现机制，不再对其他产品作未经验证的负面概括。持久任务把提交和耗时处理分开；本地抠图、属性证据和人工核对提高输入可靠性；规则理由、曝光均衡和可恢复反馈支持可解释选择。执行还受授权、回执和额度快照约束，上游结果未知时不会盲目重试。它们是当前项目可追溯的实现特点，不代表已经通过同一协议证明胜过所有竞品。</a:t>
            </a:r>
          </a:p>
        </p:txBody>
      </p:sp>
    </p:spTree>
  </p:cSld>
  <p:clrMapOvr>
    <a:masterClrMapping/>
  </p:clrMapOvr>
</p:notes>
</file>

<file path=ppt/notesSlides/notesSlide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照片入柜有三道可靠性工序。先规整尺寸和方向，原图与展示派生分开；本地 U²-Net 或 GrabCut 去背景，并提供透明检查和恢复路径；属性再区分已确认、推测、未知与冲突，由用户核对后入柜。耗时任务在后台执行，但实际耗时取决于图片、模型和资源，不能承诺固定秒数。U²-Net 是复用的预训练技术，不是自行训练的服饰专用分割网络。</a:t>
            </a:r>
          </a:p>
        </p:txBody>
      </p:sp>
    </p:spTree>
  </p:cSld>
  <p:clrMapOvr>
    <a:masterClrMapping/>
  </p:clrMapOvr>
</p:notes>
</file>

<file path=ppt/notesSlides/notesSlide8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推荐分成混合召回、规则与风格评分、曝光与反馈三个阶段。字段和关键词先约束候选，本地 BGE 和可选 CLIP 补充相关性；当前审美开启路径包含十一维评分和十八个风格画像，结构底线与可解释软评分一起工作。动态候选、曝光均衡与重排减少总推同几件，时间衰减让偏好可以恢复。计算推荐不依赖远程大模型决策，项目贡献在领域特征、规则、重排与执行协议；识图、对话和生图仍可能调用外部服务。</a:t>
            </a:r>
          </a:p>
        </p:txBody>
      </p:sp>
    </p:spTree>
  </p:cSld>
  <p:clrMapOvr>
    <a:masterClrMapping/>
  </p:clrMapOvr>
</p:notes>
</file>

<file path=ppt/notesSlides/notesSlide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鱼搭是响应式 Web 网站，前端采用 Vue、TypeScript、Ant Design Vue 和 Konva，承载衣柜、组合台与执行回执。Java 二十一、Spring Boot 和 Security 掌握 API、数据归属、规则、额度与任务；ONNX 运行本地抠图、文本和可选图文模型，LangGraph 编排对话，统一执行器按资源池调度。H2、Flyway、MyBatis Plus 和本地或 S3 图片组成持久层，Docker 与持续集成支撑交付，管理接口默认关闭。网页内查看任务和通知，PWA 缓存应用外壳；当前是可控单机架构，不承诺未经压测的水平扩展或浏览器后台推送。</a:t>
            </a:r>
          </a:p>
        </p:txBody>
      </p:sp>
    </p:spTree>
  </p:cSld>
  <p:clrMapOvr>
    <a:masterClrMapping/>
  </p:clrMapOvr>
</p:notes>
</file>

<file path=ppt/notesSlides/notesSlide1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市场进入先围绕衣物不少、选择很难的高校和初入职场人群，从高频通勤与日常搭配验证价值。我们计划通过校园和穿搭社群招募三十到五十名共创者，观察四周，记录采纳、实际穿着覆盖、留存与付费意愿。第一次能否得到可采纳的搭配、每天是否愿意回来、持续价值能否收费，是三个待验证问题。这里的人数和周期是计划，不是已有用户规模。</a:t>
            </a:r>
          </a:p>
        </p:txBody>
      </p:sp>
    </p:spTree>
  </p:cSld>
  <p:clrMapOvr>
    <a:masterClrMapping/>
  </p:clrMapOvr>
</p:notes>
</file>

<file path=ppt/notesSlides/notesSlide1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商业设计分三条待验证路径：基础衣柜和计算推荐作为入口，高级管理、长期洞察与专属服务探索订阅；OOTD 按次或额度包收费，覆盖真实上游成本，不承诺无限生成；未来与造型、衣柜整理服务商共创授权工作台。我们不出售用户衣柜数据。下面只是情景演算：一万活跃用户、百分之五转化、每人每年一百九十九元，得到九点九五万元年订阅收入；未扣获客、计算、存储、支持和税费，不是预测、净利润或现有收费成绩。</a:t>
            </a:r>
          </a:p>
        </p:txBody>
      </p:sp>
    </p:spTree>
  </p:cSld>
  <p:clrMapOvr>
    <a:masterClrMapping/>
  </p:clrMapOvr>
</p:notes>
</file>

<file path=ppt/notesSlides/notesSlide1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当前源码已经打通 Web 衣柜、入柜、搜索和推荐，搭台与个人 OOTD 也已有多画板、模特动作和生成确认等实现。工程上有持久任务和数据归属控制，可插拔管理接口默认关闭。这里的已有实现来自项目代码与既有验证材料，不代表本轮重跑全部业务测试。真实用户留存、付费与单位成本仍是下一阶段的验证任务。</a:t>
            </a:r>
          </a:p>
        </p:txBody>
      </p:sp>
    </p:spTree>
  </p:cSld>
  <p:clrMapOvr>
    <a:masterClrMapping/>
  </p:clrMapOvr>
</p:notes>
</file>

<file path=ppt/notesSlides/notesSlide12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历史审美报告记录了一组固定意图、连续二十八天的模拟，使用一百六十七件仿内测衣柜。进入推荐的衣物从四十九件增加到九十七件，单品最高占比从百分之二十降到百分之八，支持曝光覆盖改善和过度集中减少。来源是十月十日的报告，非本轮重测，也并非所有公平指标都改善。推荐曝光不是实际穿着率，更不能直接推导消费减少，下一步仍需真实用户研究。</a:t>
            </a:r>
          </a:p>
        </p:txBody>
      </p:sp>
    </p:spTree>
  </p:cSld>
  <p:clrMapOvr>
    <a:masterClrMapping/>
  </p:clrMapOvr>
</p:notes>
</file>

<file path=ppt/notesSlides/notesSlide1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的参赛团队名是鱼力无限，这是团队第一次参加比赛，暂无过往竞赛奖项。页面上的前端、后端、算法图像、产品设计是四项能力方向，不代表已经确认的四位成员或其履历。我们以网站产品闭环、领域算法依据和工程交付作为本次作品证据，接受评委检验。</a:t>
            </a:r>
          </a:p>
        </p:txBody>
      </p:sp>
    </p:spTree>
  </p:cSld>
  <p:clrMapOvr>
    <a:masterClrMapping/>
  </p:clrMapOvr>
</p:notes>
</file>

<file path=ppt/notesSlides/notesSlide1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短期继续修正入柜摩擦和图片质量，记录采纳与实际穿着覆盖，完善未知任务对账并开展压力测试。中期在已经实现的推荐上验证留存，试验订阅和生成额度，核算真实单位服务成本。长期与造型或整理服务商共创授权工作台，再评估数据库和容量扩展。路线图是待执行计划，不把已有推荐写成未来才上线，也不把未知收费请求当成普通失败自动重发。</a:t>
            </a:r>
          </a:p>
        </p:txBody>
      </p:sp>
    </p:spTree>
  </p:cSld>
  <p:clrMapOvr>
    <a:masterClrMapping/>
  </p:clrMapOvr>
</p:notes>
</file>

<file path=ppt/notesSlides/notesSlide1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鱼力无限团队希望通过鱼搭这个网站，帮助用户理解衣柜、解释选择，让已有衣物重新获得机会。欢迎现场体验，并参与下一阶段的共创验证，让这个产品的价值由真实日常使用来回答。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10045065" y="6363018"/>
            <a:ext cx="2057400" cy="273844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accent1">
                <a:lumMod val="60000"/>
                <a:lumOff val="40000"/>
                <a:alpha val="100000"/>
              </a:scheme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YU/DA</a:t>
            </a:r>
            <a:endParaRPr lang="en-US" alt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2.xml" /><Relationship Id="rId4" Type="http://schemas.openxmlformats.org/officeDocument/2006/relationships/image" Target="../media/image_0b9ecf788b81e9ca.svg" />  <Relationship Id="rId5" Type="http://schemas.openxmlformats.org/officeDocument/2006/relationships/notesSlide" Target="../notesSlides/notesSlide1_tf1.xml" />
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2_tf1.xml"/>
</Relationships>
</file>

<file path=ppt/slides/_rels/slide3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2.xml" /><Relationship Id="rId4" Type="http://schemas.openxmlformats.org/officeDocument/2006/relationships/image" Target="../media/image_7014faf47b90c6dd.png" />  <Relationship Id="rId5" Type="http://schemas.openxmlformats.org/officeDocument/2006/relationships/notesSlide" Target="../notesSlides/notesSlide3_tf1.xml" />
</Relationships>
</file>

<file path=ppt/slides/_rels/slide4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3.xml" /><Relationship Id="rId1" Type="http://schemas.openxmlformats.org/officeDocument/2006/relationships/image" Target="../media/image3.png" />  <Relationship Id="rId3" Type="http://schemas.openxmlformats.org/officeDocument/2006/relationships/notesSlide" Target="../notesSlides/notesSlide4_tf1.xml"/>
</Relationships>
</file>

<file path=ppt/slides/_rels/slide5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2.xml" /><Relationship Id="rId4" Type="http://schemas.openxmlformats.org/officeDocument/2006/relationships/image" Target="../media/image_b7a096f5f12f8d2f.png" />  <Relationship Id="rId5" Type="http://schemas.openxmlformats.org/officeDocument/2006/relationships/notesSlide" Target="../notesSlides/notesSlide5_tf1.xml" />
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4.xml" />  <Relationship Id="rId2" Type="http://schemas.openxmlformats.org/officeDocument/2006/relationships/notesSlide" Target="../notesSlides/notesSlide6.xml"/>
</Relationships>
</file>

<file path=ppt/slides/_rels/slide7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2.xml" /><Relationship Id="rId5" Type="http://schemas.openxmlformats.org/officeDocument/2006/relationships/image" Target="../media/image_b7a096f5f12f8d2f.png" /><Relationship Id="rId6" Type="http://schemas.openxmlformats.org/officeDocument/2006/relationships/image" Target="../media/image_b7273801851e0a23.png" />  <Relationship Id="rId7" Type="http://schemas.openxmlformats.org/officeDocument/2006/relationships/notesSlide" Target="../notesSlides/notesSlide6_tf1.xml" />
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7_tf1.xml"/>
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8_tf1.xml"/>
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8_tf2.xml"/>
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9_tf1.xml"/>
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10_tf1.xml"/>
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11_tf1.xml"/>
</Relationships>
</file>

<file path=ppt/slides/_rels/slide14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2.xml" /><Relationship Id="rId4" Type="http://schemas.openxmlformats.org/officeDocument/2006/relationships/image" Target="../media/image_b7273801851e0a23.png" />  <Relationship Id="rId5" Type="http://schemas.openxmlformats.org/officeDocument/2006/relationships/notesSlide" Target="../notesSlides/notesSlide12_tf1.xml" />
</Relationships>
</file>

<file path=ppt/slides/_rels/slide15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2.xml" /><Relationship Id="rId3" Type="http://schemas.openxmlformats.org/officeDocument/2006/relationships/notesSlide" Target="../notesSlides/notesSlide12_tf2.xml" />
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13_tf1.xml"/>
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14_tf1.xml"/>
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2.xml" />  <Relationship Id="rId2" Type="http://schemas.openxmlformats.org/officeDocument/2006/relationships/notesSlide" Target="../notesSlides/notesSlide15_tf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ictur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rcRect l="834" t="0" r="833" b="0"/>
            <a:stretch>
              <a:fillRect/>
            </a:stretch>
          </p:blipFill>
          <p:spPr>
            <a:xfrm>
              <a:off x="4191000" y="0"/>
              <a:ext cx="8001000" cy="6858000"/>
            </a:xfrm>
            <a:prstGeom prst="rect">
              <a:avLst/>
            </a:prstGeom>
          </p:spPr>
        </p:pic>
      </p:grpSp>
      <p:sp>
        <p:nvSpPr>
          <p:cNvPr id="3" name="AutoShape 3"/>
          <p:cNvSpPr/>
          <p:nvPr/>
        </p:nvSpPr>
        <p:spPr>
          <a:xfrm>
            <a:off x="888968" y="762000"/>
            <a:ext cx="50799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85725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AI 数字衣柜 · Web 网站</a:t>
            </a:r>
          </a:p>
        </p:txBody>
      </p:sp>
      <p:sp>
        <p:nvSpPr>
          <p:cNvPr id="4" name="AutoShape 4"/>
          <p:cNvSpPr/>
          <p:nvPr/>
        </p:nvSpPr>
        <p:spPr>
          <a:xfrm>
            <a:off x="787432" y="1524000"/>
            <a:ext cx="4191000" cy="1650968"/>
          </a:xfrm>
          <a:prstGeom prst="rect">
            <a:avLst/>
          </a:prstGeom>
          <a:noFill/>
          <a:ln>
            <a:noFill/>
          </a:ln>
        </p:spPr>
        <p:txBody>
          <a:bodyPr wrap="none" lIns="0" tIns="139700" rIns="0" bIns="0" anchor="t" anchorCtr="0">
            <a:noAutofit/>
          </a:bodyPr>
          <a:lstStyle/>
          <a:p>
            <a:pPr algn="l"/>
            <a:r>
              <a:rPr lang="zh-CN" sz="92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鱼搭</a:t>
            </a:r>
          </a:p>
        </p:txBody>
      </p:sp>
      <p:sp>
        <p:nvSpPr>
          <p:cNvPr id="5" name="AutoShape 5"/>
          <p:cNvSpPr/>
          <p:nvPr/>
        </p:nvSpPr>
        <p:spPr>
          <a:xfrm>
            <a:off x="863632" y="3403568"/>
            <a:ext cx="3555968" cy="888968"/>
          </a:xfrm>
          <a:prstGeom prst="rect">
            <a:avLst/>
          </a:prstGeom>
          <a:noFill/>
          <a:ln>
            <a:noFill/>
          </a:ln>
        </p:spPr>
        <p:txBody>
          <a:bodyPr wrap="none" lIns="0" tIns="-11430" rIns="0" bIns="0" anchor="t" anchorCtr="0">
            <a:noAutofit/>
          </a:bodyPr>
          <a:lstStyle/>
          <a:p>
            <a:pPr algn="l">
              <a:lnSpc>
                <a:spcPts val="3150"/>
              </a:lnSpc>
            </a:pPr>
            <a:r>
              <a:rPr lang="zh-CN" sz="2100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让已有衣物，</a:t>
            </a:r>
            <a:br>
              <a:rPr lang="zh-CN" sz="2100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成为每天的选择。</a:t>
            </a:r>
          </a:p>
        </p:txBody>
      </p:sp>
      <p:cxnSp>
        <p:nvCxnSpPr>
          <p:cNvPr id="6" name="Connector 6"/>
          <p:cNvCxnSpPr/>
          <p:nvPr/>
        </p:nvCxnSpPr>
        <p:spPr>
          <a:xfrm rot="-42969">
            <a:off x="889063" y="4718018"/>
            <a:ext cx="1016032" cy="12668"/>
          </a:xfrm>
          <a:prstGeom prst="straightConnector1">
            <a:avLst/>
          </a:prstGeom>
          <a:solidFill>
            <a:srgbClr val="E8E9EE"/>
          </a:solidFill>
          <a:ln w="50800" cap="flat">
            <a:solidFill>
              <a:srgbClr val="1F5C45"/>
            </a:solidFill>
            <a:round/>
          </a:ln>
        </p:spPr>
      </p:cxnSp>
      <p:sp>
        <p:nvSpPr>
          <p:cNvPr id="7" name="AutoShape 7"/>
          <p:cNvSpPr/>
          <p:nvPr/>
        </p:nvSpPr>
        <p:spPr>
          <a:xfrm>
            <a:off x="863632" y="4978432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92043" rIns="0" bIns="0" anchor="t" anchorCtr="0">
            <a:noAutofit/>
          </a:bodyPr>
          <a:lstStyle/>
          <a:p>
            <a:pPr algn="l"/>
            <a:r>
              <a:rPr lang="zh-CN" sz="13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参赛团队：鱼力无限　|　网页作品路演</a:t>
            </a:r>
          </a:p>
        </p:txBody>
      </p:sp>
      <p:grpSp>
        <p:nvGrpSpPr>
          <p:cNvPr id="17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14" name="Line 14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30" name="shape-2-foreground"/>
            <p:cNvSpPr/>
            <p:nvPr/>
          </p:nvSpPr>
          <p:spPr>
            <a:xfrm>
              <a:off x="888968" y="571500"/>
              <a:ext cx="3810000" cy="558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9050" rIns="0" bIns="0" anchor="t" anchorCtr="0">
              <a:noAutofit/>
            </a:bodyPr>
            <a:lstStyle/>
            <a:p>
              <a:pPr algn="l"/>
              <a:r>
                <a:rPr lang="zh-CN" sz="34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914400" y="1206532"/>
            <a:ext cx="2540032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768" rIns="0" bIns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1F5C45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cxnSp>
        <p:nvCxnSpPr>
          <p:cNvPr id="4" name="Connector 4"/>
          <p:cNvCxnSpPr/>
          <p:nvPr/>
        </p:nvCxnSpPr>
        <p:spPr>
          <a:xfrm rot="-4192">
            <a:off x="888968" y="1619250"/>
            <a:ext cx="10413968" cy="12668"/>
          </a:xfrm>
          <a:prstGeom prst="straightConnector1">
            <a:avLst/>
          </a:prstGeom>
          <a:solidFill>
            <a:srgbClr val="E8E9EE"/>
          </a:solidFill>
          <a:ln w="12700" cap="flat">
            <a:solidFill>
              <a:srgbClr val="DCEAE2"/>
            </a:solidFill>
            <a:round/>
          </a:ln>
        </p:spPr>
      </p:cxnSp>
      <p:sp>
        <p:nvSpPr>
          <p:cNvPr id="5" name="AutoShape 5"/>
          <p:cNvSpPr/>
          <p:nvPr/>
        </p:nvSpPr>
        <p:spPr>
          <a:xfrm>
            <a:off x="888968" y="2006632"/>
            <a:ext cx="660368" cy="660368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8968" y="2159032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95" tIns="63468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AutoShape 7"/>
          <p:cNvSpPr/>
          <p:nvPr/>
        </p:nvSpPr>
        <p:spPr>
          <a:xfrm>
            <a:off x="1752600" y="2031968"/>
            <a:ext cx="2540032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44482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项目背景与需求分析</a:t>
            </a:r>
          </a:p>
        </p:txBody>
      </p:sp>
      <p:sp>
        <p:nvSpPr>
          <p:cNvPr id="8" name="AutoShape 8"/>
          <p:cNvSpPr/>
          <p:nvPr/>
        </p:nvSpPr>
        <p:spPr>
          <a:xfrm>
            <a:off x="1752600" y="2412968"/>
            <a:ext cx="2793968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832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照片分散 · 缺少决策依据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32" y="2006632"/>
            <a:ext cx="660368" cy="660368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32" y="2159032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63468" rIns="95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213568" y="2031968"/>
            <a:ext cx="3302032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44482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产品与核心功能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213568" y="2412968"/>
            <a:ext cx="3302032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832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入柜 · 推荐 · 组合台 · OOTD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88968" y="3276600"/>
            <a:ext cx="660368" cy="660368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88968" y="3429000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95" tIns="63500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752600" y="3302032"/>
            <a:ext cx="2793968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44418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创新对比与算法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752600" y="3683032"/>
            <a:ext cx="3302032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7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可解释推荐 · 本地检索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350032" y="3276600"/>
            <a:ext cx="660368" cy="660368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350032" y="3429000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63500" rIns="95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213568" y="3302032"/>
            <a:ext cx="2793968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44418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技术架构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213568" y="3683032"/>
            <a:ext cx="3302032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7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Web · 本地模型 · 持久任务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88968" y="4546568"/>
            <a:ext cx="660368" cy="660368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8968" y="4698968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95" tIns="63532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AutoShape 23"/>
          <p:cNvSpPr/>
          <p:nvPr/>
        </p:nvSpPr>
        <p:spPr>
          <a:xfrm>
            <a:off x="1752600" y="4572000"/>
            <a:ext cx="3048000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市场与商业模式</a:t>
            </a:r>
          </a:p>
        </p:txBody>
      </p:sp>
      <p:sp>
        <p:nvSpPr>
          <p:cNvPr id="24" name="AutoShape 24"/>
          <p:cNvSpPr/>
          <p:nvPr/>
        </p:nvSpPr>
        <p:spPr>
          <a:xfrm>
            <a:off x="1752600" y="4953000"/>
            <a:ext cx="3302032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80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用户验证 · 订阅与额度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350032" y="4546568"/>
            <a:ext cx="660368" cy="660368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350032" y="4698968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63532" rIns="95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AutoShape 27"/>
          <p:cNvSpPr/>
          <p:nvPr/>
        </p:nvSpPr>
        <p:spPr>
          <a:xfrm>
            <a:off x="7213568" y="4572000"/>
            <a:ext cx="3302032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团队与未来</a:t>
            </a:r>
          </a:p>
        </p:txBody>
      </p:sp>
      <p:sp>
        <p:nvSpPr>
          <p:cNvPr id="28" name="AutoShape 28"/>
          <p:cNvSpPr/>
          <p:nvPr/>
        </p:nvSpPr>
        <p:spPr>
          <a:xfrm>
            <a:off x="7213568" y="4953000"/>
            <a:ext cx="3302032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80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鱼力无限 · 作品与规划</a:t>
            </a:r>
          </a:p>
        </p:txBody>
      </p:sp>
      <p:grpSp>
        <p:nvGrpSpPr>
          <p:cNvPr id="54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51" name="Line 51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page-field-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25262B"/>
            </a:solidFill>
            <a:ln>
              <a:noFill/>
            </a:ln>
          </p:spPr>
        </p:sp>
        <p:sp>
          <p:nvSpPr>
            <p:cNvPr id="20" name="shape-2-foreground"/>
            <p:cNvSpPr/>
            <p:nvPr/>
          </p:nvSpPr>
          <p:spPr>
            <a:xfrm>
              <a:off x="888968" y="635032"/>
              <a:ext cx="2540032" cy="2793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768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DCEAE2"/>
                  </a:solidFill>
                  <a:latin typeface="Arial"/>
                  <a:ea typeface="Microsoft YaHei"/>
                  <a:cs typeface="Arial"/>
                </a:rPr>
                <a:t>01 · 项目背景与需求分析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888968" y="1079468"/>
            <a:ext cx="6285833" cy="1476375"/>
          </a:xfrm>
          <a:prstGeom prst="rect">
            <a:avLst/>
          </a:prstGeom>
          <a:noFill/>
          <a:ln>
            <a:noFill/>
          </a:ln>
        </p:spPr>
        <p:txBody>
          <a:bodyPr wrap="none" lIns="0" tIns="38132" rIns="0" bIns="0" anchor="t" anchorCtr="0">
            <a:noAutofit/>
          </a:bodyPr>
          <a:lstStyle/>
          <a:p>
            <a:pPr algn="l">
              <a:lnSpc>
                <a:spcPts val="5400"/>
              </a:lnSpc>
            </a:pPr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衣柜已经装满，</a:t>
            </a:r>
            <a:b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</a:br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为什么仍不知道穿什么？</a:t>
            </a:r>
          </a:p>
        </p:txBody>
      </p:sp>
      <p:sp>
        <p:nvSpPr>
          <p:cNvPr id="4" name="AutoShape 4"/>
          <p:cNvSpPr/>
          <p:nvPr/>
        </p:nvSpPr>
        <p:spPr>
          <a:xfrm>
            <a:off x="888968" y="2730532"/>
            <a:ext cx="4826032" cy="698468"/>
          </a:xfrm>
          <a:prstGeom prst="rect">
            <a:avLst/>
          </a:prstGeom>
          <a:noFill/>
          <a:ln>
            <a:noFill/>
          </a:ln>
        </p:spPr>
        <p:txBody>
          <a:bodyPr wrap="none" lIns="0" tIns="-10795" rIns="0" bIns="0" anchor="t" anchorCtr="0">
            <a:noAutofit/>
          </a:bodyPr>
          <a:lstStyle/>
          <a:p>
            <a:pPr algn="l">
              <a:lnSpc>
                <a:spcPts val="2475"/>
              </a:lnSpc>
            </a:pPr>
            <a:r>
              <a:rPr lang="zh-CN" sz="1650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  <a:t>照片分散、灵感难落地，</a:t>
            </a:r>
            <a:br>
              <a:rPr lang="zh-CN" sz="1650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</a:br>
            <a:r>
              <a:rPr lang="zh-CN" sz="1650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  <a:t>出门前仍然反复选择那几件。</a:t>
            </a:r>
          </a:p>
        </p:txBody>
      </p:sp>
      <p:cxnSp>
        <p:nvCxnSpPr>
          <p:cNvPr id="5" name="Connector 5"/>
          <p:cNvCxnSpPr/>
          <p:nvPr/>
        </p:nvCxnSpPr>
        <p:spPr>
          <a:xfrm rot="5389582">
            <a:off x="4635579" y="3486197"/>
            <a:ext cx="4191000" cy="12668"/>
          </a:xfrm>
          <a:prstGeom prst="straightConnector1">
            <a:avLst/>
          </a:prstGeom>
          <a:solidFill>
            <a:srgbClr val="E8E9EE"/>
          </a:solidFill>
          <a:ln w="12700" cap="flat">
            <a:solidFill>
              <a:srgbClr val="626774"/>
            </a:solidFill>
            <a:round/>
          </a:ln>
        </p:spPr>
      </p:cxnSp>
      <p:sp>
        <p:nvSpPr>
          <p:cNvPr id="6" name="AutoShape 6"/>
          <p:cNvSpPr/>
          <p:nvPr/>
        </p:nvSpPr>
        <p:spPr>
          <a:xfrm>
            <a:off x="7175468" y="1498568"/>
            <a:ext cx="711232" cy="711232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175468" y="1676400"/>
            <a:ext cx="711232" cy="381000"/>
          </a:xfrm>
          <a:prstGeom prst="rect">
            <a:avLst/>
          </a:prstGeom>
          <a:noFill/>
          <a:ln>
            <a:noFill/>
          </a:ln>
        </p:spPr>
        <p:txBody>
          <a:bodyPr wrap="none" lIns="95" tIns="53975" rIns="0" bIns="0" anchor="t" anchorCtr="0">
            <a:noAutofit/>
          </a:bodyPr>
          <a:lstStyle/>
          <a:p>
            <a:pPr algn="ctr"/>
            <a:r>
              <a:rPr lang="zh-CN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AutoShape 8"/>
          <p:cNvSpPr/>
          <p:nvPr/>
        </p:nvSpPr>
        <p:spPr>
          <a:xfrm>
            <a:off x="8064532" y="1524000"/>
            <a:ext cx="34290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-16475" rIns="0" bIns="0" anchor="t" anchorCtr="0">
            <a:noAutofit/>
          </a:bodyPr>
          <a:lstStyle/>
          <a:p>
            <a:pPr algn="l">
              <a:lnSpc>
                <a:spcPts val="2550"/>
              </a:lnSpc>
            </a:pPr>
            <a:r>
              <a:rPr lang="zh-CN" sz="1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今天的场合和天气，</a:t>
            </a:r>
            <a:br>
              <a:rPr lang="zh-CN" sz="1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</a:br>
            <a:r>
              <a:rPr lang="zh-CN" sz="1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适合穿什么？</a:t>
            </a:r>
          </a:p>
        </p:txBody>
      </p:sp>
      <p:sp>
        <p:nvSpPr>
          <p:cNvPr id="9" name="AutoShape 9"/>
          <p:cNvSpPr/>
          <p:nvPr/>
        </p:nvSpPr>
        <p:spPr>
          <a:xfrm>
            <a:off x="8064532" y="2101882"/>
            <a:ext cx="355596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34283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  <a:t>鱼搭给你建议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175468" y="3022568"/>
            <a:ext cx="711232" cy="711232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175468" y="3200400"/>
            <a:ext cx="711232" cy="381000"/>
          </a:xfrm>
          <a:prstGeom prst="rect">
            <a:avLst/>
          </a:prstGeom>
          <a:noFill/>
          <a:ln>
            <a:noFill/>
          </a:ln>
        </p:spPr>
        <p:txBody>
          <a:bodyPr wrap="none" lIns="95" tIns="53975" rIns="0" bIns="0" anchor="t" anchorCtr="0">
            <a:noAutofit/>
          </a:bodyPr>
          <a:lstStyle/>
          <a:p>
            <a:pPr algn="ctr"/>
            <a:r>
              <a:rPr lang="zh-CN" sz="17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064532" y="3048000"/>
            <a:ext cx="34290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-16475" rIns="0" bIns="0" anchor="t" anchorCtr="0">
            <a:noAutofit/>
          </a:bodyPr>
          <a:lstStyle/>
          <a:p>
            <a:pPr algn="l">
              <a:lnSpc>
                <a:spcPts val="2550"/>
              </a:lnSpc>
            </a:pPr>
            <a:r>
              <a:rPr lang="zh-CN" sz="1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衣物多，难以记忆、</a:t>
            </a:r>
            <a:br>
              <a:rPr lang="zh-CN" sz="1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</a:br>
            <a:r>
              <a:rPr lang="zh-CN" sz="1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查找和整理。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064532" y="3625882"/>
            <a:ext cx="355596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34283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  <a:t>鱼搭帮你记忆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175468" y="4546568"/>
            <a:ext cx="711232" cy="711232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175468" y="4724400"/>
            <a:ext cx="711232" cy="381000"/>
          </a:xfrm>
          <a:prstGeom prst="rect">
            <a:avLst/>
          </a:prstGeom>
          <a:noFill/>
          <a:ln>
            <a:noFill/>
          </a:ln>
        </p:spPr>
        <p:txBody>
          <a:bodyPr wrap="none" lIns="95" tIns="53975" rIns="0" bIns="0" anchor="t" anchorCtr="0">
            <a:noAutofit/>
          </a:bodyPr>
          <a:lstStyle/>
          <a:p>
            <a:pPr algn="ctr"/>
            <a:r>
              <a:rPr lang="zh-CN" sz="17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64532" y="4572000"/>
            <a:ext cx="34290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-16475" rIns="0" bIns="0" anchor="t" anchorCtr="0">
            <a:noAutofit/>
          </a:bodyPr>
          <a:lstStyle/>
          <a:p>
            <a:pPr algn="l">
              <a:lnSpc>
                <a:spcPts val="2550"/>
              </a:lnSpc>
            </a:pPr>
            <a:r>
              <a:rPr lang="zh-CN" sz="1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收藏了穿搭灵感，</a:t>
            </a:r>
            <a:br>
              <a:rPr lang="zh-CN" sz="1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</a:br>
            <a:r>
              <a:rPr lang="zh-CN" sz="1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却难用自己的衣物还原。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064532" y="5149882"/>
            <a:ext cx="355596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34283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  <a:t>鱼搭助你还原</a:t>
            </a:r>
          </a:p>
        </p:txBody>
      </p:sp>
      <p:grpSp>
        <p:nvGrpSpPr>
          <p:cNvPr id="34" name="图片 17"/>
          <p:cNvGrpSpPr/>
          <p:nvPr/>
        </p:nvGrpSpPr>
        <p:grpSpPr>
          <a:xfrm>
            <a:off x="1519523" y="3581400"/>
            <a:ext cx="2305717" cy="2915317"/>
            <a:chOff x="1519523" y="3581400"/>
            <a:chExt cx="2305717" cy="2915317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19523" y="3581400"/>
              <a:ext cx="2305717" cy="2915317"/>
            </a:xfrm>
            <a:custGeom>
              <a:avLst/>
              <a:gdLst/>
              <a:ahLst/>
              <a:cxnLst/>
              <a:rect l="l" t="t" r="r" b="b"/>
              <a:pathLst>
                <a:path w="2305717" h="2915317">
                  <a:moveTo>
                    <a:pt x="0" y="384334"/>
                  </a:moveTo>
                  <a:cubicBezTo>
                    <a:pt x="0" y="282402"/>
                    <a:pt x="40492" y="184645"/>
                    <a:pt x="112569" y="112569"/>
                  </a:cubicBezTo>
                  <a:cubicBezTo>
                    <a:pt x="184645" y="40492"/>
                    <a:pt x="282402" y="0"/>
                    <a:pt x="384334" y="0"/>
                  </a:cubicBezTo>
                  <a:lnTo>
                    <a:pt x="1921383" y="0"/>
                  </a:lnTo>
                  <a:cubicBezTo>
                    <a:pt x="2023315" y="0"/>
                    <a:pt x="2121071" y="40492"/>
                    <a:pt x="2193148" y="112569"/>
                  </a:cubicBezTo>
                  <a:cubicBezTo>
                    <a:pt x="2265225" y="184645"/>
                    <a:pt x="2305717" y="282402"/>
                    <a:pt x="2305717" y="384334"/>
                  </a:cubicBezTo>
                  <a:lnTo>
                    <a:pt x="2305717" y="2530983"/>
                  </a:lnTo>
                  <a:cubicBezTo>
                    <a:pt x="2305717" y="2632915"/>
                    <a:pt x="2265225" y="2730671"/>
                    <a:pt x="2193148" y="2802748"/>
                  </a:cubicBezTo>
                  <a:cubicBezTo>
                    <a:pt x="2121071" y="2874825"/>
                    <a:pt x="2023315" y="2915317"/>
                    <a:pt x="1921383" y="2915317"/>
                  </a:cubicBezTo>
                  <a:lnTo>
                    <a:pt x="384334" y="2915317"/>
                  </a:lnTo>
                  <a:cubicBezTo>
                    <a:pt x="282402" y="2915317"/>
                    <a:pt x="184645" y="2874825"/>
                    <a:pt x="112569" y="2802748"/>
                  </a:cubicBezTo>
                  <a:cubicBezTo>
                    <a:pt x="40492" y="2730671"/>
                    <a:pt x="0" y="2632915"/>
                    <a:pt x="0" y="2530983"/>
                  </a:cubicBezTo>
                  <a:close/>
                </a:path>
              </a:pathLst>
            </a:custGeom>
          </p:spPr>
        </p:pic>
      </p:grpSp>
      <p:grpSp>
        <p:nvGrpSpPr>
          <p:cNvPr id="38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35" name="Line 35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AE2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AE2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blipFill>
          <a:blip r:embed="rId1">
            <a:alphaModFix amt="7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page-field-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" name="TextBox 2"/>
            <p:cNvSpPr/>
            <p:nvPr/>
          </p:nvSpPr>
          <p:spPr>
            <a:xfrm>
              <a:off x="602742" y="549307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1350" dirty="0">
                  <a:solidFill>
                    <a:srgbClr val="1F5C45"/>
                  </a:solidFill>
                  <a:latin typeface="Arial"/>
                  <a:ea typeface="Arial"/>
                  <a:cs typeface="Arial"/>
                </a:rPr>
                <a:t>THE REFRAME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1312" y="1006507"/>
              <a:ext cx="4114800" cy="553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3468" rIns="0" bIns="0" anchor="t" anchorCtr="0">
              <a:noAutofit/>
            </a:bodyPr>
            <a:lstStyle/>
            <a:p>
              <a:pPr algn="l"/>
              <a:r>
                <a:rPr lang="zh-CN" sz="3150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把衣柜变成决策资源。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9694" y="1825657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5368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从真实衣物出发，让每次选择都有依据。</a:t>
              </a:r>
            </a:p>
          </p:txBody>
        </p:sp>
      </p:grpSp>
      <p:grpSp>
        <p:nvGrpSpPr>
          <p:cNvPr id="27" name="decision-chain"/>
          <p:cNvGrpSpPr/>
          <p:nvPr/>
        </p:nvGrpSpPr>
        <p:grpSpPr>
          <a:xfrm>
            <a:off x="591407" y="3227737"/>
            <a:ext cx="10896219" cy="1820513"/>
            <a:chOff x="591407" y="3227737"/>
            <a:chExt cx="10896219" cy="1820513"/>
          </a:xfrm>
        </p:grpSpPr>
        <p:sp>
          <p:nvSpPr>
            <p:cNvPr id="6" name="Line 6"/>
            <p:cNvSpPr/>
            <p:nvPr/>
          </p:nvSpPr>
          <p:spPr>
            <a:xfrm>
              <a:off x="1357598" y="3322987"/>
              <a:ext cx="9296400" cy="0"/>
            </a:xfrm>
            <a:prstGeom prst="line">
              <a:avLst/>
            </a:prstGeom>
            <a:noFill/>
            <a:ln w="19050">
              <a:solidFill>
                <a:srgbClr val="1F5C45"/>
              </a:solidFill>
              <a:tailEnd type="triangle" w="lg" len="lg"/>
            </a:ln>
          </p:spPr>
        </p:sp>
        <p:grpSp>
          <p:nvGrpSpPr>
            <p:cNvPr id="11" name="own"/>
            <p:cNvGrpSpPr/>
            <p:nvPr/>
          </p:nvGrpSpPr>
          <p:grpSpPr>
            <a:xfrm>
              <a:off x="591407" y="3227737"/>
              <a:ext cx="1232916" cy="1820513"/>
              <a:chOff x="591407" y="3227737"/>
              <a:chExt cx="1232916" cy="1820513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271873" y="3227737"/>
                <a:ext cx="190500" cy="1905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8" name="TextBox 8"/>
              <p:cNvSpPr/>
              <p:nvPr/>
            </p:nvSpPr>
            <p:spPr>
              <a:xfrm>
                <a:off x="591407" y="3615023"/>
                <a:ext cx="7955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700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拥有</a:t>
                </a:r>
              </a:p>
            </p:txBody>
          </p:sp>
          <p:sp>
            <p:nvSpPr>
              <p:cNvPr id="9" name="TextBox 9"/>
              <p:cNvSpPr/>
              <p:nvPr/>
            </p:nvSpPr>
            <p:spPr>
              <a:xfrm>
                <a:off x="595217" y="4262723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真实衣物</a:t>
                </a:r>
              </a:p>
            </p:txBody>
          </p:sp>
          <p:sp>
            <p:nvSpPr>
              <p:cNvPr id="10" name="TextBox 10"/>
              <p:cNvSpPr/>
              <p:nvPr/>
            </p:nvSpPr>
            <p:spPr>
              <a:xfrm>
                <a:off x="597503" y="475488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库存成为起点</a:t>
                </a:r>
              </a:p>
            </p:txBody>
          </p:sp>
        </p:grpSp>
        <p:grpSp>
          <p:nvGrpSpPr>
            <p:cNvPr id="16" name="understand"/>
            <p:cNvGrpSpPr/>
            <p:nvPr/>
          </p:nvGrpSpPr>
          <p:grpSpPr>
            <a:xfrm>
              <a:off x="3363182" y="3227737"/>
              <a:ext cx="1434846" cy="1820513"/>
              <a:chOff x="3363182" y="3227737"/>
              <a:chExt cx="1434846" cy="1820513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4024598" y="3227737"/>
                <a:ext cx="190500" cy="1905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13" name="TextBox 13"/>
              <p:cNvSpPr/>
              <p:nvPr/>
            </p:nvSpPr>
            <p:spPr>
              <a:xfrm>
                <a:off x="3363182" y="3615023"/>
                <a:ext cx="7955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700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理解</a:t>
                </a:r>
              </a:p>
            </p:txBody>
          </p:sp>
          <p:sp>
            <p:nvSpPr>
              <p:cNvPr id="14" name="TextBox 14"/>
              <p:cNvSpPr/>
              <p:nvPr/>
            </p:nvSpPr>
            <p:spPr>
              <a:xfrm>
                <a:off x="3366992" y="4262723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属性与图像</a:t>
                </a:r>
              </a:p>
            </p:txBody>
          </p:sp>
          <p:sp>
            <p:nvSpPr>
              <p:cNvPr id="15" name="TextBox 15"/>
              <p:cNvSpPr/>
              <p:nvPr/>
            </p:nvSpPr>
            <p:spPr>
              <a:xfrm>
                <a:off x="3369278" y="475488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知道它适合什么</a:t>
                </a:r>
              </a:p>
            </p:txBody>
          </p:sp>
        </p:grpSp>
        <p:grpSp>
          <p:nvGrpSpPr>
            <p:cNvPr id="21" name="choose"/>
            <p:cNvGrpSpPr/>
            <p:nvPr/>
          </p:nvGrpSpPr>
          <p:grpSpPr>
            <a:xfrm>
              <a:off x="6134957" y="3227737"/>
              <a:ext cx="2123694" cy="1820513"/>
              <a:chOff x="6134957" y="3227737"/>
              <a:chExt cx="2123694" cy="1820513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6805898" y="3227737"/>
                <a:ext cx="190500" cy="1905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18" name="TextBox 18"/>
              <p:cNvSpPr/>
              <p:nvPr/>
            </p:nvSpPr>
            <p:spPr>
              <a:xfrm>
                <a:off x="6134957" y="3615023"/>
                <a:ext cx="7955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700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选择</a:t>
                </a:r>
              </a:p>
            </p:txBody>
          </p:sp>
          <p:sp>
            <p:nvSpPr>
              <p:cNvPr id="19" name="TextBox 19"/>
              <p:cNvSpPr/>
              <p:nvPr/>
            </p:nvSpPr>
            <p:spPr>
              <a:xfrm>
                <a:off x="6138767" y="4262723"/>
                <a:ext cx="211988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场景、天气、风格</a:t>
                </a:r>
              </a:p>
            </p:txBody>
          </p:sp>
          <p:sp>
            <p:nvSpPr>
              <p:cNvPr id="20" name="TextBox 20"/>
              <p:cNvSpPr/>
              <p:nvPr/>
            </p:nvSpPr>
            <p:spPr>
              <a:xfrm>
                <a:off x="6141053" y="475488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每次都有依据</a:t>
                </a:r>
              </a:p>
            </p:txBody>
          </p:sp>
        </p:grpSp>
        <p:grpSp>
          <p:nvGrpSpPr>
            <p:cNvPr id="26" name="feedback"/>
            <p:cNvGrpSpPr/>
            <p:nvPr/>
          </p:nvGrpSpPr>
          <p:grpSpPr>
            <a:xfrm>
              <a:off x="9363932" y="3227737"/>
              <a:ext cx="2123694" cy="1820513"/>
              <a:chOff x="9363932" y="3227737"/>
              <a:chExt cx="2123694" cy="1820513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0253948" y="3227737"/>
                <a:ext cx="190500" cy="1905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23" name="TextBox 23"/>
              <p:cNvSpPr/>
              <p:nvPr/>
            </p:nvSpPr>
            <p:spPr>
              <a:xfrm>
                <a:off x="9363932" y="3615023"/>
                <a:ext cx="7955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700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反馈</a:t>
                </a:r>
              </a:p>
            </p:txBody>
          </p:sp>
          <p:sp>
            <p:nvSpPr>
              <p:cNvPr id="24" name="TextBox 24"/>
              <p:cNvSpPr/>
              <p:nvPr/>
            </p:nvSpPr>
            <p:spPr>
              <a:xfrm>
                <a:off x="9367742" y="4262723"/>
                <a:ext cx="211988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950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换件、喜好、恢复</a:t>
                </a:r>
              </a:p>
            </p:txBody>
          </p:sp>
          <p:sp>
            <p:nvSpPr>
              <p:cNvPr id="25" name="TextBox 25"/>
              <p:cNvSpPr/>
              <p:nvPr/>
            </p:nvSpPr>
            <p:spPr>
              <a:xfrm>
                <a:off x="9370028" y="475488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影响下一次选择</a:t>
                </a:r>
              </a:p>
            </p:txBody>
          </p:sp>
        </p:grpSp>
      </p:grpSp>
      <p:grpSp>
        <p:nvGrpSpPr>
          <p:cNvPr id="29" name="goal"/>
          <p:cNvGrpSpPr/>
          <p:nvPr/>
        </p:nvGrpSpPr>
        <p:grpSpPr>
          <a:xfrm>
            <a:off x="599694" y="5454682"/>
            <a:ext cx="6845046" cy="381381"/>
            <a:chOff x="599694" y="5454682"/>
            <a:chExt cx="6845046" cy="381381"/>
          </a:xfrm>
        </p:grpSpPr>
        <p:sp>
          <p:nvSpPr>
            <p:cNvPr id="28" name="TextBox 28"/>
            <p:cNvSpPr/>
            <p:nvPr/>
          </p:nvSpPr>
          <p:spPr>
            <a:xfrm>
              <a:off x="599694" y="54546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5368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让更多已有衣物进入日常；效果仍需用户验证。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03504" y="6324600"/>
            <a:ext cx="10800778" cy="234696"/>
            <a:chOff x="603504" y="6324600"/>
            <a:chExt cx="10800778" cy="234696"/>
          </a:xfrm>
        </p:grpSpPr>
        <p:sp>
          <p:nvSpPr>
            <p:cNvPr id="30" name="TextBox 30"/>
            <p:cNvSpPr/>
            <p:nvPr/>
          </p:nvSpPr>
          <p:spPr>
            <a:xfrm>
              <a:off x="603504" y="6324600"/>
              <a:ext cx="2476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项目立意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11214354" y="6324600"/>
              <a:ext cx="189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7" name="shape-2-foreground"/>
            <p:cNvSpPr/>
            <p:nvPr/>
          </p:nvSpPr>
          <p:spPr>
            <a:xfrm>
              <a:off x="0" y="762000"/>
              <a:ext cx="12192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3975" rIns="0" bIns="0" anchor="t" anchorCtr="0">
              <a:noAutofit/>
            </a:bodyPr>
            <a:lstStyle/>
            <a:p>
              <a:pPr algn="ctr"/>
              <a:r>
                <a:rPr lang="zh-CN" sz="1300" b="1" dirty="0">
                  <a:solidFill>
                    <a:srgbClr val="1F5C45"/>
                  </a:solidFill>
                  <a:latin typeface="Arial"/>
                  <a:ea typeface="Arial"/>
                  <a:cs typeface="Arial"/>
                </a:rPr>
                <a:t>02·</a:t>
              </a:r>
              <a:r>
                <a:rPr lang="zh-CN" sz="130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产品与核心功能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1524000" y="1524000"/>
            <a:ext cx="9144000" cy="1650968"/>
          </a:xfrm>
          <a:prstGeom prst="rect">
            <a:avLst/>
          </a:prstGeom>
          <a:noFill/>
          <a:ln>
            <a:noFill/>
          </a:ln>
        </p:spPr>
        <p:txBody>
          <a:bodyPr wrap="none" lIns="0" tIns="-21590" rIns="0" bIns="0" anchor="t" anchorCtr="0">
            <a:noAutofit/>
          </a:bodyPr>
          <a:lstStyle/>
          <a:p>
            <a:pPr algn="ctr">
              <a:lnSpc>
                <a:spcPts val="4950"/>
              </a:lnSpc>
            </a:pPr>
            <a:r>
              <a:rPr lang="zh-CN" sz="33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拍照入柜，</a:t>
            </a:r>
            <a:br>
              <a:rPr lang="zh-CN" sz="33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</a:br>
            <a:r>
              <a:rPr lang="zh-CN" sz="33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在网站里管理自己的衣橱</a:t>
            </a:r>
          </a:p>
        </p:txBody>
      </p:sp>
      <p:grpSp>
        <p:nvGrpSpPr>
          <p:cNvPr id="11" name="Picture 4"/>
          <p:cNvGrpSpPr/>
          <p:nvPr/>
        </p:nvGrpSpPr>
        <p:grpSpPr>
          <a:xfrm>
            <a:off x="1905000" y="3238500"/>
            <a:ext cx="8382000" cy="2857500"/>
            <a:chOff x="1905000" y="3238500"/>
            <a:chExt cx="8382000" cy="28575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rcRect l="0" t="20164" r="0" b="20165"/>
            <a:stretch>
              <a:fillRect/>
            </a:stretch>
          </p:blipFill>
          <p:spPr>
            <a:xfrm>
              <a:off x="1905000" y="3238500"/>
              <a:ext cx="8382000" cy="2857500"/>
            </a:xfrm>
            <a:prstGeom prst="rect">
              <a:avLst/>
            </a:prstGeom>
          </p:spPr>
        </p:pic>
      </p:grpSp>
      <p:sp>
        <p:nvSpPr>
          <p:cNvPr id="5" name="AutoShape 5"/>
          <p:cNvSpPr/>
          <p:nvPr/>
        </p:nvSpPr>
        <p:spPr>
          <a:xfrm>
            <a:off x="0" y="6016657"/>
            <a:ext cx="12192000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57118" rIns="0" bIns="0" anchor="t" anchorCtr="0">
            <a:noAutofit/>
          </a:bodyPr>
          <a:lstStyle/>
          <a:p>
            <a:pPr algn="ctr"/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批量上传 → 后台处理 → 核对入柜 → 进入真实衣柜</a:t>
            </a:r>
          </a:p>
        </p:txBody>
      </p:sp>
      <p:grpSp>
        <p:nvGrpSpPr>
          <p:cNvPr id="16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13" name="Line 13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pattFill prst="pct25">
          <a:fgClr>
            <a:schemeClr val="accent1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grpSp>
        <p:nvGrpSpPr>
          <p:cNvPr id="40" name="loop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page-field-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1895475" y="2619375"/>
              <a:ext cx="8296275" cy="0"/>
            </a:xfrm>
            <a:prstGeom prst="line">
              <a:avLst/>
            </a:prstGeom>
            <a:noFill/>
            <a:ln w="19050">
              <a:solidFill>
                <a:srgbClr val="1F5C45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10334625" y="2714625"/>
              <a:ext cx="0" cy="1609725"/>
            </a:xfrm>
            <a:prstGeom prst="line">
              <a:avLst/>
            </a:prstGeom>
            <a:noFill/>
            <a:ln w="19050">
              <a:solidFill>
                <a:srgbClr val="1F5C45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 rot="10800000">
              <a:off x="1876425" y="4400550"/>
              <a:ext cx="8410575" cy="0"/>
            </a:xfrm>
            <a:prstGeom prst="line">
              <a:avLst/>
            </a:prstGeom>
            <a:noFill/>
            <a:ln w="19050">
              <a:solidFill>
                <a:srgbClr val="1F5C45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rot="-10800000">
              <a:off x="1676400" y="2724150"/>
              <a:ext cx="0" cy="1619250"/>
            </a:xfrm>
            <a:prstGeom prst="line">
              <a:avLst/>
            </a:prstGeom>
            <a:noFill/>
            <a:ln w="19050">
              <a:solidFill>
                <a:srgbClr val="1F5C45"/>
              </a:solidFill>
              <a:prstDash val="lgDash"/>
              <a:tailEnd type="triangle" w="lg" len="lg"/>
            </a:ln>
          </p:spPr>
        </p:sp>
        <p:grpSp>
          <p:nvGrpSpPr>
            <p:cNvPr id="14" name="intake"/>
            <p:cNvGrpSpPr/>
            <p:nvPr/>
          </p:nvGrpSpPr>
          <p:grpSpPr>
            <a:xfrm>
              <a:off x="1447800" y="2212943"/>
              <a:ext cx="2731580" cy="798195"/>
              <a:chOff x="1447800" y="2212943"/>
              <a:chExt cx="2731580" cy="798195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1447800" y="2390775"/>
                <a:ext cx="457200" cy="4572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11" name="TextBox 11"/>
              <p:cNvSpPr/>
              <p:nvPr/>
            </p:nvSpPr>
            <p:spPr>
              <a:xfrm>
                <a:off x="1613249" y="25050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12" name="TextBox 12"/>
              <p:cNvSpPr/>
              <p:nvPr/>
            </p:nvSpPr>
            <p:spPr>
              <a:xfrm>
                <a:off x="2311908" y="221294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拍照入柜</a:t>
                </a:r>
              </a:p>
            </p:txBody>
          </p:sp>
          <p:sp>
            <p:nvSpPr>
              <p:cNvPr id="13" name="TextBox 13"/>
              <p:cNvSpPr/>
              <p:nvPr/>
            </p:nvSpPr>
            <p:spPr>
              <a:xfrm>
                <a:off x="2316480" y="2717768"/>
                <a:ext cx="1862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图片整理 · 属性修正</a:t>
                </a:r>
              </a:p>
            </p:txBody>
          </p:sp>
        </p:grpSp>
        <p:grpSp>
          <p:nvGrpSpPr>
            <p:cNvPr id="19" name="search"/>
            <p:cNvGrpSpPr/>
            <p:nvPr/>
          </p:nvGrpSpPr>
          <p:grpSpPr>
            <a:xfrm>
              <a:off x="5791867" y="2212943"/>
              <a:ext cx="2454497" cy="798195"/>
              <a:chOff x="5791867" y="2212943"/>
              <a:chExt cx="2454497" cy="798195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5791867" y="2390775"/>
                <a:ext cx="457200" cy="4572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16" name="TextBox 16"/>
              <p:cNvSpPr/>
              <p:nvPr/>
            </p:nvSpPr>
            <p:spPr>
              <a:xfrm>
                <a:off x="5956649" y="25050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17" name="TextBox 17"/>
              <p:cNvSpPr/>
              <p:nvPr/>
            </p:nvSpPr>
            <p:spPr>
              <a:xfrm>
                <a:off x="6550533" y="221294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混合检索</a:t>
                </a:r>
              </a:p>
            </p:txBody>
          </p:sp>
          <p:sp>
            <p:nvSpPr>
              <p:cNvPr id="18" name="TextBox 18"/>
              <p:cNvSpPr/>
              <p:nvPr/>
            </p:nvSpPr>
            <p:spPr>
              <a:xfrm>
                <a:off x="6555105" y="2717768"/>
                <a:ext cx="16912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字段 · 文本 · 图像</a:t>
                </a:r>
              </a:p>
            </p:txBody>
          </p:sp>
        </p:grpSp>
        <p:grpSp>
          <p:nvGrpSpPr>
            <p:cNvPr id="24" name="recommend"/>
            <p:cNvGrpSpPr/>
            <p:nvPr/>
          </p:nvGrpSpPr>
          <p:grpSpPr>
            <a:xfrm>
              <a:off x="8474583" y="2390775"/>
              <a:ext cx="2088642" cy="1591913"/>
              <a:chOff x="8474583" y="2390775"/>
              <a:chExt cx="2088642" cy="159191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10106025" y="2390775"/>
                <a:ext cx="457200" cy="4572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21" name="TextBox 21"/>
              <p:cNvSpPr/>
              <p:nvPr/>
            </p:nvSpPr>
            <p:spPr>
              <a:xfrm>
                <a:off x="10281571" y="2505075"/>
                <a:ext cx="106013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5" tIns="0" rIns="0" bIns="0" anchor="t" anchorCtr="0">
                <a:noAutofit/>
              </a:bodyPr>
              <a:lstStyle/>
              <a:p>
                <a:pPr algn="ctr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22" name="TextBox 22"/>
              <p:cNvSpPr/>
              <p:nvPr/>
            </p:nvSpPr>
            <p:spPr>
              <a:xfrm>
                <a:off x="8474583" y="32225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计算推荐</a:t>
                </a:r>
              </a:p>
            </p:txBody>
          </p:sp>
          <p:sp>
            <p:nvSpPr>
              <p:cNvPr id="23" name="TextBox 23"/>
              <p:cNvSpPr/>
              <p:nvPr/>
            </p:nvSpPr>
            <p:spPr>
              <a:xfrm>
                <a:off x="8479155" y="3689318"/>
                <a:ext cx="16912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组合 · 评分 · 理由</a:t>
                </a:r>
              </a:p>
            </p:txBody>
          </p:sp>
        </p:grpSp>
        <p:grpSp>
          <p:nvGrpSpPr>
            <p:cNvPr id="29" name="compose"/>
            <p:cNvGrpSpPr/>
            <p:nvPr/>
          </p:nvGrpSpPr>
          <p:grpSpPr>
            <a:xfrm>
              <a:off x="8417433" y="4171950"/>
              <a:ext cx="2145792" cy="1258538"/>
              <a:chOff x="8417433" y="4171950"/>
              <a:chExt cx="2145792" cy="1258538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0106025" y="4171950"/>
                <a:ext cx="457200" cy="4572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26" name="TextBox 26"/>
              <p:cNvSpPr/>
              <p:nvPr/>
            </p:nvSpPr>
            <p:spPr>
              <a:xfrm>
                <a:off x="10271474" y="428625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Arial"/>
                    <a:cs typeface="Arial"/>
                  </a:rPr>
                  <a:t>4</a:t>
                </a:r>
              </a:p>
            </p:txBody>
          </p:sp>
          <p:sp>
            <p:nvSpPr>
              <p:cNvPr id="27" name="TextBox 27"/>
              <p:cNvSpPr/>
              <p:nvPr/>
            </p:nvSpPr>
            <p:spPr>
              <a:xfrm>
                <a:off x="8417433" y="46703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搭台编辑</a:t>
                </a:r>
              </a:p>
            </p:txBody>
          </p:sp>
          <p:sp>
            <p:nvSpPr>
              <p:cNvPr id="28" name="TextBox 28"/>
              <p:cNvSpPr/>
              <p:nvPr/>
            </p:nvSpPr>
            <p:spPr>
              <a:xfrm>
                <a:off x="8422005" y="5137118"/>
                <a:ext cx="14590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多画板 · 可接手</a:t>
                </a:r>
              </a:p>
            </p:txBody>
          </p:sp>
        </p:grpSp>
        <p:grpSp>
          <p:nvGrpSpPr>
            <p:cNvPr id="34" name="ootd"/>
            <p:cNvGrpSpPr/>
            <p:nvPr/>
          </p:nvGrpSpPr>
          <p:grpSpPr>
            <a:xfrm>
              <a:off x="5083683" y="4171950"/>
              <a:ext cx="1710023" cy="1258538"/>
              <a:chOff x="5083683" y="4171950"/>
              <a:chExt cx="1710023" cy="1258538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5791200" y="4171950"/>
                <a:ext cx="457200" cy="4572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31" name="TextBox 31"/>
              <p:cNvSpPr/>
              <p:nvPr/>
            </p:nvSpPr>
            <p:spPr>
              <a:xfrm>
                <a:off x="5956649" y="428625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32" name="TextBox 32"/>
              <p:cNvSpPr/>
              <p:nvPr/>
            </p:nvSpPr>
            <p:spPr>
              <a:xfrm>
                <a:off x="5083683" y="4670393"/>
                <a:ext cx="171002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OOTD 预览</a:t>
                </a:r>
              </a:p>
            </p:txBody>
          </p:sp>
          <p:sp>
            <p:nvSpPr>
              <p:cNvPr id="33" name="TextBox 33"/>
              <p:cNvSpPr/>
              <p:nvPr/>
            </p:nvSpPr>
            <p:spPr>
              <a:xfrm>
                <a:off x="5088255" y="5137118"/>
                <a:ext cx="16912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模特 · 动作 · 调整</a:t>
                </a:r>
              </a:p>
            </p:txBody>
          </p:sp>
        </p:grpSp>
        <p:grpSp>
          <p:nvGrpSpPr>
            <p:cNvPr id="39" name="feedback"/>
            <p:cNvGrpSpPr/>
            <p:nvPr/>
          </p:nvGrpSpPr>
          <p:grpSpPr>
            <a:xfrm>
              <a:off x="759333" y="4171950"/>
              <a:ext cx="1463612" cy="1258538"/>
              <a:chOff x="759333" y="4171950"/>
              <a:chExt cx="1463612" cy="1258538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1447800" y="4171950"/>
                <a:ext cx="457200" cy="457200"/>
              </a:xfrm>
              <a:prstGeom prst="ellipse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36" name="TextBox 36"/>
              <p:cNvSpPr/>
              <p:nvPr/>
            </p:nvSpPr>
            <p:spPr>
              <a:xfrm>
                <a:off x="1613249" y="428625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Arial"/>
                    <a:cs typeface="Arial"/>
                  </a:rPr>
                  <a:t>6</a:t>
                </a:r>
              </a:p>
            </p:txBody>
          </p:sp>
          <p:sp>
            <p:nvSpPr>
              <p:cNvPr id="37" name="TextBox 37"/>
              <p:cNvSpPr/>
              <p:nvPr/>
            </p:nvSpPr>
            <p:spPr>
              <a:xfrm>
                <a:off x="759333" y="46703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5262B"/>
                    </a:solidFill>
                    <a:latin typeface="Arial"/>
                    <a:ea typeface="Microsoft YaHei"/>
                    <a:cs typeface="Arial"/>
                  </a:rPr>
                  <a:t>反馈调整</a:t>
                </a:r>
              </a:p>
            </p:txBody>
          </p:sp>
          <p:sp>
            <p:nvSpPr>
              <p:cNvPr id="38" name="TextBox 38"/>
              <p:cNvSpPr/>
              <p:nvPr/>
            </p:nvSpPr>
            <p:spPr>
              <a:xfrm>
                <a:off x="763905" y="5137118"/>
                <a:ext cx="14590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666B76"/>
                    </a:solidFill>
                    <a:latin typeface="Arial"/>
                    <a:ea typeface="Microsoft YaHei"/>
                    <a:cs typeface="Arial"/>
                  </a:rPr>
                  <a:t>有粒度 · 可恢复</a:t>
                </a:r>
              </a:p>
            </p:txBody>
          </p:sp>
        </p:grpSp>
      </p:grpSp>
      <p:sp>
        <p:nvSpPr>
          <p:cNvPr id="2" name="文本框 1"/>
          <p:cNvSpPr/>
          <p:nvPr/>
        </p:nvSpPr>
        <p:spPr>
          <a:xfrm>
            <a:off x="702278" y="5565172"/>
            <a:ext cx="5546693" cy="306705"/>
          </a:xfrm>
          <a:prstGeom prst="rect">
            <a:avLst/>
          </a:prstGeom>
          <a:noFill/>
          <a:ln>
            <a:noFill/>
          </a:ln>
        </p:spPr>
        <p:txBody>
          <a:bodyPr wrap="none" lIns="91440" tIns="96488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OOTD 为效果预览，不承诺真实尺码合身或衣物细节完全一致。</a:t>
            </a:r>
          </a:p>
        </p:txBody>
      </p:sp>
      <p:sp>
        <p:nvSpPr>
          <p:cNvPr id="5" name="文本框 4"/>
          <p:cNvSpPr/>
          <p:nvPr/>
        </p:nvSpPr>
        <p:spPr>
          <a:xfrm>
            <a:off x="551783" y="782288"/>
            <a:ext cx="6227445" cy="706755"/>
          </a:xfrm>
          <a:prstGeom prst="rect">
            <a:avLst/>
          </a:prstGeom>
          <a:noFill/>
          <a:ln>
            <a:noFill/>
          </a:ln>
        </p:spPr>
        <p:txBody>
          <a:bodyPr wrap="none" lIns="91440" tIns="45752" rIns="0" bIns="0" anchor="t" anchorCtr="0">
            <a:noAutofit/>
          </a:bodyPr>
          <a:lstStyle/>
          <a:p>
            <a:pPr algn="l"/>
            <a:r>
              <a:rPr lang="zh-CN" sz="4000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一个从入柜到出门的闭环。</a:t>
            </a:r>
          </a:p>
        </p:txBody>
      </p:sp>
      <p:sp>
        <p:nvSpPr>
          <p:cNvPr id="41" name="AutoShape 2"/>
          <p:cNvSpPr/>
          <p:nvPr/>
        </p:nvSpPr>
        <p:spPr>
          <a:xfrm>
            <a:off x="963263" y="502920"/>
            <a:ext cx="2540032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80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666B76"/>
                </a:solidFill>
                <a:latin typeface="Arial"/>
                <a:ea typeface="Arial"/>
                <a:cs typeface="Arial"/>
              </a:rPr>
              <a:t>02·</a:t>
            </a:r>
            <a:r>
              <a:rPr lang="zh-CN" sz="1200" b="1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产品与核心功能</a:t>
            </a:r>
          </a:p>
        </p:txBody>
      </p:sp>
      <p:grpSp>
        <p:nvGrpSpPr>
          <p:cNvPr id="65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62" name="Line 62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3" name="shape-2-foreground"/>
            <p:cNvSpPr/>
            <p:nvPr/>
          </p:nvSpPr>
          <p:spPr>
            <a:xfrm>
              <a:off x="888968" y="571500"/>
              <a:ext cx="6350032" cy="50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浏览器里，把衣柜用起来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914400" y="1168432"/>
            <a:ext cx="3810000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380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02 · 核心功能</a:t>
            </a:r>
          </a:p>
        </p:txBody>
      </p:sp>
      <p:grpSp>
        <p:nvGrpSpPr>
          <p:cNvPr id="27" name="Picture 4"/>
          <p:cNvGrpSpPr/>
          <p:nvPr/>
        </p:nvGrpSpPr>
        <p:grpSpPr>
          <a:xfrm>
            <a:off x="888968" y="1650968"/>
            <a:ext cx="4572000" cy="2603468"/>
            <a:chOff x="888968" y="1650968"/>
            <a:chExt cx="4572000" cy="2603468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5"/>
            <a:srcRect l="0" t="164" r="0" b="164"/>
            <a:stretch>
              <a:fillRect/>
            </a:stretch>
          </p:blipFill>
          <p:spPr>
            <a:xfrm>
              <a:off x="888968" y="1650968"/>
              <a:ext cx="4572000" cy="2603468"/>
            </a:xfrm>
            <a:prstGeom prst="rect">
              <a:avLst/>
            </a:prstGeom>
          </p:spPr>
        </p:pic>
      </p:grpSp>
      <p:sp>
        <p:nvSpPr>
          <p:cNvPr id="5" name="AutoShape 5"/>
          <p:cNvSpPr/>
          <p:nvPr/>
        </p:nvSpPr>
        <p:spPr>
          <a:xfrm>
            <a:off x="888968" y="4381500"/>
            <a:ext cx="4572000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38100" rIns="0" bIns="0" anchor="t" anchorCtr="0">
            <a:noAutofit/>
          </a:bodyPr>
          <a:lstStyle/>
          <a:p>
            <a:pPr algn="ctr"/>
            <a:r>
              <a:rPr lang="zh-CN" sz="135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我的衣柜：字段、语义与图像检索</a:t>
            </a:r>
          </a:p>
        </p:txBody>
      </p:sp>
      <p:grpSp>
        <p:nvGrpSpPr>
          <p:cNvPr id="30" name="Picture 6"/>
          <p:cNvGrpSpPr/>
          <p:nvPr/>
        </p:nvGrpSpPr>
        <p:grpSpPr>
          <a:xfrm>
            <a:off x="6858000" y="1650968"/>
            <a:ext cx="4572000" cy="2603468"/>
            <a:chOff x="6858000" y="1650968"/>
            <a:chExt cx="4572000" cy="2603468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6"/>
            <a:srcRect l="0" t="164" r="0" b="164"/>
            <a:stretch>
              <a:fillRect/>
            </a:stretch>
          </p:blipFill>
          <p:spPr>
            <a:xfrm>
              <a:off x="6858000" y="1650968"/>
              <a:ext cx="4572000" cy="2603468"/>
            </a:xfrm>
            <a:prstGeom prst="rect">
              <a:avLst/>
            </a:prstGeom>
          </p:spPr>
        </p:pic>
      </p:grpSp>
      <p:sp>
        <p:nvSpPr>
          <p:cNvPr id="7" name="AutoShape 7"/>
          <p:cNvSpPr/>
          <p:nvPr/>
        </p:nvSpPr>
        <p:spPr>
          <a:xfrm>
            <a:off x="6858000" y="4381500"/>
            <a:ext cx="4572000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38100" rIns="0" bIns="0" anchor="t" anchorCtr="0">
            <a:noAutofit/>
          </a:bodyPr>
          <a:lstStyle/>
          <a:p>
            <a:pPr algn="ctr"/>
            <a:r>
              <a:rPr lang="zh-CN" sz="135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组合台：推荐、编辑与保存搭配</a:t>
            </a:r>
          </a:p>
        </p:txBody>
      </p:sp>
      <p:cxnSp>
        <p:nvCxnSpPr>
          <p:cNvPr id="8" name="Connector 8"/>
          <p:cNvCxnSpPr/>
          <p:nvPr/>
        </p:nvCxnSpPr>
        <p:spPr>
          <a:xfrm rot="-4192">
            <a:off x="888968" y="5073682"/>
            <a:ext cx="10413968" cy="12668"/>
          </a:xfrm>
          <a:prstGeom prst="straightConnector1">
            <a:avLst/>
          </a:prstGeom>
          <a:solidFill>
            <a:srgbClr val="E8E9EE"/>
          </a:solidFill>
          <a:ln w="12700" cap="flat">
            <a:solidFill>
              <a:srgbClr val="DCEAE2"/>
            </a:solidFill>
            <a:round/>
          </a:ln>
        </p:spPr>
      </p:cxnSp>
      <p:sp>
        <p:nvSpPr>
          <p:cNvPr id="9" name="AutoShape 9"/>
          <p:cNvSpPr/>
          <p:nvPr/>
        </p:nvSpPr>
        <p:spPr>
          <a:xfrm>
            <a:off x="952500" y="5270468"/>
            <a:ext cx="431768" cy="431768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5359432"/>
            <a:ext cx="431768" cy="279368"/>
          </a:xfrm>
          <a:prstGeom prst="rect">
            <a:avLst/>
          </a:prstGeom>
          <a:noFill/>
          <a:ln>
            <a:noFill/>
          </a:ln>
        </p:spPr>
        <p:txBody>
          <a:bodyPr wrap="none" lIns="95" tIns="41243" rIns="0" bIns="0" anchor="t" anchorCtr="0">
            <a:noAutofit/>
          </a:bodyPr>
          <a:lstStyle/>
          <a:p>
            <a:pPr algn="ctr"/>
            <a:r>
              <a:rPr lang="zh-CN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498568" y="5232368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57182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批量上传 · 图片预处理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000500" y="5270468"/>
            <a:ext cx="431768" cy="431768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000500" y="5359432"/>
            <a:ext cx="431768" cy="279368"/>
          </a:xfrm>
          <a:prstGeom prst="rect">
            <a:avLst/>
          </a:prstGeom>
          <a:noFill/>
          <a:ln>
            <a:noFill/>
          </a:ln>
        </p:spPr>
        <p:txBody>
          <a:bodyPr wrap="none" lIns="95" tIns="41243" rIns="0" bIns="0" anchor="t" anchorCtr="0">
            <a:noAutofit/>
          </a:bodyPr>
          <a:lstStyle/>
          <a:p>
            <a:pPr algn="ctr"/>
            <a:r>
              <a:rPr lang="zh-CN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546568" y="5232368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57182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AI 自动抠图去背景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048500" y="5270468"/>
            <a:ext cx="431768" cy="431768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048500" y="5359432"/>
            <a:ext cx="431768" cy="279368"/>
          </a:xfrm>
          <a:prstGeom prst="rect">
            <a:avLst/>
          </a:prstGeom>
          <a:noFill/>
          <a:ln>
            <a:noFill/>
          </a:ln>
        </p:spPr>
        <p:txBody>
          <a:bodyPr wrap="none" lIns="95" tIns="41243" rIns="0" bIns="0" anchor="t" anchorCtr="0">
            <a:noAutofit/>
          </a:bodyPr>
          <a:lstStyle/>
          <a:p>
            <a:pPr algn="ctr"/>
            <a:r>
              <a:rPr lang="zh-CN" sz="13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594568" y="5232368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57182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自动识别打标签</a:t>
            </a:r>
          </a:p>
        </p:txBody>
      </p:sp>
      <p:sp>
        <p:nvSpPr>
          <p:cNvPr id="18" name="AutoShape 18"/>
          <p:cNvSpPr/>
          <p:nvPr/>
        </p:nvSpPr>
        <p:spPr>
          <a:xfrm>
            <a:off x="9842468" y="5270468"/>
            <a:ext cx="431768" cy="431768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842468" y="5359432"/>
            <a:ext cx="431768" cy="279368"/>
          </a:xfrm>
          <a:prstGeom prst="rect">
            <a:avLst/>
          </a:prstGeom>
          <a:noFill/>
          <a:ln>
            <a:noFill/>
          </a:ln>
        </p:spPr>
        <p:txBody>
          <a:bodyPr wrap="none" lIns="95" tIns="41243" rIns="0" bIns="0" anchor="t" anchorCtr="0">
            <a:noAutofit/>
          </a:bodyPr>
          <a:lstStyle/>
          <a:p>
            <a:pPr algn="ctr"/>
            <a:r>
              <a:rPr lang="zh-CN" sz="13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312432" y="5232368"/>
            <a:ext cx="16509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57182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穿搭辅助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88968" y="5778532"/>
            <a:ext cx="5079968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7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网站实际页面截图 · 2026-10-15 · 已裁去账户栏</a:t>
            </a:r>
          </a:p>
        </p:txBody>
      </p:sp>
      <p:grpSp>
        <p:nvGrpSpPr>
          <p:cNvPr id="44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41" name="Line 41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6" name="shape-2-foreground"/>
            <p:cNvSpPr/>
            <p:nvPr/>
          </p:nvSpPr>
          <p:spPr>
            <a:xfrm>
              <a:off x="888968" y="571500"/>
              <a:ext cx="7620000" cy="50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从用户问题，到可解释的实现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914400" y="1168432"/>
            <a:ext cx="3810000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380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03 · 创新设计 / 机制与用户价值</a:t>
            </a:r>
          </a:p>
        </p:txBody>
      </p:sp>
      <p:grpSp>
        <p:nvGrpSpPr>
          <p:cNvPr id="40" name="Table 4"/>
          <p:cNvGrpSpPr/>
          <p:nvPr/>
        </p:nvGrpSpPr>
        <p:grpSpPr>
          <a:xfrm>
            <a:off x="888968" y="1714500"/>
            <a:ext cx="10414064" cy="4191000"/>
            <a:chOff x="888968" y="1714500"/>
            <a:chExt cx="10414064" cy="4191000"/>
          </a:xfrm>
        </p:grpSpPr>
        <p:grpSp>
          <p:nvGrpSpPr>
            <p:cNvPr id="24" name="Group 24"/>
            <p:cNvGrpSpPr/>
            <p:nvPr/>
          </p:nvGrpSpPr>
          <p:grpSpPr>
            <a:xfrm>
              <a:off x="888968" y="1714500"/>
              <a:ext cx="10414064" cy="4191000"/>
              <a:chOff x="888968" y="1714500"/>
              <a:chExt cx="10414064" cy="4191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888968" y="1714500"/>
                <a:ext cx="1905000" cy="635032"/>
              </a:xfrm>
              <a:prstGeom prst="rect">
                <a:avLst/>
              </a:prstGeom>
              <a:solidFill>
                <a:srgbClr val="25262B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2793968" y="1714500"/>
                <a:ext cx="4254532" cy="635032"/>
              </a:xfrm>
              <a:prstGeom prst="rect">
                <a:avLst/>
              </a:prstGeom>
              <a:solidFill>
                <a:srgbClr val="25262B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7048500" y="1714500"/>
                <a:ext cx="4254532" cy="635032"/>
              </a:xfrm>
              <a:prstGeom prst="rect">
                <a:avLst/>
              </a:prstGeom>
              <a:solidFill>
                <a:srgbClr val="1F5C45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888968" y="2349532"/>
                <a:ext cx="1905000" cy="888968"/>
              </a:xfrm>
              <a:prstGeom prst="rect">
                <a:avLst/>
              </a:prstGeom>
              <a:solidFill>
                <a:srgbClr val="DCEAE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793968" y="2349532"/>
                <a:ext cx="4254532" cy="88896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7048500" y="2349532"/>
                <a:ext cx="4254532" cy="888968"/>
              </a:xfrm>
              <a:prstGeom prst="rect">
                <a:avLst/>
              </a:prstGeom>
              <a:solidFill>
                <a:srgbClr val="1F5C45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888968" y="3238500"/>
                <a:ext cx="1905000" cy="888968"/>
              </a:xfrm>
              <a:prstGeom prst="rect">
                <a:avLst/>
              </a:prstGeom>
              <a:solidFill>
                <a:srgbClr val="DCEAE2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2793968" y="3238500"/>
                <a:ext cx="4254532" cy="88896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7048500" y="3238500"/>
                <a:ext cx="4254532" cy="888968"/>
              </a:xfrm>
              <a:prstGeom prst="rect">
                <a:avLst/>
              </a:prstGeom>
              <a:solidFill>
                <a:srgbClr val="1F5C45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88968" y="4127468"/>
                <a:ext cx="1905000" cy="888968"/>
              </a:xfrm>
              <a:prstGeom prst="rect">
                <a:avLst/>
              </a:prstGeom>
              <a:solidFill>
                <a:srgbClr val="DCEAE2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793968" y="4127468"/>
                <a:ext cx="4254532" cy="88896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7048500" y="4127468"/>
                <a:ext cx="4254532" cy="888968"/>
              </a:xfrm>
              <a:prstGeom prst="rect">
                <a:avLst/>
              </a:prstGeom>
              <a:solidFill>
                <a:srgbClr val="1F5C45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888968" y="5016532"/>
                <a:ext cx="1905000" cy="888968"/>
              </a:xfrm>
              <a:prstGeom prst="rect">
                <a:avLst/>
              </a:prstGeom>
              <a:solidFill>
                <a:srgbClr val="DCEAE2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793968" y="5016532"/>
                <a:ext cx="4254532" cy="88896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7048500" y="5016532"/>
                <a:ext cx="4254532" cy="888968"/>
              </a:xfrm>
              <a:prstGeom prst="rect">
                <a:avLst/>
              </a:prstGeom>
              <a:solidFill>
                <a:srgbClr val="1F5C45">
                  <a:alpha val="8000"/>
                </a:srgbClr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645887" y="1816100"/>
              <a:ext cx="391163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维度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54530" y="1816100"/>
              <a:ext cx="1333503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用户遇到的问题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08967" y="1816100"/>
              <a:ext cx="1333503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鱼搭的实现机制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84854" y="2438400"/>
              <a:ext cx="713229" cy="2542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图片处理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26694" y="24511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上传与耗时处理混在一起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00358" y="245110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持久任务，提交后查看状态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97351" y="3327400"/>
              <a:ext cx="888235" cy="2542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图像可靠性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45922" y="334010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复杂背景、属性猜测难确认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22054" y="3340100"/>
              <a:ext cx="2307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本地抠图 + 属性证据与人工核对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84854" y="4216400"/>
              <a:ext cx="713229" cy="2542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推荐选择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45922" y="422910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不知道为什么，也总是重复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24522" y="4229100"/>
              <a:ext cx="2502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规则解释 + 曝光均衡 + 可恢复反馈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97351" y="5105400"/>
              <a:ext cx="888235" cy="2542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执行与成本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45922" y="511810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耗时任务与生成结果不确定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64751" y="5118100"/>
              <a:ext cx="26219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授权/回执/额度快照，未知不盲重试</a:t>
              </a:r>
            </a:p>
          </p:txBody>
        </p:sp>
      </p:grpSp>
      <p:grpSp>
        <p:nvGrpSpPr>
          <p:cNvPr id="44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41" name="Line 41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page-field-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3" name="shape-2-foreground"/>
            <p:cNvSpPr/>
            <p:nvPr/>
          </p:nvSpPr>
          <p:spPr>
            <a:xfrm>
              <a:off x="888968" y="571500"/>
              <a:ext cx="8889968" cy="50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照片入柜的三道可靠性工序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914400" y="1168432"/>
            <a:ext cx="5079968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380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03 · 核心算法</a:t>
            </a:r>
          </a:p>
        </p:txBody>
      </p:sp>
      <p:sp>
        <p:nvSpPr>
          <p:cNvPr id="4" name="AutoShape 4"/>
          <p:cNvSpPr/>
          <p:nvPr/>
        </p:nvSpPr>
        <p:spPr>
          <a:xfrm>
            <a:off x="888968" y="2095500"/>
            <a:ext cx="3174968" cy="26670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2286000"/>
            <a:ext cx="609600" cy="6096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43000" y="2438400"/>
            <a:ext cx="609600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38100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AutoShape 7"/>
          <p:cNvSpPr/>
          <p:nvPr/>
        </p:nvSpPr>
        <p:spPr>
          <a:xfrm>
            <a:off x="1905000" y="2336768"/>
            <a:ext cx="1905000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54007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图像规整</a:t>
            </a:r>
          </a:p>
        </p:txBody>
      </p:sp>
      <p:sp>
        <p:nvSpPr>
          <p:cNvPr id="8" name="AutoShape 8"/>
          <p:cNvSpPr/>
          <p:nvPr/>
        </p:nvSpPr>
        <p:spPr>
          <a:xfrm>
            <a:off x="1143000" y="30480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-6350" rIns="0" bIns="0" anchor="t" anchorCtr="0">
            <a:noAutofit/>
          </a:bodyPr>
          <a:lstStyle/>
          <a:p>
            <a:pPr algn="l">
              <a:lnSpc>
                <a:spcPts val="2250"/>
              </a:lnSpc>
            </a:pPr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尺寸与方向规整，</a:t>
            </a:r>
            <a:b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原图与展示派生分开。</a:t>
            </a:r>
          </a:p>
        </p:txBody>
      </p:sp>
      <p:cxnSp>
        <p:nvCxnSpPr>
          <p:cNvPr id="9" name="Connector 9"/>
          <p:cNvCxnSpPr/>
          <p:nvPr/>
        </p:nvCxnSpPr>
        <p:spPr>
          <a:xfrm rot="-114549">
            <a:off x="4127562" y="3422618"/>
            <a:ext cx="381000" cy="12668"/>
          </a:xfrm>
          <a:prstGeom prst="straightConnector1">
            <a:avLst/>
          </a:prstGeom>
          <a:solidFill>
            <a:srgbClr val="E8E9EE"/>
          </a:solidFill>
          <a:ln w="25400" cap="flat">
            <a:solidFill>
              <a:srgbClr val="1F5C45"/>
            </a:solidFill>
            <a:round/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4635532" y="2095500"/>
            <a:ext cx="3174968" cy="26670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889468" y="2286000"/>
            <a:ext cx="609600" cy="6096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889468" y="2438400"/>
            <a:ext cx="609600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38100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651468" y="2336768"/>
            <a:ext cx="2031968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54007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本地抠图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889468" y="30480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-6350" rIns="0" bIns="0" anchor="t" anchorCtr="0">
            <a:noAutofit/>
          </a:bodyPr>
          <a:lstStyle/>
          <a:p>
            <a:pPr algn="l">
              <a:lnSpc>
                <a:spcPts val="2250"/>
              </a:lnSpc>
            </a:pPr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U²-Net / GrabCut；</a:t>
            </a:r>
            <a:b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透明检查与恢复路径。</a:t>
            </a:r>
          </a:p>
        </p:txBody>
      </p:sp>
      <p:cxnSp>
        <p:nvCxnSpPr>
          <p:cNvPr id="15" name="Connector 15"/>
          <p:cNvCxnSpPr/>
          <p:nvPr/>
        </p:nvCxnSpPr>
        <p:spPr>
          <a:xfrm rot="-114549">
            <a:off x="7874125" y="3422618"/>
            <a:ext cx="381000" cy="12668"/>
          </a:xfrm>
          <a:prstGeom prst="straightConnector1">
            <a:avLst/>
          </a:prstGeom>
          <a:solidFill>
            <a:srgbClr val="E8E9EE"/>
          </a:solidFill>
          <a:ln w="25400" cap="flat">
            <a:solidFill>
              <a:srgbClr val="1F5C45"/>
            </a:solidFill>
            <a:round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8382000" y="2095500"/>
            <a:ext cx="2921032" cy="26670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636032" y="2286000"/>
            <a:ext cx="609600" cy="609600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636032" y="2438400"/>
            <a:ext cx="609600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38100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398032" y="2336768"/>
            <a:ext cx="1778032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54007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属性证据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636032" y="3048000"/>
            <a:ext cx="254003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-6350" rIns="0" bIns="0" anchor="t" anchorCtr="0">
            <a:noAutofit/>
          </a:bodyPr>
          <a:lstStyle/>
          <a:p>
            <a:pPr algn="l">
              <a:lnSpc>
                <a:spcPts val="2250"/>
              </a:lnSpc>
            </a:pPr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已确认 / 推测 / 未知 / 冲突</a:t>
            </a:r>
            <a:b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5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由用户核对后入柜。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88968" y="5207032"/>
            <a:ext cx="10160032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66643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耗时任务在后台运行；耗时随图片、模型与资源变化，不承诺固定秒数。</a:t>
            </a:r>
          </a:p>
        </p:txBody>
      </p:sp>
      <p:grpSp>
        <p:nvGrpSpPr>
          <p:cNvPr id="39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36" name="Line 36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page-field-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3" name="shape-2-foreground"/>
            <p:cNvSpPr/>
            <p:nvPr/>
          </p:nvSpPr>
          <p:spPr>
            <a:xfrm>
              <a:off x="888968" y="571500"/>
              <a:ext cx="8889968" cy="50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推荐有依据，变化也可计算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914400" y="1168432"/>
            <a:ext cx="5079968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380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03 · 核心算法 / 计算推荐不依赖远程大模型决策</a:t>
            </a:r>
          </a:p>
        </p:txBody>
      </p:sp>
      <p:sp>
        <p:nvSpPr>
          <p:cNvPr id="4" name="AutoShape 4"/>
          <p:cNvSpPr/>
          <p:nvPr/>
        </p:nvSpPr>
        <p:spPr>
          <a:xfrm>
            <a:off x="888968" y="2095500"/>
            <a:ext cx="3174968" cy="26670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2286000"/>
            <a:ext cx="609600" cy="6096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43000" y="2438400"/>
            <a:ext cx="609600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38100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AutoShape 7"/>
          <p:cNvSpPr/>
          <p:nvPr/>
        </p:nvSpPr>
        <p:spPr>
          <a:xfrm>
            <a:off x="1905000" y="2336768"/>
            <a:ext cx="1905000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54007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混合召回</a:t>
            </a:r>
          </a:p>
        </p:txBody>
      </p:sp>
      <p:sp>
        <p:nvSpPr>
          <p:cNvPr id="8" name="AutoShape 8"/>
          <p:cNvSpPr/>
          <p:nvPr/>
        </p:nvSpPr>
        <p:spPr>
          <a:xfrm>
            <a:off x="1143000" y="30480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-4128" rIns="0" bIns="0" anchor="t" anchorCtr="0">
            <a:noAutofit/>
          </a:bodyPr>
          <a:lstStyle/>
          <a:p>
            <a:pPr algn="l">
              <a:lnSpc>
                <a:spcPts val="2138"/>
              </a:lnSpc>
            </a:pP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字段与关键词先约束，</a:t>
            </a:r>
            <a:b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BGE / 可选 CLIP 补充相关性。</a:t>
            </a:r>
          </a:p>
        </p:txBody>
      </p:sp>
      <p:cxnSp>
        <p:nvCxnSpPr>
          <p:cNvPr id="9" name="Connector 9"/>
          <p:cNvCxnSpPr/>
          <p:nvPr/>
        </p:nvCxnSpPr>
        <p:spPr>
          <a:xfrm rot="-114549">
            <a:off x="4127562" y="3422618"/>
            <a:ext cx="381000" cy="12668"/>
          </a:xfrm>
          <a:prstGeom prst="straightConnector1">
            <a:avLst/>
          </a:prstGeom>
          <a:solidFill>
            <a:srgbClr val="E8E9EE"/>
          </a:solidFill>
          <a:ln w="25400" cap="flat">
            <a:solidFill>
              <a:srgbClr val="1F5C45"/>
            </a:solidFill>
            <a:round/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4635532" y="2095500"/>
            <a:ext cx="3174968" cy="26670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889468" y="2286000"/>
            <a:ext cx="609600" cy="6096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889468" y="2438400"/>
            <a:ext cx="609600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38100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651468" y="2336768"/>
            <a:ext cx="2031968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54007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规则与风格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889468" y="30480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-4128" rIns="0" bIns="0" anchor="t" anchorCtr="0">
            <a:noAutofit/>
          </a:bodyPr>
          <a:lstStyle/>
          <a:p>
            <a:pPr algn="l">
              <a:lnSpc>
                <a:spcPts val="2138"/>
              </a:lnSpc>
            </a:pP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11 维当前评分、18 风格画像；</a:t>
            </a:r>
            <a:b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底线约束 + 可解释软评分。</a:t>
            </a:r>
          </a:p>
        </p:txBody>
      </p:sp>
      <p:cxnSp>
        <p:nvCxnSpPr>
          <p:cNvPr id="15" name="Connector 15"/>
          <p:cNvCxnSpPr/>
          <p:nvPr/>
        </p:nvCxnSpPr>
        <p:spPr>
          <a:xfrm rot="-114549">
            <a:off x="7874125" y="3422618"/>
            <a:ext cx="381000" cy="12668"/>
          </a:xfrm>
          <a:prstGeom prst="straightConnector1">
            <a:avLst/>
          </a:prstGeom>
          <a:solidFill>
            <a:srgbClr val="E8E9EE"/>
          </a:solidFill>
          <a:ln w="25400" cap="flat">
            <a:solidFill>
              <a:srgbClr val="1F5C45"/>
            </a:solidFill>
            <a:round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8382000" y="2095500"/>
            <a:ext cx="2921032" cy="26670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636032" y="2286000"/>
            <a:ext cx="609600" cy="609600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636032" y="2438400"/>
            <a:ext cx="609600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38100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398032" y="2336768"/>
            <a:ext cx="1778032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54007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曝光与反馈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636032" y="3048000"/>
            <a:ext cx="254003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-4128" rIns="0" bIns="0" anchor="t" anchorCtr="0">
            <a:noAutofit/>
          </a:bodyPr>
          <a:lstStyle/>
          <a:p>
            <a:pPr algn="l">
              <a:lnSpc>
                <a:spcPts val="2138"/>
              </a:lnSpc>
            </a:pP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动态候选、曝光均衡与重排；</a:t>
            </a:r>
            <a:b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时间衰减，让偏好可恢复。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88968" y="5207032"/>
            <a:ext cx="10160032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66643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复用预训练模型；项目贡献在领域特征、规则、重排和业务执行协议。</a:t>
            </a:r>
          </a:p>
        </p:txBody>
      </p:sp>
      <p:grpSp>
        <p:nvGrpSpPr>
          <p:cNvPr id="39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36" name="Line 36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2" name="shape-2-foreground"/>
            <p:cNvSpPr/>
            <p:nvPr/>
          </p:nvSpPr>
          <p:spPr>
            <a:xfrm>
              <a:off x="888968" y="507968"/>
              <a:ext cx="8889968" cy="4826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4957" rIns="0" bIns="0" anchor="t" anchorCtr="0">
              <a:noAutofit/>
            </a:bodyPr>
            <a:lstStyle/>
            <a:p>
              <a:pPr algn="l"/>
              <a:r>
                <a:rPr lang="zh-CN" sz="27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网站架构：交互、计算与执行解耦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914400" y="1016032"/>
            <a:ext cx="3810000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380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04 · 技术架构</a:t>
            </a:r>
          </a:p>
        </p:txBody>
      </p:sp>
      <p:sp>
        <p:nvSpPr>
          <p:cNvPr id="4" name="AutoShape 4"/>
          <p:cNvSpPr/>
          <p:nvPr/>
        </p:nvSpPr>
        <p:spPr>
          <a:xfrm>
            <a:off x="888968" y="1422368"/>
            <a:ext cx="7365968" cy="787432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1524000"/>
            <a:ext cx="6667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en-US" sz="142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Vue 3 / TypeScript / Ant Design Vue / Konva</a:t>
            </a:r>
          </a:p>
        </p:txBody>
      </p:sp>
      <p:sp>
        <p:nvSpPr>
          <p:cNvPr id="6" name="AutoShape 6"/>
          <p:cNvSpPr/>
          <p:nvPr/>
        </p:nvSpPr>
        <p:spPr>
          <a:xfrm>
            <a:off x="1143000" y="1854232"/>
            <a:ext cx="6858000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25368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浏览器响应式界面 · 衣柜、组合台与执行回执</a:t>
            </a:r>
          </a:p>
        </p:txBody>
      </p:sp>
      <p:cxnSp>
        <p:nvCxnSpPr>
          <p:cNvPr id="7" name="Connector 7"/>
          <p:cNvCxnSpPr/>
          <p:nvPr/>
        </p:nvCxnSpPr>
        <p:spPr>
          <a:xfrm rot="4972499">
            <a:off x="4521143" y="2254668"/>
            <a:ext cx="101632" cy="12668"/>
          </a:xfrm>
          <a:prstGeom prst="straightConnector1">
            <a:avLst/>
          </a:prstGeom>
          <a:solidFill>
            <a:srgbClr val="E8E9EE"/>
          </a:solidFill>
          <a:ln w="25400" cap="flat">
            <a:solidFill>
              <a:srgbClr val="666B76"/>
            </a:solidFill>
            <a:round/>
          </a:ln>
        </p:spPr>
      </p:cxnSp>
      <p:sp>
        <p:nvSpPr>
          <p:cNvPr id="8" name="AutoShape 8"/>
          <p:cNvSpPr/>
          <p:nvPr/>
        </p:nvSpPr>
        <p:spPr>
          <a:xfrm>
            <a:off x="888968" y="2336768"/>
            <a:ext cx="7365968" cy="787432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43000" y="2438400"/>
            <a:ext cx="6667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en-US" sz="142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Java 21 / Spring Boot / Spring Security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143000" y="2768632"/>
            <a:ext cx="6858000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25368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API、归属与权限 · 推荐规则 · 额度与持久任务</a:t>
            </a:r>
          </a:p>
        </p:txBody>
      </p:sp>
      <p:cxnSp>
        <p:nvCxnSpPr>
          <p:cNvPr id="11" name="Connector 11"/>
          <p:cNvCxnSpPr/>
          <p:nvPr/>
        </p:nvCxnSpPr>
        <p:spPr>
          <a:xfrm rot="4972499">
            <a:off x="4521143" y="3169068"/>
            <a:ext cx="101632" cy="12668"/>
          </a:xfrm>
          <a:prstGeom prst="straightConnector1">
            <a:avLst/>
          </a:prstGeom>
          <a:solidFill>
            <a:srgbClr val="E8E9EE"/>
          </a:solidFill>
          <a:ln w="25400" cap="flat">
            <a:solidFill>
              <a:srgbClr val="666B76"/>
            </a:solidFill>
            <a:round/>
          </a:ln>
        </p:spPr>
      </p:cxnSp>
      <p:sp>
        <p:nvSpPr>
          <p:cNvPr id="12" name="AutoShape 12"/>
          <p:cNvSpPr/>
          <p:nvPr/>
        </p:nvSpPr>
        <p:spPr>
          <a:xfrm>
            <a:off x="888968" y="3251168"/>
            <a:ext cx="7365968" cy="990600"/>
          </a:xfrm>
          <a:prstGeom prst="roundRect">
            <a:avLst>
              <a:gd name="adj" fmla="val 15384"/>
            </a:avLst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43000" y="3378232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7593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本地推理 + Agent + 统一任务执行器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143000" y="3759232"/>
            <a:ext cx="6858000" cy="406432"/>
          </a:xfrm>
          <a:prstGeom prst="rect">
            <a:avLst/>
          </a:prstGeom>
          <a:noFill/>
          <a:ln>
            <a:noFill/>
          </a:ln>
        </p:spPr>
        <p:txBody>
          <a:bodyPr wrap="none" lIns="0" tIns="-1905" rIns="0" bIns="0" anchor="t" anchorCtr="0">
            <a:noAutofit/>
          </a:bodyPr>
          <a:lstStyle/>
          <a:p>
            <a:pPr algn="l">
              <a:lnSpc>
                <a:spcPts val="2025"/>
              </a:lnSpc>
            </a:pPr>
            <a:r>
              <a:rPr lang="zh-CN" sz="1350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  <a:t>ONNX：U²-Net / BGE / 可选 CLIP；LangGraph 对话编排；</a:t>
            </a:r>
            <a:br>
              <a:rPr lang="zh-CN" sz="1350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  <a:t>CPU / 识别 / 生成分池，公平调度与保守恢复。</a:t>
            </a:r>
          </a:p>
        </p:txBody>
      </p:sp>
      <p:cxnSp>
        <p:nvCxnSpPr>
          <p:cNvPr id="15" name="Connector 15"/>
          <p:cNvCxnSpPr/>
          <p:nvPr/>
        </p:nvCxnSpPr>
        <p:spPr>
          <a:xfrm rot="4972499">
            <a:off x="4521237" y="4286720"/>
            <a:ext cx="101632" cy="12668"/>
          </a:xfrm>
          <a:prstGeom prst="straightConnector1">
            <a:avLst/>
          </a:prstGeom>
          <a:solidFill>
            <a:srgbClr val="E8E9EE"/>
          </a:solidFill>
          <a:ln w="25400" cap="flat">
            <a:solidFill>
              <a:srgbClr val="666B76"/>
            </a:solidFill>
            <a:round/>
          </a:ln>
        </p:spPr>
      </p:cxnSp>
      <p:sp>
        <p:nvSpPr>
          <p:cNvPr id="16" name="AutoShape 16"/>
          <p:cNvSpPr/>
          <p:nvPr/>
        </p:nvSpPr>
        <p:spPr>
          <a:xfrm>
            <a:off x="888968" y="4368832"/>
            <a:ext cx="7365968" cy="787432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143000" y="4470368"/>
            <a:ext cx="6667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82" rIns="0" bIns="0" anchor="t" anchorCtr="0">
            <a:noAutofit/>
          </a:bodyPr>
          <a:lstStyle/>
          <a:p>
            <a:pPr algn="l"/>
            <a:r>
              <a:rPr lang="zh-CN" sz="142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H2 / Flyway / MyBatis Plus · 本地或 S3 图片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143000" y="4800600"/>
            <a:ext cx="6858000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3810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默认可控单机部署；Docker / CI；管理 API 可插拔且默认关闭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763000" y="1524000"/>
            <a:ext cx="27939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明确的运行边界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763000" y="1930432"/>
            <a:ext cx="2921032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-4128" rIns="0" bIns="0" anchor="t" anchorCtr="0">
            <a:noAutofit/>
          </a:bodyPr>
          <a:lstStyle/>
          <a:p>
            <a:pPr algn="l">
              <a:lnSpc>
                <a:spcPts val="2138"/>
              </a:lnSpc>
            </a:pP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任务有持久记录</a:t>
            </a:r>
            <a:b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网页内查看状态与通知</a:t>
            </a:r>
            <a:b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UNKNOWN 不自动重发</a:t>
            </a:r>
            <a:b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PWA 缓存应用外壳</a:t>
            </a:r>
          </a:p>
        </p:txBody>
      </p:sp>
      <p:grpSp>
        <p:nvGrpSpPr>
          <p:cNvPr id="38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35" name="Line 35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3" name="shape-2-foreground"/>
            <p:cNvSpPr/>
            <p:nvPr/>
          </p:nvSpPr>
          <p:spPr>
            <a:xfrm>
              <a:off x="888968" y="571500"/>
              <a:ext cx="5079968" cy="50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先验证谁会反复使用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914400" y="1168432"/>
            <a:ext cx="3810000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380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05 · 目标用户与进入市场</a:t>
            </a:r>
          </a:p>
        </p:txBody>
      </p:sp>
      <p:sp>
        <p:nvSpPr>
          <p:cNvPr id="4" name="AutoShape 4"/>
          <p:cNvSpPr/>
          <p:nvPr/>
        </p:nvSpPr>
        <p:spPr>
          <a:xfrm>
            <a:off x="888968" y="1905000"/>
            <a:ext cx="4826032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-10795" rIns="0" bIns="0" anchor="t" anchorCtr="0">
            <a:noAutofit/>
          </a:bodyPr>
          <a:lstStyle/>
          <a:p>
            <a:pPr algn="l">
              <a:lnSpc>
                <a:spcPts val="2475"/>
              </a:lnSpc>
            </a:pPr>
            <a: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衣物不少、选择很难的高校与初入职场人群。</a:t>
            </a:r>
            <a:b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6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先从高频通勤与日常搭配任务验证价值。</a:t>
            </a:r>
          </a:p>
        </p:txBody>
      </p:sp>
      <p:cxnSp>
        <p:nvCxnSpPr>
          <p:cNvPr id="5" name="Connector 5"/>
          <p:cNvCxnSpPr/>
          <p:nvPr/>
        </p:nvCxnSpPr>
        <p:spPr>
          <a:xfrm rot="-9549">
            <a:off x="888968" y="3613118"/>
            <a:ext cx="4572000" cy="12668"/>
          </a:xfrm>
          <a:prstGeom prst="straightConnector1">
            <a:avLst/>
          </a:prstGeom>
          <a:solidFill>
            <a:srgbClr val="E8E9EE"/>
          </a:solidFill>
          <a:ln w="12700" cap="flat">
            <a:solidFill>
              <a:srgbClr val="DCEAE2"/>
            </a:solidFill>
            <a:round/>
          </a:ln>
        </p:spPr>
      </p:cxnSp>
      <p:sp>
        <p:nvSpPr>
          <p:cNvPr id="6" name="AutoShape 6"/>
          <p:cNvSpPr/>
          <p:nvPr/>
        </p:nvSpPr>
        <p:spPr>
          <a:xfrm>
            <a:off x="888968" y="3810000"/>
            <a:ext cx="4826032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5715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切入点：校园与穿搭社群共创</a:t>
            </a:r>
          </a:p>
        </p:txBody>
      </p:sp>
      <p:sp>
        <p:nvSpPr>
          <p:cNvPr id="7" name="AutoShape 7"/>
          <p:cNvSpPr/>
          <p:nvPr/>
        </p:nvSpPr>
        <p:spPr>
          <a:xfrm>
            <a:off x="888968" y="4191000"/>
            <a:ext cx="4826032" cy="635032"/>
          </a:xfrm>
          <a:prstGeom prst="rect">
            <a:avLst/>
          </a:prstGeom>
          <a:noFill/>
          <a:ln>
            <a:noFill/>
          </a:ln>
        </p:spPr>
        <p:txBody>
          <a:bodyPr wrap="none" lIns="0" tIns="-1905" rIns="0" bIns="0" anchor="t" anchorCtr="0">
            <a:noAutofit/>
          </a:bodyPr>
          <a:lstStyle/>
          <a:p>
            <a:pPr algn="l">
              <a:lnSpc>
                <a:spcPts val="2025"/>
              </a:lnSpc>
            </a:pP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计划招募 30–50 位共创者，观察四周；</a:t>
            </a:r>
            <a:b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记录采纳、实际穿着覆盖、留存和付费意愿。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350032" y="1778032"/>
            <a:ext cx="4953000" cy="3936968"/>
          </a:xfrm>
          <a:prstGeom prst="roundRect">
            <a:avLst>
              <a:gd name="adj" fmla="val 6451"/>
            </a:avLst>
          </a:prstGeom>
          <a:solidFill>
            <a:srgbClr val="25262B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31032" y="2095500"/>
            <a:ext cx="4191000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66675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  <a:t>待验证的市场假设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731032" y="2603468"/>
            <a:ext cx="660368" cy="660368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731032" y="2743200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73025" rIns="95" bIns="0" anchor="t" anchorCtr="0">
            <a:no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556468" y="2667000"/>
            <a:ext cx="3429000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73025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第一次就能用上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556468" y="3048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  <a:t>入柜并完成一套可采纳搭配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731032" y="3708368"/>
            <a:ext cx="660368" cy="660368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731032" y="3848100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73025" rIns="95" bIns="0" anchor="t" anchorCtr="0">
            <a:noAutofit/>
          </a:bodyPr>
          <a:lstStyle/>
          <a:p>
            <a:pPr algn="ctr"/>
            <a:r>
              <a:rPr lang="zh-CN" sz="15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556468" y="3771900"/>
            <a:ext cx="3429000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73025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每天愿意再回来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556468" y="41529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  <a:t>观察真实使用，不拿曝光当穿着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731032" y="4813268"/>
            <a:ext cx="660368" cy="660368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731032" y="4953000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73025" rIns="95" bIns="0" anchor="t" anchorCtr="0">
            <a:noAutofit/>
          </a:bodyPr>
          <a:lstStyle/>
          <a:p>
            <a:pPr algn="ctr"/>
            <a:r>
              <a:rPr lang="zh-CN" sz="15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556468" y="4876800"/>
            <a:ext cx="3429000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73025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持续价值能收费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556468" y="52578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10160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  <a:t>访谈与小额实验验证付费意愿</a:t>
            </a:r>
          </a:p>
        </p:txBody>
      </p:sp>
      <p:grpSp>
        <p:nvGrpSpPr>
          <p:cNvPr id="42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39" name="Line 39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page-field-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0" name="shape-2-foreground"/>
            <p:cNvSpPr/>
            <p:nvPr/>
          </p:nvSpPr>
          <p:spPr>
            <a:xfrm>
              <a:off x="888968" y="571500"/>
              <a:ext cx="7620000" cy="50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从日常服务，走向可验证的收入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914400" y="1168432"/>
            <a:ext cx="3810000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380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05 · 商业设计 / 待验证，未形成付费成绩</a:t>
            </a:r>
          </a:p>
        </p:txBody>
      </p:sp>
      <p:sp>
        <p:nvSpPr>
          <p:cNvPr id="4" name="AutoShape 4"/>
          <p:cNvSpPr/>
          <p:nvPr/>
        </p:nvSpPr>
        <p:spPr>
          <a:xfrm>
            <a:off x="888968" y="1859253"/>
            <a:ext cx="3174968" cy="29870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2031968"/>
            <a:ext cx="660368" cy="660368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43000" y="2184368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95" tIns="63532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AutoShape 7"/>
          <p:cNvSpPr/>
          <p:nvPr/>
        </p:nvSpPr>
        <p:spPr>
          <a:xfrm>
            <a:off x="1143000" y="2921032"/>
            <a:ext cx="2667000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53943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持续订阅</a:t>
            </a:r>
          </a:p>
        </p:txBody>
      </p:sp>
      <p:sp>
        <p:nvSpPr>
          <p:cNvPr id="8" name="AutoShape 8"/>
          <p:cNvSpPr/>
          <p:nvPr/>
        </p:nvSpPr>
        <p:spPr>
          <a:xfrm>
            <a:off x="1143000" y="3378232"/>
            <a:ext cx="2667000" cy="1016032"/>
          </a:xfrm>
          <a:prstGeom prst="rect">
            <a:avLst/>
          </a:prstGeom>
          <a:noFill/>
          <a:ln>
            <a:noFill/>
          </a:ln>
        </p:spPr>
        <p:txBody>
          <a:bodyPr wrap="none" lIns="0" tIns="-1905" rIns="0" bIns="0" anchor="t" anchorCtr="0">
            <a:noAutofit/>
          </a:bodyPr>
          <a:lstStyle/>
          <a:p>
            <a:pPr algn="l">
              <a:lnSpc>
                <a:spcPts val="2025"/>
              </a:lnSpc>
            </a:pP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基础衣柜与计算推荐作为入口；</a:t>
            </a:r>
            <a:b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高级管理、长期洞察与</a:t>
            </a:r>
            <a:b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专属服务探索订阅。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34173" y="1859253"/>
            <a:ext cx="3174968" cy="29870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762500" y="2031968"/>
            <a:ext cx="660368" cy="660368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762500" y="2184368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95" tIns="63532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762500" y="2921032"/>
            <a:ext cx="2667000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53943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OOTD 生成额度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762500" y="3378232"/>
            <a:ext cx="2667000" cy="1016032"/>
          </a:xfrm>
          <a:prstGeom prst="rect">
            <a:avLst/>
          </a:prstGeom>
          <a:noFill/>
          <a:ln>
            <a:noFill/>
          </a:ln>
        </p:spPr>
        <p:txBody>
          <a:bodyPr wrap="none" lIns="0" tIns="-1905" rIns="0" bIns="0" anchor="t" anchorCtr="0">
            <a:noAutofit/>
          </a:bodyPr>
          <a:lstStyle/>
          <a:p>
            <a:pPr algn="l">
              <a:lnSpc>
                <a:spcPts val="2025"/>
              </a:lnSpc>
            </a:pP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按次或额度包收费，</a:t>
            </a:r>
            <a:b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覆盖真实上游生成成本；</a:t>
            </a:r>
            <a:b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不承诺无限生成。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64532" y="1859253"/>
            <a:ext cx="3174968" cy="29870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2031968"/>
            <a:ext cx="660368" cy="660368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2184368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95" tIns="63532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382000" y="2921032"/>
            <a:ext cx="2667000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53943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未来机构工作台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382000" y="3378232"/>
            <a:ext cx="2667000" cy="1016032"/>
          </a:xfrm>
          <a:prstGeom prst="rect">
            <a:avLst/>
          </a:prstGeom>
          <a:noFill/>
          <a:ln>
            <a:noFill/>
          </a:ln>
        </p:spPr>
        <p:txBody>
          <a:bodyPr wrap="none" lIns="0" tIns="-1905" rIns="0" bIns="0" anchor="t" anchorCtr="0">
            <a:noAutofit/>
          </a:bodyPr>
          <a:lstStyle/>
          <a:p>
            <a:pPr algn="l">
              <a:lnSpc>
                <a:spcPts val="2025"/>
              </a:lnSpc>
            </a:pP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与造型、衣柜整理服务商</a:t>
            </a:r>
            <a:b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共创授权工作台；</a:t>
            </a:r>
            <a:b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不出售用户衣柜数据。</a:t>
            </a:r>
          </a:p>
        </p:txBody>
      </p:sp>
      <p:grpSp>
        <p:nvGrpSpPr>
          <p:cNvPr id="35" name="commercial-scenario"/>
          <p:cNvGrpSpPr/>
          <p:nvPr/>
        </p:nvGrpSpPr>
        <p:grpSpPr>
          <a:xfrm>
            <a:off x="885825" y="5381625"/>
            <a:ext cx="10420350" cy="828675"/>
            <a:chOff x="885825" y="5381625"/>
            <a:chExt cx="10420350" cy="828675"/>
          </a:xfrm>
        </p:grpSpPr>
        <p:sp>
          <p:nvSpPr>
            <p:cNvPr id="32" name="Rectangle 32"/>
            <p:cNvSpPr/>
            <p:nvPr/>
          </p:nvSpPr>
          <p:spPr>
            <a:xfrm>
              <a:off x="885825" y="5381625"/>
              <a:ext cx="10420350" cy="828675"/>
            </a:xfrm>
            <a:prstGeom prst="roundRect">
              <a:avLst>
                <a:gd name="adj" fmla="val 13793"/>
              </a:avLst>
            </a:prstGeom>
            <a:solidFill>
              <a:srgbClr val="EEF6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77468" y="5511800"/>
              <a:ext cx="72329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情景演算：10,000 活跃用户 × 5% 转化 × 199 元/人/年 = 9.95 万元/年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79373" y="5905500"/>
              <a:ext cx="60439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仅演算年订阅收入；未扣获客、计算、存储、支持与税费，不是预测或净利润。</a:t>
              </a:r>
            </a:p>
          </p:txBody>
        </p:sp>
      </p:grpSp>
      <p:grpSp>
        <p:nvGrpSpPr>
          <p:cNvPr id="39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36" name="Line 36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3" name="shape-2-foreground"/>
            <p:cNvSpPr/>
            <p:nvPr/>
          </p:nvSpPr>
          <p:spPr>
            <a:xfrm>
              <a:off x="888968" y="571500"/>
              <a:ext cx="7620000" cy="50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现在做到哪一步了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914400" y="1168432"/>
            <a:ext cx="3810000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380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06 · 项目进展</a:t>
            </a:r>
          </a:p>
        </p:txBody>
      </p:sp>
      <p:cxnSp>
        <p:nvCxnSpPr>
          <p:cNvPr id="4" name="Connector 4"/>
          <p:cNvCxnSpPr/>
          <p:nvPr/>
        </p:nvCxnSpPr>
        <p:spPr>
          <a:xfrm rot="-4774">
            <a:off x="1524000" y="3930682"/>
            <a:ext cx="9144000" cy="12668"/>
          </a:xfrm>
          <a:prstGeom prst="straightConnector1">
            <a:avLst/>
          </a:prstGeom>
          <a:solidFill>
            <a:srgbClr val="E8E9EE"/>
          </a:solidFill>
          <a:ln w="25400" cap="flat">
            <a:solidFill>
              <a:srgbClr val="666B76"/>
            </a:solidFill>
            <a:round/>
          </a:ln>
        </p:spPr>
      </p:cxnSp>
      <p:sp>
        <p:nvSpPr>
          <p:cNvPr id="5" name="AutoShape 5"/>
          <p:cNvSpPr/>
          <p:nvPr/>
        </p:nvSpPr>
        <p:spPr>
          <a:xfrm>
            <a:off x="1460468" y="3784568"/>
            <a:ext cx="304800" cy="3048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8968" y="2412968"/>
            <a:ext cx="2540032" cy="355568"/>
          </a:xfrm>
          <a:prstGeom prst="rect">
            <a:avLst/>
          </a:prstGeom>
          <a:noFill/>
          <a:ln>
            <a:noFill/>
          </a:ln>
        </p:spPr>
        <p:txBody>
          <a:bodyPr wrap="none" lIns="95" tIns="63532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Web 网站闭环</a:t>
            </a:r>
          </a:p>
        </p:txBody>
      </p:sp>
      <p:sp>
        <p:nvSpPr>
          <p:cNvPr id="7" name="AutoShape 7"/>
          <p:cNvSpPr/>
          <p:nvPr/>
        </p:nvSpPr>
        <p:spPr>
          <a:xfrm>
            <a:off x="888968" y="2819400"/>
            <a:ext cx="2540032" cy="457200"/>
          </a:xfrm>
          <a:prstGeom prst="rect">
            <a:avLst/>
          </a:prstGeom>
          <a:noFill/>
          <a:ln>
            <a:noFill/>
          </a:ln>
        </p:spPr>
        <p:txBody>
          <a:bodyPr wrap="none" lIns="95" tIns="-1905" rIns="0" bIns="0" anchor="t" anchorCtr="0">
            <a:noAutofit/>
          </a:bodyPr>
          <a:lstStyle/>
          <a:p>
            <a:pPr algn="ctr">
              <a:lnSpc>
                <a:spcPts val="2025"/>
              </a:lnSpc>
            </a:pP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衣柜、入柜、搜索与推荐</a:t>
            </a:r>
            <a:b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已在源码中打通。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888968" y="4191000"/>
            <a:ext cx="2540032" cy="279368"/>
          </a:xfrm>
          <a:prstGeom prst="rect">
            <a:avLst/>
          </a:prstGeom>
          <a:noFill/>
          <a:ln>
            <a:noFill/>
          </a:ln>
        </p:spPr>
        <p:txBody>
          <a:bodyPr wrap="none" lIns="95" tIns="50800" rIns="0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9" name="AutoShape 9"/>
          <p:cNvSpPr/>
          <p:nvPr/>
        </p:nvSpPr>
        <p:spPr>
          <a:xfrm>
            <a:off x="4508468" y="3784568"/>
            <a:ext cx="304800" cy="3048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810000" y="2412968"/>
            <a:ext cx="2540032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63532" rIns="95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搭台与个人 OOTD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810000" y="2819400"/>
            <a:ext cx="254003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-1905" rIns="95" bIns="0" anchor="t" anchorCtr="0">
            <a:noAutofit/>
          </a:bodyPr>
          <a:lstStyle/>
          <a:p>
            <a:pPr algn="ctr">
              <a:lnSpc>
                <a:spcPts val="2025"/>
              </a:lnSpc>
            </a:pP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多画板、模特/动作与</a:t>
            </a:r>
            <a:b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生成确认已有实现。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810000" y="4191000"/>
            <a:ext cx="2540032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800" rIns="95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556468" y="3784568"/>
            <a:ext cx="304800" cy="3048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858000" y="2412968"/>
            <a:ext cx="2540032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63532" rIns="95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工程与管理接入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858000" y="2819400"/>
            <a:ext cx="254003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-1905" rIns="95" bIns="0" anchor="t" anchorCtr="0">
            <a:noAutofit/>
          </a:bodyPr>
          <a:lstStyle/>
          <a:p>
            <a:pPr algn="ctr">
              <a:lnSpc>
                <a:spcPts val="2025"/>
              </a:lnSpc>
            </a:pP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持久任务、归属控制；</a:t>
            </a:r>
            <a:b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管理 API 默认关闭。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858000" y="4191000"/>
            <a:ext cx="2540032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800" rIns="95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已有实现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350532" y="3784568"/>
            <a:ext cx="304800" cy="304800"/>
          </a:xfrm>
          <a:prstGeom prst="ellipse">
            <a:avLst/>
          </a:prstGeom>
          <a:solidFill>
            <a:srgbClr val="666B76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398032" y="2412968"/>
            <a:ext cx="2540032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63532" rIns="95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真实用户与付费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398032" y="2819400"/>
            <a:ext cx="254003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-1905" rIns="95" bIns="0" anchor="t" anchorCtr="0">
            <a:noAutofit/>
          </a:bodyPr>
          <a:lstStyle/>
          <a:p>
            <a:pPr algn="ctr">
              <a:lnSpc>
                <a:spcPts val="2025"/>
              </a:lnSpc>
            </a:pP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共创、留存与单位成本，</a:t>
            </a:r>
            <a:b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仍需下一阶段验证。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9398032" y="4191000"/>
            <a:ext cx="2540032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800" rIns="95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下一步验证</a:t>
            </a:r>
          </a:p>
        </p:txBody>
      </p:sp>
      <p:grpSp>
        <p:nvGrpSpPr>
          <p:cNvPr id="39" name="Picture 21"/>
          <p:cNvGrpSpPr/>
          <p:nvPr/>
        </p:nvGrpSpPr>
        <p:grpSpPr>
          <a:xfrm>
            <a:off x="2921032" y="4762500"/>
            <a:ext cx="6350032" cy="1905000"/>
            <a:chOff x="2921032" y="4762500"/>
            <a:chExt cx="6350032" cy="1905000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4"/>
            <a:srcRect l="0" t="23745" r="0" b="23745"/>
            <a:stretch>
              <a:fillRect/>
            </a:stretch>
          </p:blipFill>
          <p:spPr>
            <a:xfrm>
              <a:off x="2921032" y="4762500"/>
              <a:ext cx="6350032" cy="1905000"/>
            </a:xfrm>
            <a:prstGeom prst="rect">
              <a:avLst/>
            </a:prstGeom>
          </p:spPr>
        </p:pic>
      </p:grpSp>
      <p:grpSp>
        <p:nvGrpSpPr>
          <p:cNvPr id="43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40" name="Line 40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1" name="shape-2-foreground"/>
            <p:cNvSpPr/>
            <p:nvPr/>
          </p:nvSpPr>
          <p:spPr>
            <a:xfrm>
              <a:off x="888968" y="571500"/>
              <a:ext cx="7620000" cy="50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把“总穿那几件”变成可测问题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914400" y="1168432"/>
            <a:ext cx="3810000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380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06 · 历史实验 / 固定意图，连续模拟 28 天</a:t>
            </a:r>
          </a:p>
        </p:txBody>
      </p:sp>
      <p:sp>
        <p:nvSpPr>
          <p:cNvPr id="5" name="AutoShape 5"/>
          <p:cNvSpPr/>
          <p:nvPr/>
        </p:nvSpPr>
        <p:spPr>
          <a:xfrm>
            <a:off x="1460468" y="3784568"/>
            <a:ext cx="304800" cy="3048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8968" y="2412968"/>
            <a:ext cx="2540032" cy="355568"/>
          </a:xfrm>
          <a:prstGeom prst="rect">
            <a:avLst/>
          </a:prstGeom>
          <a:noFill/>
          <a:ln>
            <a:noFill/>
          </a:ln>
        </p:spPr>
        <p:txBody>
          <a:bodyPr wrap="none" lIns="95" tIns="12732" rIns="0" bIns="0" anchor="t" anchorCtr="0">
            <a:noAutofit/>
          </a:bodyPr>
          <a:lstStyle/>
          <a:p>
            <a:pPr algn="ctr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167 件</a:t>
            </a:r>
          </a:p>
        </p:txBody>
      </p:sp>
      <p:sp>
        <p:nvSpPr>
          <p:cNvPr id="7" name="AutoShape 7"/>
          <p:cNvSpPr/>
          <p:nvPr/>
        </p:nvSpPr>
        <p:spPr>
          <a:xfrm>
            <a:off x="888968" y="2819400"/>
            <a:ext cx="2540032" cy="457200"/>
          </a:xfrm>
          <a:prstGeom prst="rect">
            <a:avLst/>
          </a:prstGeom>
          <a:noFill/>
          <a:ln>
            <a:noFill/>
          </a:ln>
        </p:spPr>
        <p:txBody>
          <a:bodyPr wrap="none" lIns="95" tIns="23495" rIns="0" bIns="0" anchor="t" anchorCtr="0">
            <a:noAutofit/>
          </a:bodyPr>
          <a:lstStyle/>
          <a:p>
            <a:pPr algn="ctr"/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仿内测衣柜</a:t>
            </a:r>
          </a:p>
        </p:txBody>
      </p:sp>
      <p:sp>
        <p:nvSpPr>
          <p:cNvPr id="8" name="AutoShape 8"/>
          <p:cNvSpPr/>
          <p:nvPr/>
        </p:nvSpPr>
        <p:spPr>
          <a:xfrm>
            <a:off x="888968" y="4191000"/>
            <a:ext cx="2540032" cy="279368"/>
          </a:xfrm>
          <a:prstGeom prst="rect">
            <a:avLst/>
          </a:prstGeom>
          <a:noFill/>
          <a:ln>
            <a:noFill/>
          </a:ln>
        </p:spPr>
        <p:txBody>
          <a:bodyPr wrap="none" lIns="95" tIns="50800" rIns="0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实验条件</a:t>
            </a:r>
          </a:p>
        </p:txBody>
      </p:sp>
      <p:sp>
        <p:nvSpPr>
          <p:cNvPr id="9" name="AutoShape 9"/>
          <p:cNvSpPr/>
          <p:nvPr/>
        </p:nvSpPr>
        <p:spPr>
          <a:xfrm>
            <a:off x="4508468" y="3784568"/>
            <a:ext cx="304800" cy="3048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810000" y="2412968"/>
            <a:ext cx="2540032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12732" rIns="95" bIns="0" anchor="t" anchorCtr="0">
            <a:noAutofit/>
          </a:bodyPr>
          <a:lstStyle/>
          <a:p>
            <a:pPr algn="ctr"/>
            <a:r>
              <a:rPr lang="zh-CN" sz="195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49 → 97 件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810000" y="2819400"/>
            <a:ext cx="254003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23495" rIns="95" bIns="0" anchor="t" anchorCtr="0">
            <a:noAutofit/>
          </a:bodyPr>
          <a:lstStyle/>
          <a:p>
            <a:pPr algn="ctr"/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进入推荐的衣物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810000" y="4191000"/>
            <a:ext cx="2540032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800" rIns="95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曝光覆盖改善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556468" y="3784568"/>
            <a:ext cx="304800" cy="304800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858000" y="2412968"/>
            <a:ext cx="2540032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12732" rIns="95" bIns="0" anchor="t" anchorCtr="0">
            <a:noAutofit/>
          </a:bodyPr>
          <a:lstStyle/>
          <a:p>
            <a:pPr algn="ctr"/>
            <a:r>
              <a:rPr lang="zh-CN" sz="195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20% → 8%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858000" y="2819400"/>
            <a:ext cx="254003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23495" rIns="95" bIns="0" anchor="t" anchorCtr="0">
            <a:noAutofit/>
          </a:bodyPr>
          <a:lstStyle/>
          <a:p>
            <a:pPr algn="ctr"/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单品最高占比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858000" y="4191000"/>
            <a:ext cx="2540032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800" rIns="95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降低过度集中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350532" y="3784568"/>
            <a:ext cx="304800" cy="304800"/>
          </a:xfrm>
          <a:prstGeom prst="ellipse">
            <a:avLst/>
          </a:prstGeom>
          <a:solidFill>
            <a:srgbClr val="666B76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398032" y="2412968"/>
            <a:ext cx="2540032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63532" rIns="95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仍需真实验证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398032" y="2819400"/>
            <a:ext cx="254003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23495" rIns="95" bIns="0" anchor="t" anchorCtr="0">
            <a:noAutofit/>
          </a:bodyPr>
          <a:lstStyle/>
          <a:p>
            <a:pPr algn="ctr"/>
            <a:r>
              <a:rPr lang="zh-CN" sz="135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曝光不等于实际穿着</a:t>
            </a:r>
          </a:p>
        </p:txBody>
      </p:sp>
      <p:sp>
        <p:nvSpPr>
          <p:cNvPr id="20" name="AutoShape 20"/>
          <p:cNvSpPr/>
          <p:nvPr/>
        </p:nvSpPr>
        <p:spPr>
          <a:xfrm>
            <a:off x="9398032" y="4191000"/>
            <a:ext cx="2540032" cy="279368"/>
          </a:xfrm>
          <a:prstGeom prst="rect">
            <a:avLst/>
          </a:prstGeom>
          <a:noFill/>
          <a:ln>
            <a:noFill/>
          </a:ln>
        </p:spPr>
        <p:txBody>
          <a:bodyPr wrap="none" lIns="0" tIns="50800" rIns="95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下一步：用户研究</a:t>
            </a:r>
          </a:p>
        </p:txBody>
      </p:sp>
      <p:grpSp>
        <p:nvGrpSpPr>
          <p:cNvPr id="39" name="experiment-qualification"/>
          <p:cNvGrpSpPr/>
          <p:nvPr/>
        </p:nvGrpSpPr>
        <p:grpSpPr>
          <a:xfrm>
            <a:off x="885825" y="4953000"/>
            <a:ext cx="10420350" cy="1104900"/>
            <a:chOff x="885825" y="4953000"/>
            <a:chExt cx="10420350" cy="1104900"/>
          </a:xfrm>
        </p:grpSpPr>
        <p:sp>
          <p:nvSpPr>
            <p:cNvPr id="36" name="Rectangle 36"/>
            <p:cNvSpPr/>
            <p:nvPr/>
          </p:nvSpPr>
          <p:spPr>
            <a:xfrm>
              <a:off x="885825" y="4953000"/>
              <a:ext cx="10420350" cy="1104900"/>
            </a:xfrm>
            <a:prstGeom prst="roundRect">
              <a:avLst>
                <a:gd name="adj" fmla="val 10345"/>
              </a:avLst>
            </a:prstGeom>
            <a:solidFill>
              <a:srgbClr val="EEF6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95756" y="509905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5C45"/>
                  </a:solidFill>
                  <a:latin typeface="Arial"/>
                  <a:ea typeface="Microsoft YaHei"/>
                  <a:cs typeface="Arial"/>
                </a:rPr>
                <a:t>支持推荐曝光覆盖改善，不等同真实穿着率或消费减少。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8423" y="5543550"/>
              <a:ext cx="635409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来源：2026-10-10 审美报告；历史模拟，非本轮重测；并非所有公平指标都改善。</a:t>
              </a:r>
            </a:p>
          </p:txBody>
        </p:sp>
      </p:grpSp>
      <p:grpSp>
        <p:nvGrpSpPr>
          <p:cNvPr id="44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40" name="Line 40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09516" y="65024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历史模拟，非实际穿着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5" name="shape-2-foreground"/>
            <p:cNvSpPr/>
            <p:nvPr/>
          </p:nvSpPr>
          <p:spPr>
            <a:xfrm>
              <a:off x="888968" y="571500"/>
              <a:ext cx="6350032" cy="50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参赛团队：鱼力无限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914400" y="1168432"/>
            <a:ext cx="3810000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380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06 · 四项能力方向 / 不代表成员人数</a:t>
            </a:r>
          </a:p>
        </p:txBody>
      </p:sp>
      <p:sp>
        <p:nvSpPr>
          <p:cNvPr id="4" name="AutoShape 4"/>
          <p:cNvSpPr/>
          <p:nvPr/>
        </p:nvSpPr>
        <p:spPr>
          <a:xfrm>
            <a:off x="1016032" y="1905000"/>
            <a:ext cx="660368" cy="660368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32" y="2057400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63500" rIns="95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AutoShape 6"/>
          <p:cNvSpPr/>
          <p:nvPr/>
        </p:nvSpPr>
        <p:spPr>
          <a:xfrm>
            <a:off x="952500" y="2730532"/>
            <a:ext cx="2159032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60293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前端开发</a:t>
            </a:r>
          </a:p>
        </p:txBody>
      </p:sp>
      <p:sp>
        <p:nvSpPr>
          <p:cNvPr id="7" name="AutoShape 7"/>
          <p:cNvSpPr/>
          <p:nvPr/>
        </p:nvSpPr>
        <p:spPr>
          <a:xfrm>
            <a:off x="952500" y="3111532"/>
            <a:ext cx="2286000" cy="635032"/>
          </a:xfrm>
          <a:prstGeom prst="rect">
            <a:avLst/>
          </a:prstGeom>
          <a:noFill/>
          <a:ln>
            <a:noFill/>
          </a:ln>
        </p:spPr>
        <p:txBody>
          <a:bodyPr wrap="none" lIns="0" tIns="2285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网站界面、响应式交互与画布</a:t>
            </a:r>
          </a:p>
        </p:txBody>
      </p:sp>
      <p:sp>
        <p:nvSpPr>
          <p:cNvPr id="8" name="AutoShape 8"/>
          <p:cNvSpPr/>
          <p:nvPr/>
        </p:nvSpPr>
        <p:spPr>
          <a:xfrm>
            <a:off x="3683032" y="1905000"/>
            <a:ext cx="660368" cy="660368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683032" y="2057400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63500" rIns="95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619500" y="2730532"/>
            <a:ext cx="2159032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60293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后端架构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619500" y="3111532"/>
            <a:ext cx="3174968" cy="635032"/>
          </a:xfrm>
          <a:prstGeom prst="rect">
            <a:avLst/>
          </a:prstGeom>
          <a:noFill/>
          <a:ln>
            <a:noFill/>
          </a:ln>
        </p:spPr>
        <p:txBody>
          <a:bodyPr wrap="none" lIns="0" tIns="2285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API、任务执行、权限与存储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350032" y="1905000"/>
            <a:ext cx="660368" cy="660368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32" y="2057400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63500" rIns="95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86500" y="2730532"/>
            <a:ext cx="2286000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60293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算法与图像处理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86500" y="3111532"/>
            <a:ext cx="2286000" cy="635032"/>
          </a:xfrm>
          <a:prstGeom prst="rect">
            <a:avLst/>
          </a:prstGeom>
          <a:noFill/>
          <a:ln>
            <a:noFill/>
          </a:ln>
        </p:spPr>
        <p:txBody>
          <a:bodyPr wrap="none" lIns="0" tIns="2285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规则推荐、本地检索与图像处理</a:t>
            </a:r>
          </a:p>
        </p:txBody>
      </p:sp>
      <p:sp>
        <p:nvSpPr>
          <p:cNvPr id="16" name="AutoShape 16"/>
          <p:cNvSpPr/>
          <p:nvPr/>
        </p:nvSpPr>
        <p:spPr>
          <a:xfrm>
            <a:off x="9017032" y="1905000"/>
            <a:ext cx="660368" cy="660368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017032" y="2057400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63500" rIns="95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953500" y="2730532"/>
            <a:ext cx="2286000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60293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产品与设计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953500" y="3111532"/>
            <a:ext cx="2286000" cy="635032"/>
          </a:xfrm>
          <a:prstGeom prst="rect">
            <a:avLst/>
          </a:prstGeom>
          <a:noFill/>
          <a:ln>
            <a:noFill/>
          </a:ln>
        </p:spPr>
        <p:txBody>
          <a:bodyPr wrap="none" lIns="0" tIns="2285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需求、交互与视觉、文档</a:t>
            </a:r>
          </a:p>
        </p:txBody>
      </p:sp>
      <p:cxnSp>
        <p:nvCxnSpPr>
          <p:cNvPr id="20" name="Connector 20"/>
          <p:cNvCxnSpPr/>
          <p:nvPr/>
        </p:nvCxnSpPr>
        <p:spPr>
          <a:xfrm rot="-4192">
            <a:off x="888968" y="4184618"/>
            <a:ext cx="10413968" cy="12668"/>
          </a:xfrm>
          <a:prstGeom prst="straightConnector1">
            <a:avLst/>
          </a:prstGeom>
          <a:solidFill>
            <a:srgbClr val="E8E9EE"/>
          </a:solidFill>
          <a:ln w="12700" cap="flat">
            <a:solidFill>
              <a:srgbClr val="DCEAE2"/>
            </a:solidFill>
            <a:round/>
          </a:ln>
        </p:spPr>
      </p:cxnSp>
      <p:sp>
        <p:nvSpPr>
          <p:cNvPr id="21" name="AutoShape 21"/>
          <p:cNvSpPr/>
          <p:nvPr/>
        </p:nvSpPr>
        <p:spPr>
          <a:xfrm>
            <a:off x="888968" y="4508468"/>
            <a:ext cx="2540032" cy="330232"/>
          </a:xfrm>
          <a:prstGeom prst="rect">
            <a:avLst/>
          </a:prstGeom>
          <a:noFill/>
          <a:ln>
            <a:noFill/>
          </a:ln>
        </p:spPr>
        <p:txBody>
          <a:bodyPr wrap="none" lIns="0" tIns="60357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团队起点与作品证据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40772" y="4953000"/>
            <a:ext cx="10413968" cy="635032"/>
          </a:xfrm>
          <a:prstGeom prst="rect">
            <a:avLst/>
          </a:prstGeom>
          <a:noFill/>
          <a:ln>
            <a:noFill/>
          </a:ln>
        </p:spPr>
        <p:txBody>
          <a:bodyPr wrap="none" lIns="0" tIns="18034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全新团队，第一次参加比赛。</a:t>
            </a:r>
          </a:p>
        </p:txBody>
      </p:sp>
      <p:sp>
        <p:nvSpPr>
          <p:cNvPr id="23" name="TextBox 10"/>
          <p:cNvSpPr/>
          <p:nvPr/>
        </p:nvSpPr>
        <p:spPr>
          <a:xfrm>
            <a:off x="840772" y="5588032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暂无过往竞赛奖项；用产品闭环、算法依据和工程交付接受评审。</a:t>
            </a:r>
          </a:p>
        </p:txBody>
      </p:sp>
      <p:grpSp>
        <p:nvGrpSpPr>
          <p:cNvPr id="46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43" name="Line 43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</p:sp>
        <p:sp>
          <p:nvSpPr>
            <p:cNvPr id="20" name="shape-2-foreground"/>
            <p:cNvSpPr/>
            <p:nvPr/>
          </p:nvSpPr>
          <p:spPr>
            <a:xfrm>
              <a:off x="888968" y="571500"/>
              <a:ext cx="6350032" cy="50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75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25262B"/>
                  </a:solidFill>
                  <a:latin typeface="Arial"/>
                  <a:ea typeface="Microsoft YaHei"/>
                  <a:cs typeface="Arial"/>
                </a:rPr>
                <a:t>下一步怎么走</a:t>
              </a:r>
            </a:p>
          </p:txBody>
        </p:sp>
      </p:grpSp>
      <p:sp>
        <p:nvSpPr>
          <p:cNvPr id="3" name="AutoShape 3"/>
          <p:cNvSpPr/>
          <p:nvPr/>
        </p:nvSpPr>
        <p:spPr>
          <a:xfrm>
            <a:off x="914400" y="1168432"/>
            <a:ext cx="3810000" cy="254032"/>
          </a:xfrm>
          <a:prstGeom prst="rect">
            <a:avLst/>
          </a:prstGeom>
          <a:noFill/>
          <a:ln>
            <a:noFill/>
          </a:ln>
        </p:spPr>
        <p:txBody>
          <a:bodyPr wrap="none" lIns="0" tIns="38068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F5C45"/>
                </a:solidFill>
                <a:latin typeface="Arial"/>
                <a:ea typeface="Microsoft YaHei"/>
                <a:cs typeface="Arial"/>
              </a:rPr>
              <a:t>06 · 未来规划</a:t>
            </a:r>
          </a:p>
        </p:txBody>
      </p:sp>
      <p:sp>
        <p:nvSpPr>
          <p:cNvPr id="4" name="AutoShape 4"/>
          <p:cNvSpPr/>
          <p:nvPr/>
        </p:nvSpPr>
        <p:spPr>
          <a:xfrm>
            <a:off x="888968" y="1778032"/>
            <a:ext cx="3174968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2031968"/>
            <a:ext cx="660368" cy="660368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43000" y="2184368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95" tIns="63532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AutoShape 7"/>
          <p:cNvSpPr/>
          <p:nvPr/>
        </p:nvSpPr>
        <p:spPr>
          <a:xfrm>
            <a:off x="1143000" y="2857500"/>
            <a:ext cx="2667000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5397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短期 · 打磨体验</a:t>
            </a:r>
          </a:p>
        </p:txBody>
      </p:sp>
      <p:sp>
        <p:nvSpPr>
          <p:cNvPr id="8" name="AutoShape 8"/>
          <p:cNvSpPr/>
          <p:nvPr/>
        </p:nvSpPr>
        <p:spPr>
          <a:xfrm>
            <a:off x="1143000" y="3302032"/>
            <a:ext cx="2667000" cy="1397032"/>
          </a:xfrm>
          <a:prstGeom prst="rect">
            <a:avLst/>
          </a:prstGeom>
          <a:noFill/>
          <a:ln>
            <a:noFill/>
          </a:ln>
        </p:spPr>
        <p:txBody>
          <a:bodyPr wrap="none" lIns="0" tIns="-4128" rIns="0" bIns="0" anchor="t" anchorCtr="0">
            <a:noAutofit/>
          </a:bodyPr>
          <a:lstStyle/>
          <a:p>
            <a:pPr algn="l">
              <a:lnSpc>
                <a:spcPts val="2138"/>
              </a:lnSpc>
            </a:pP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修正入柜摩擦与图片质量</a:t>
            </a:r>
            <a:b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记录采纳和实际穿着覆盖</a:t>
            </a:r>
            <a:b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完善未知任务对账与压测</a:t>
            </a:r>
          </a:p>
        </p:txBody>
      </p:sp>
      <p:sp>
        <p:nvSpPr>
          <p:cNvPr id="9" name="AutoShape 9"/>
          <p:cNvSpPr/>
          <p:nvPr/>
        </p:nvSpPr>
        <p:spPr>
          <a:xfrm>
            <a:off x="4508468" y="1778032"/>
            <a:ext cx="3174968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762500" y="2031968"/>
            <a:ext cx="660368" cy="660368"/>
          </a:xfrm>
          <a:prstGeom prst="ellipse">
            <a:avLst/>
          </a:prstGeom>
          <a:solidFill>
            <a:srgbClr val="1F5C45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762500" y="2184368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95" tIns="63532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762500" y="2857500"/>
            <a:ext cx="2667000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5397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中期 · 做深价值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762500" y="3302032"/>
            <a:ext cx="2667000" cy="1397032"/>
          </a:xfrm>
          <a:prstGeom prst="rect">
            <a:avLst/>
          </a:prstGeom>
          <a:noFill/>
          <a:ln>
            <a:noFill/>
          </a:ln>
        </p:spPr>
        <p:txBody>
          <a:bodyPr wrap="none" lIns="0" tIns="-4128" rIns="0" bIns="0" anchor="t" anchorCtr="0">
            <a:noAutofit/>
          </a:bodyPr>
          <a:lstStyle/>
          <a:p>
            <a:pPr algn="l">
              <a:lnSpc>
                <a:spcPts val="2138"/>
              </a:lnSpc>
            </a:pP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在已有推荐上验证留存</a:t>
            </a:r>
            <a:b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试验订阅与生成额度</a:t>
            </a:r>
            <a:b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核算真实单位服务成本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7968" y="1778032"/>
            <a:ext cx="3174968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2031968"/>
            <a:ext cx="660368" cy="660368"/>
          </a:xfrm>
          <a:prstGeom prst="ellipse">
            <a:avLst/>
          </a:prstGeom>
          <a:solidFill>
            <a:srgbClr val="EEF6F1"/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2184368"/>
            <a:ext cx="660368" cy="381000"/>
          </a:xfrm>
          <a:prstGeom prst="rect">
            <a:avLst/>
          </a:prstGeom>
          <a:noFill/>
          <a:ln>
            <a:noFill/>
          </a:ln>
        </p:spPr>
        <p:txBody>
          <a:bodyPr wrap="none" lIns="95" tIns="63532" rIns="0" bIns="0" anchor="t" anchorCtr="0">
            <a:noAutofit/>
          </a:bodyPr>
          <a:lstStyle/>
          <a:p>
            <a:pPr algn="ctr"/>
            <a:r>
              <a:rPr lang="zh-CN" sz="1600" b="1" dirty="0">
                <a:solidFill>
                  <a:srgbClr val="2526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382000" y="2857500"/>
            <a:ext cx="2667000" cy="355568"/>
          </a:xfrm>
          <a:prstGeom prst="rect">
            <a:avLst/>
          </a:prstGeom>
          <a:noFill/>
          <a:ln>
            <a:noFill/>
          </a:ln>
        </p:spPr>
        <p:txBody>
          <a:bodyPr wrap="none" lIns="0" tIns="5397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25262B"/>
                </a:solidFill>
                <a:latin typeface="Arial"/>
                <a:ea typeface="Microsoft YaHei"/>
                <a:cs typeface="Arial"/>
              </a:rPr>
              <a:t>长期 · 拓展 B 端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382000" y="3302032"/>
            <a:ext cx="2667000" cy="1397032"/>
          </a:xfrm>
          <a:prstGeom prst="rect">
            <a:avLst/>
          </a:prstGeom>
          <a:noFill/>
          <a:ln>
            <a:noFill/>
          </a:ln>
        </p:spPr>
        <p:txBody>
          <a:bodyPr wrap="none" lIns="0" tIns="-4128" rIns="0" bIns="0" anchor="t" anchorCtr="0">
            <a:noAutofit/>
          </a:bodyPr>
          <a:lstStyle/>
          <a:p>
            <a:pPr algn="l">
              <a:lnSpc>
                <a:spcPts val="2138"/>
              </a:lnSpc>
            </a:pP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与造型/整理服务商共创</a:t>
            </a:r>
            <a:b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验证授权工作台的需求</a:t>
            </a:r>
            <a:b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</a:br>
            <a:r>
              <a:rPr lang="zh-CN" sz="1420" dirty="0">
                <a:solidFill>
                  <a:srgbClr val="666B76"/>
                </a:solidFill>
                <a:latin typeface="Arial"/>
                <a:ea typeface="Microsoft YaHei"/>
                <a:cs typeface="Arial"/>
              </a:rPr>
              <a:t>评估数据库与容量扩展</a:t>
            </a:r>
          </a:p>
        </p:txBody>
      </p:sp>
      <p:grpSp>
        <p:nvGrpSpPr>
          <p:cNvPr id="35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32" name="Line 32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B76"/>
                  </a:solidFill>
                  <a:latin typeface="Arial"/>
                  <a:ea typeface="Arial"/>
                  <a:cs typeface="Arial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bg>
      <p:bgPr>
        <a:solidFill>
          <a:srgbClr val="1E3A8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utoShape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page-field-0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25262B"/>
            </a:solidFill>
            <a:ln>
              <a:noFill/>
            </a:ln>
          </p:spPr>
        </p:sp>
        <p:sp>
          <p:nvSpPr>
            <p:cNvPr id="11" name="shape-2-foreground"/>
            <p:cNvSpPr/>
            <p:nvPr/>
          </p:nvSpPr>
          <p:spPr>
            <a:xfrm>
              <a:off x="381000" y="254032"/>
              <a:ext cx="888968" cy="888968"/>
            </a:xfrm>
            <a:prstGeom prst="ellipse">
              <a:avLst/>
            </a:prstGeom>
            <a:solidFill>
              <a:srgbClr val="1F5C45">
                <a:alpha val="25000"/>
              </a:srgbClr>
            </a:solidFill>
            <a:ln>
              <a:noFill/>
            </a:ln>
          </p:spPr>
        </p:sp>
      </p:grpSp>
      <p:sp>
        <p:nvSpPr>
          <p:cNvPr id="3" name="AutoShape 3"/>
          <p:cNvSpPr/>
          <p:nvPr/>
        </p:nvSpPr>
        <p:spPr>
          <a:xfrm>
            <a:off x="10922032" y="254032"/>
            <a:ext cx="888968" cy="888968"/>
          </a:xfrm>
          <a:prstGeom prst="ellipse">
            <a:avLst/>
          </a:prstGeom>
          <a:solidFill>
            <a:srgbClr val="EEF6F1">
              <a:alpha val="25000"/>
            </a:srgbClr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7968" y="5778532"/>
            <a:ext cx="888968" cy="888968"/>
          </a:xfrm>
          <a:prstGeom prst="ellipse">
            <a:avLst/>
          </a:prstGeom>
          <a:solidFill>
            <a:srgbClr val="EEF6F1">
              <a:alpha val="25000"/>
            </a:srgbClr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794968" y="5778532"/>
            <a:ext cx="1016032" cy="1016032"/>
          </a:xfrm>
          <a:prstGeom prst="ellipse">
            <a:avLst/>
          </a:prstGeom>
          <a:solidFill>
            <a:srgbClr val="1F5C45">
              <a:alpha val="25000"/>
            </a:srgbClr>
          </a:solidFill>
          <a:ln>
            <a:noFill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1524000"/>
            <a:ext cx="1219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95250" rIns="0" bIns="0" anchor="t" anchorCtr="0">
            <a:noAutofit/>
          </a:bodyPr>
          <a:lstStyle/>
          <a:p>
            <a:pPr algn="ctr"/>
            <a:r>
              <a:rPr lang="zh-CN" sz="1400" b="1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  <a:t>鱼力无限 · 鱼搭 AI 数字衣柜网站</a:t>
            </a:r>
          </a:p>
        </p:txBody>
      </p:sp>
      <p:sp>
        <p:nvSpPr>
          <p:cNvPr id="7" name="AutoShape 7"/>
          <p:cNvSpPr/>
          <p:nvPr/>
        </p:nvSpPr>
        <p:spPr>
          <a:xfrm>
            <a:off x="1650968" y="2222468"/>
            <a:ext cx="8889968" cy="1650968"/>
          </a:xfrm>
          <a:prstGeom prst="rect">
            <a:avLst/>
          </a:prstGeom>
          <a:noFill/>
          <a:ln>
            <a:noFill/>
          </a:ln>
        </p:spPr>
        <p:txBody>
          <a:bodyPr wrap="none" lIns="95" tIns="-17780" rIns="0" bIns="0" anchor="t" anchorCtr="0">
            <a:noAutofit/>
          </a:bodyPr>
          <a:lstStyle/>
          <a:p>
            <a:pPr algn="ctr">
              <a:lnSpc>
                <a:spcPts val="5400"/>
              </a:lnSpc>
            </a:pPr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理解衣柜，解释选择。</a:t>
            </a:r>
            <a:b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</a:br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让已有衣物，重新有机会。</a:t>
            </a:r>
          </a:p>
        </p:txBody>
      </p:sp>
      <p:cxnSp>
        <p:nvCxnSpPr>
          <p:cNvPr id="8" name="Connector 8"/>
          <p:cNvCxnSpPr/>
          <p:nvPr/>
        </p:nvCxnSpPr>
        <p:spPr>
          <a:xfrm rot="-38195">
            <a:off x="5524501" y="4311682"/>
            <a:ext cx="1143000" cy="12668"/>
          </a:xfrm>
          <a:prstGeom prst="straightConnector1">
            <a:avLst/>
          </a:prstGeom>
          <a:solidFill>
            <a:srgbClr val="E8E9EE"/>
          </a:solidFill>
          <a:ln w="50800" cap="flat">
            <a:solidFill>
              <a:srgbClr val="1F5C45"/>
            </a:solidFill>
            <a:round/>
          </a:ln>
        </p:spPr>
      </p:cxnSp>
      <p:sp>
        <p:nvSpPr>
          <p:cNvPr id="9" name="AutoShape 9"/>
          <p:cNvSpPr/>
          <p:nvPr/>
        </p:nvSpPr>
        <p:spPr>
          <a:xfrm>
            <a:off x="0" y="4635532"/>
            <a:ext cx="1219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63468" rIns="0" bIns="0" anchor="t" anchorCtr="0">
            <a:noAutofit/>
          </a:bodyPr>
          <a:lstStyle/>
          <a:p>
            <a:pPr algn="ctr"/>
            <a:r>
              <a:rPr lang="zh-CN" sz="1650" dirty="0">
                <a:solidFill>
                  <a:srgbClr val="DCEAE2"/>
                </a:solidFill>
                <a:latin typeface="Arial"/>
                <a:ea typeface="Microsoft YaHei"/>
                <a:cs typeface="Arial"/>
              </a:rPr>
              <a:t>欢迎现场体验网站 · 共创验证日常穿搭价值</a:t>
            </a:r>
          </a:p>
        </p:txBody>
      </p:sp>
      <p:grpSp>
        <p:nvGrpSpPr>
          <p:cNvPr id="18" name="yuda-footer"/>
          <p:cNvGrpSpPr/>
          <p:nvPr/>
        </p:nvGrpSpPr>
        <p:grpSpPr>
          <a:xfrm>
            <a:off x="604266" y="6400800"/>
            <a:ext cx="10978134" cy="306959"/>
            <a:chOff x="604266" y="6400800"/>
            <a:chExt cx="10978134" cy="306959"/>
          </a:xfrm>
        </p:grpSpPr>
        <p:sp>
          <p:nvSpPr>
            <p:cNvPr id="15" name="Line 15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9E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4266" y="6502400"/>
              <a:ext cx="221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AE2"/>
                  </a:solidFill>
                  <a:latin typeface="Arial"/>
                  <a:ea typeface="Microsoft YaHei"/>
                  <a:cs typeface="Arial"/>
                </a:rPr>
                <a:t>鱼力无限 / 鱼搭 · AI 数字衣柜网站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72266" y="6502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AE2"/>
                  </a:solidFill>
                  <a:latin typeface="Arial"/>
                  <a:ea typeface="Arial"/>
                  <a:cs typeface="Arial"/>
                </a:rPr>
                <a:t>18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1941</ns0:Words>
  <ns0:Application>WPS 演示</ns0:Application>
  <ns0:PresentationFormat/>
  <ns0:Paragraphs>439</ns0:Paragraphs>
  <ns0:Slides>18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12</ns1:i4>
      </ns1:variant>
      <ns1:variant>
        <ns1:lpstr>主题</ns1:lpstr>
      </ns1:variant>
      <ns1:variant>
        <ns1:i4>3</ns1:i4>
      </ns1:variant>
      <ns1:variant>
        <ns1:lpstr>幻灯片标题</ns1:lpstr>
      </ns1:variant>
      <ns1:variant>
        <ns1:i4>16</ns1:i4>
      </ns1:variant>
    </ns1:vector>
  </ns0:HeadingPairs>
  <ns0:TitlesOfParts>
    <ns1:vector size="31" baseType="lpstr">
      <ns1:lpstr>Arial</ns1:lpstr>
      <ns1:lpstr>宋体</ns1:lpstr>
      <ns1:lpstr>Wingdings</ns1:lpstr>
      <ns1:lpstr>Arial</ns1:lpstr>
      <ns1:lpstr>Noto Sans SC</ns1:lpstr>
      <ns1:lpstr>975Maru SC</ns1:lpstr>
      <ns1:lpstr>FFont-Family</ns1:lpstr>
      <ns1:lpstr>微软雅黑</ns1:lpstr>
      <ns1:lpstr>Arial Unicode MS</ns1:lpstr>
      <ns1:lpstr>黑体</ns1:lpstr>
      <ns1:lpstr>隶书</ns1:lpstr>
      <ns1:lpstr>楷体</ns1:lpstr>
      <ns1:lpstr>Office 主题​​</ns1:lpstr>
      <ns1:lpstr>默认主题</ns1:lpstr>
      <ns1:lpstr>1_默认主题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张榆晓丸子.</cp:lastModifiedBy>
  <cp:revision>2</cp:revision>
  <dcterms:created xsi:type="dcterms:W3CDTF">2026-10-15T07:25:15Z</dcterms:created>
  <dcterms:modified xsi:type="dcterms:W3CDTF">2026-10-15T07:26:58Z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{"Label":"1","ContentProducer":"001191110102MACQD9K64010000","ProduceID":"7696093738686778338","ReservedCode1":"","ContentPropagator":"","PropagateID":"","ReservedCode2":""}</vt:lpwstr>
  </property>
  <property fmtid="{D5CDD505-2E9C-101B-9397-08002B2CF9AE}" pid="3" name="KSOProductBuildVer">
    <vt:lpwstr>2052-11.1.0.10009</vt:lpwstr>
  </property>
</Properties>
</file>