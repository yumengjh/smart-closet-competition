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8_tf2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2_tf2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5_tf1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trictFirstAndLastChars="0" autoCompressPictures="0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6"/>
        <p:guide pos="3000"/>
      </p:guideLst>
    </p:cSldViewPr>
  </p:slideViewPr>
  <p:gridSpacing cx="72008" cy="72008"/>
</p:viewPr>
</file>

<file path=ppt/_rels/presentation.xml.rels><?xml version='1.0' encoding='utf-8'?>
<Relationships xmlns="http://schemas.openxmlformats.org/package/2006/relationships"><Relationship Id="rId6" Type="http://schemas.openxmlformats.org/officeDocument/2006/relationships/notesMaster" Target="notesMasters/notesMaster1.xml" /><Relationship Id="rId4" Type="http://schemas.openxmlformats.org/officeDocument/2006/relationships/slideMaster" Target="slideMasters/slideMaster3.xml" /><Relationship Id="rId3" Type="http://schemas.openxmlformats.org/officeDocument/2006/relationships/slideMaster" Target="slideMasters/slideMaster2.xml" /><Relationship Id="rId24" Type="http://schemas.openxmlformats.org/officeDocument/2006/relationships/tableStyles" Target="tableStyles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5" Type="http://schemas.openxmlformats.org/officeDocument/2006/relationships/slide" Target="slides/slide1.xml" /><Relationship Id="rId26" Type="http://schemas.openxmlformats.org/officeDocument/2006/relationships/slide" Target="slides/slide2.xml" /><Relationship Id="rId27" Type="http://schemas.openxmlformats.org/officeDocument/2006/relationships/slide" Target="slides/slide3.xml" /><Relationship Id="rId28" Type="http://schemas.openxmlformats.org/officeDocument/2006/relationships/slide" Target="slides/slide4.xml" /><Relationship Id="rId29" Type="http://schemas.openxmlformats.org/officeDocument/2006/relationships/slide" Target="slides/slide5.xml" /><Relationship Id="rId30" Type="http://schemas.openxmlformats.org/officeDocument/2006/relationships/slide" Target="slides/slide6.xml" /><Relationship Id="rId31" Type="http://schemas.openxmlformats.org/officeDocument/2006/relationships/slide" Target="slides/slide7.xml" /><Relationship Id="rId32" Type="http://schemas.openxmlformats.org/officeDocument/2006/relationships/slide" Target="slides/slide8.xml" /><Relationship Id="rId33" Type="http://schemas.openxmlformats.org/officeDocument/2006/relationships/slide" Target="slides/slide9.xml" /><Relationship Id="rId34" Type="http://schemas.openxmlformats.org/officeDocument/2006/relationships/slide" Target="slides/slide10.xml" /><Relationship Id="rId35" Type="http://schemas.openxmlformats.org/officeDocument/2006/relationships/slide" Target="slides/slide11.xml" /><Relationship Id="rId36" Type="http://schemas.openxmlformats.org/officeDocument/2006/relationships/slide" Target="slides/slide12.xml" /><Relationship Id="rId37" Type="http://schemas.openxmlformats.org/officeDocument/2006/relationships/slide" Target="slides/slide13.xml" /><Relationship Id="rId38" Type="http://schemas.openxmlformats.org/officeDocument/2006/relationships/slide" Target="slides/slide14.xml" /><Relationship Id="rId39" Type="http://schemas.openxmlformats.org/officeDocument/2006/relationships/slide" Target="slides/slide15.xml" /><Relationship Id="rId40" Type="http://schemas.openxmlformats.org/officeDocument/2006/relationships/slide" Target="slides/slide16.xml" /><Relationship Id="rId41" Type="http://schemas.openxmlformats.org/officeDocument/2006/relationships/slide" Target="slides/slide17.xml" /><Relationship Id="rId42" Type="http://schemas.openxmlformats.org/officeDocument/2006/relationships/slide" Target="slides/slide1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6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7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8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8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9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0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2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3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4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5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大家好，我们是鱼力无限团队，带来的网页作品叫鱼搭。它是一个 AI 数字衣柜和穿搭决策网站，从已有衣物出发，让每天的选择更容易理解和调整。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这次路演先从用户的日常困境出发，再展示入柜、推荐、组合台与 OOTD 的产品闭环。之后解释创新机制、Web 技术架构和运行边界，最后讨论目标用户、盈利验证、团队能力与下一阶段计划。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衣柜已经装满，为什么仍不知道穿什么？我们关注三个断点：场景和天气之间很难选择；衣物多而难以记忆、查找和整理；收藏了灵感，也难用自己的衣物还原。鱼搭分别提供建议、衣物记忆和组合辅助，先把这些问题接成日常可执行的流程。这里描述用户情景，不代表已经完成大规模需求调查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衣柜看成一种决策资源：真实衣物是起点，属性和图像帮助理解，再按场景、天气、风格选择，最后把换件、喜好和恢复反馈带回下一次推荐。每次选择都应有依据，也允许用户接手。让更多已有衣物进入日常是产品目标，实际穿着效果还要用用户研究验证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可以在网站中拍照、从相册多选，也可以拖拽或粘贴图片。当前快速入柜模式先生成贴纸，资料在后台继续补齐，贴纸做好后自动入柜；用户仍可修改资料和更换图片。这张画面重新截取了完整的操作卡片和说明，展示可运行网站的真实交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完整用户链路包含六步：拍照入柜，混合检索，计算推荐，多画板搭台编辑，个人 OOTD 预览，以及反馈调整。检索结合字段、文本和图像，推荐提供组合、评分与理由，搭台允许用户编辑和接手，反馈有粒度也可以恢复。OOTD 支持模特、动作与调整，但只是生成式效果预览，不能证明真实尺码合身或保证衣物细节完全一致。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这一页预留宣传视频和操作演示两个独立的位置。宣传视频将解释日常穿搭困境和鱼搭的价值；演示视频将串起入柜、推荐、组合台与 OOTD 的操作。当前视频仍在制作，页面中的两个框是待插入位置，正式路演前将替换为实际视频。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从用户问题解释实现机制，不再对其他产品作未经验证的负面概括。持久任务把提交和耗时处理分开；本地抠图、属性证据和人工核对提高输入可靠性；规则理由、曝光均衡和可恢复反馈支持可解释选择。执行还受授权、回执和额度快照约束，上游结果未知时不会盲目重试。它们是当前项目可追溯的实现特点，不代表已经通过同一协议证明胜过所有竞品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照片入柜有三道可靠性工序。先规整尺寸和方向，原图与展示派生分开；本地 U²-Net 或 GrabCut 去背景，并提供透明检查和恢复路径；属性再区分已确认、推测、未知与冲突，由用户核对后入柜。耗时任务在后台执行，但实际耗时取决于图片、模型和资源，不能承诺固定秒数。U²-Net 是复用的预训练技术，不是自行训练的服饰专用分割网络。</a:t>
            </a:r>
          </a:p>
        </p:txBody>
      </p:sp>
    </p:spTree>
  </p:cSld>
  <p:clrMapOvr>
    <a:masterClrMapping/>
  </p:clrMapOvr>
</p:notes>
</file>

<file path=ppt/notesSlides/notesSlide8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推荐分成混合召回、规则与风格评分、曝光与反馈三个阶段。字段和关键词先约束候选，本地 BGE 和可选 CLIP 补充相关性；当前审美开启路径包含十一维评分和十八个风格画像，结构底线与可解释软评分一起工作。动态候选、曝光均衡与重排减少总推同几件，时间衰减让偏好可以恢复。计算推荐不依赖远程大模型决策，项目贡献在领域特征、规则、重排与执行协议；识图、对话和生图仍可能调用外部服务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架构分为四层：交互层由 Vue、TypeScript、Ant Design Vue 和 Konva 承载网站与画布；服务层用 Java、Spring Boot 和 Security 处理 API、数据归属、推荐规则与额度。智能与执行层通过 ONNX 运行本地模型，由 LangGraph 编排对话，并按 CPU、识别和生成资源分别调度。数据与交付层使用 H2、MyBatis Plus、Flyway、本地或 S3 图片、Docker 与持续集成；当前采用可控单机部署。任务持久记录、网页内可查看状态，上游结果未知时不会自动重发。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场进入先围绕衣物不少、选择很难的高校和初入职场人群，从高频通勤与日常搭配验证价值。我们计划通过校园和穿搭社群招募三十到五十名共创者，观察四周，记录采纳、实际穿着覆盖、留存与付费意愿。第一次能否得到可采纳的搭配、每天是否愿意回来、持续价值能否收费，是三个待验证问题。这里的人数和周期是计划，不是已有用户规模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商业设计分三条待验证路径：基础衣柜和计算推荐作为入口，高级管理、长期洞察与专属服务探索订阅；OOTD 按次或额度包收费，覆盖真实上游成本，不承诺无限生成；未来与造型、衣柜整理服务商共创授权工作台。我们不出售用户衣柜数据。下面只是情景演算：一万活跃用户、百分之五转化、每人每年一百九十九元，得到九点九五万元年订阅收入；未扣获客、计算、存储、支持和税费，不是预测、净利润或现有收费成绩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当前源码已经打通 Web 衣柜、入柜、搜索和推荐，搭台与个人 OOTD 也已有多画板、模特动作和生成确认等实现。工程上有持久任务和数据归属控制，可插拔管理接口默认关闭。这里的已有实现来自项目代码与既有验证材料，不代表本轮重跑全部业务测试。真实用户留存、付费与单位成本仍是下一阶段的验证任务。</a:t>
            </a:r>
          </a:p>
        </p:txBody>
      </p:sp>
    </p:spTree>
  </p:cSld>
  <p:clrMapOvr>
    <a:masterClrMapping/>
  </p:clrMapOvr>
</p:notes>
</file>

<file path=ppt/notesSlides/notesSlide12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历史审美报告记录了一组固定意图、连续二十八天的模拟，使用一百六十七件仿内测衣柜。进入推荐的衣物从四十九件增加到九十七件，单品最高占比从百分之二十降到百分之八，支持曝光覆盖改善和过度集中减少。来源是十月十日的报告，非本轮重测，也并非所有公平指标都改善。推荐曝光不是实际穿着率，更不能直接推导消费减少，下一步仍需真实用户研究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参赛团队名是鱼力无限，这是团队第一次参加比赛，暂无过往竞赛奖项。页面上的前端、后端、算法图像、产品设计是四项能力方向，不代表已经确认的四位成员或其履历。我们以网站产品闭环、领域算法依据和工程交付作为本次作品证据，接受评委检验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短期继续修正入柜摩擦和图片质量，记录采纳与实际穿着覆盖，完善未知任务对账并开展压力测试。中期在已经实现的推荐上验证留存，试验订阅和生成额度，核算真实单位服务成本。长期与造型或整理服务商共创授权工作台，再评估数据库和容量扩展。路线图是待执行计划，不把已有推荐写成未来才上线，也不把未知收费请求当成普通失败自动重发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鱼力无限团队希望通过鱼搭这个网站，帮助用户理解衣柜、解释选择，让已有衣物重新获得机会。欢迎现场体验，并参与下一阶段的共创验证，让这个产品的价值由真实日常使用来回答。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10045065" y="6363018"/>
            <a:ext cx="2057400" cy="273844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accent1">
                <a:lumMod val="60000"/>
                <a:lumOff val="40000"/>
                <a:alpha val="10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YU/DA</a:t>
            </a:r>
            <a:endParaRPr lang="en-US" alt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0b9ecf788b81e9ca.svg" />  <Relationship Id="rId5" Type="http://schemas.openxmlformats.org/officeDocument/2006/relationships/notesSlide" Target="../notesSlides/notesSlide1_tf1.xml" 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2_tf1.xml"/>
</Relationships>
</file>

<file path=ppt/slides/_rels/slide3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7014faf47b90c6dd.png" />  <Relationship Id="rId5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3.xml" /><Relationship Id="rId1" Type="http://schemas.openxmlformats.org/officeDocument/2006/relationships/image" Target="../media/image3.png" />  <Relationship Id="rId3" Type="http://schemas.openxmlformats.org/officeDocument/2006/relationships/notesSlide" Target="../notesSlides/notesSlide4_tf1.xml"/>
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6" Type="http://schemas.openxmlformats.org/officeDocument/2006/relationships/image" Target="../media/image_27f956ad38ad9720.png" />  <Relationship Id="rId7" Type="http://schemas.openxmlformats.org/officeDocument/2006/relationships/notesSlide" Target="../notesSlides/notesSlide5_tf1.xml" 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4.xml" />  <Relationship Id="rId2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7" Type="http://schemas.openxmlformats.org/officeDocument/2006/relationships/notesSlide" Target="../notesSlides/notesSlide6_tf1.xml" 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7_tf1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8_tf1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8_tf2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  <Relationship Id="rId2" Type="http://schemas.openxmlformats.org/officeDocument/2006/relationships/notesSlide" Target="../notesSlides/notesSlide9_tf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0_tf1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1_tf1.xml"/>
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5" Type="http://schemas.openxmlformats.org/officeDocument/2006/relationships/notesSlide" Target="../notesSlides/notesSlide12_tf1.xml" />
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2_tf2.xml" 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3_tf1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4_tf1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5_tf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ictur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rcRect l="834" t="0" r="833" b="0"/>
            <a:stretch>
              <a:fillRect/>
            </a:stretch>
          </p:blipFill>
          <p:spPr>
            <a:xfrm>
              <a:off x="4191000" y="0"/>
              <a:ext cx="8001000" cy="6858000"/>
            </a:xfrm>
            <a:prstGeom prst="rect">
              <a:avLst/>
            </a:prstGeom>
          </p:spPr>
        </p:pic>
      </p:grpSp>
      <p:sp>
        <p:nvSpPr>
          <p:cNvPr id="3" name="AutoShape 3"/>
          <p:cNvSpPr/>
          <p:nvPr/>
        </p:nvSpPr>
        <p:spPr>
          <a:xfrm>
            <a:off x="762000" y="762000"/>
            <a:ext cx="52387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AI 数字衣柜 · Web 网站</a:t>
            </a:r>
          </a:p>
        </p:txBody>
      </p:sp>
      <p:sp>
        <p:nvSpPr>
          <p:cNvPr id="4" name="AutoShape 4"/>
          <p:cNvSpPr/>
          <p:nvPr/>
        </p:nvSpPr>
        <p:spPr>
          <a:xfrm>
            <a:off x="723900" y="1619250"/>
            <a:ext cx="4286250" cy="1428750"/>
          </a:xfrm>
          <a:prstGeom prst="rect">
            <a:avLst/>
          </a:prstGeom>
          <a:noFill/>
          <a:ln>
            <a:noFill/>
          </a:ln>
        </p:spPr>
        <p:txBody>
          <a:bodyPr wrap="none" lIns="0" tIns="148590" rIns="0" bIns="0" anchor="t" anchorCtr="0">
            <a:noAutofit/>
          </a:bodyPr>
          <a:lstStyle/>
          <a:p>
            <a:pPr algn="l"/>
            <a:r>
              <a:rPr lang="zh-CN" sz="8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鱼搭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3390900"/>
            <a:ext cx="36195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-7620" rIns="0" bIns="0" anchor="t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zh-CN" sz="24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让已有衣物，</a:t>
            </a:r>
            <a:br>
              <a:rPr lang="zh-CN" sz="24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</a:br>
            <a:r>
              <a:rPr lang="zh-CN" sz="24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成为每天的选择。</a:t>
            </a:r>
          </a:p>
        </p:txBody>
      </p:sp>
      <p:cxnSp>
        <p:nvCxnSpPr>
          <p:cNvPr id="6" name="Connector 6"/>
          <p:cNvCxnSpPr/>
          <p:nvPr/>
        </p:nvCxnSpPr>
        <p:spPr>
          <a:xfrm rot="-42969">
            <a:off x="889064" y="4718018"/>
            <a:ext cx="1016032" cy="12668"/>
          </a:xfrm>
          <a:prstGeom prst="straightConnector1">
            <a:avLst/>
          </a:prstGeom>
          <a:solidFill>
            <a:srgbClr val="E8E9EE"/>
          </a:solidFill>
          <a:ln w="50800" cap="flat">
            <a:solidFill>
              <a:srgbClr val="1F5C45"/>
            </a:solidFill>
            <a:round/>
          </a:ln>
        </p:spPr>
      </p:cxnSp>
      <p:sp>
        <p:nvSpPr>
          <p:cNvPr id="7" name="AutoShape 7"/>
          <p:cNvSpPr/>
          <p:nvPr/>
        </p:nvSpPr>
        <p:spPr>
          <a:xfrm>
            <a:off x="762000" y="5029200"/>
            <a:ext cx="36195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-19050" rIns="0" bIns="0" anchor="t" anchorCtr="0">
            <a:noAutofit/>
          </a:bodyPr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参赛团队：鱼力无限</a:t>
            </a:r>
            <a:b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网页作品路演</a:t>
            </a:r>
          </a:p>
        </p:txBody>
      </p:sp>
      <p:grpSp>
        <p:nvGrpSpPr>
          <p:cNvPr id="17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14" name="Line 14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30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从真实衣柜，到日常选择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路演目录 / 六个问题，讲清鱼搭</a:t>
            </a:r>
          </a:p>
        </p:txBody>
      </p:sp>
      <p:sp>
        <p:nvSpPr>
          <p:cNvPr id="5" name="AutoShape 5"/>
          <p:cNvSpPr/>
          <p:nvPr/>
        </p:nvSpPr>
        <p:spPr>
          <a:xfrm>
            <a:off x="609600" y="21336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647700" y="21717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447800" y="21336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为什么做</a:t>
            </a:r>
          </a:p>
        </p:txBody>
      </p:sp>
      <p:sp>
        <p:nvSpPr>
          <p:cNvPr id="8" name="AutoShape 8"/>
          <p:cNvSpPr/>
          <p:nvPr/>
        </p:nvSpPr>
        <p:spPr>
          <a:xfrm>
            <a:off x="1447800" y="26098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衣柜很满，选择仍难</a:t>
            </a:r>
          </a:p>
        </p:txBody>
      </p:sp>
      <p:sp>
        <p:nvSpPr>
          <p:cNvPr id="9" name="AutoShape 9"/>
          <p:cNvSpPr/>
          <p:nvPr/>
        </p:nvSpPr>
        <p:spPr>
          <a:xfrm>
            <a:off x="6324600" y="21336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0" name="AutoShape 10"/>
          <p:cNvSpPr/>
          <p:nvPr/>
        </p:nvSpPr>
        <p:spPr>
          <a:xfrm>
            <a:off x="6362700" y="21717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162800" y="21336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产品如何工作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162800" y="26098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入柜 · 推荐 · 搭台 · OOTD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09600" y="33909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4" name="AutoShape 14"/>
          <p:cNvSpPr/>
          <p:nvPr/>
        </p:nvSpPr>
        <p:spPr>
          <a:xfrm>
            <a:off x="64770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447800" y="33909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创新与算法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447800" y="38671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本地检索 · 可解释推荐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24600" y="33909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8" name="AutoShape 18"/>
          <p:cNvSpPr/>
          <p:nvPr/>
        </p:nvSpPr>
        <p:spPr>
          <a:xfrm>
            <a:off x="636270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162800" y="33909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技术如何支撑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162800" y="38671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Web · 模型 · 持久任务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09600" y="46482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22" name="AutoShape 22"/>
          <p:cNvSpPr/>
          <p:nvPr/>
        </p:nvSpPr>
        <p:spPr>
          <a:xfrm>
            <a:off x="6477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447800" y="46482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用户与商业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447800" y="51244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共创验证 · 订阅与额度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24600" y="4648200"/>
            <a:ext cx="533400" cy="5334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26" name="AutoShape 26"/>
          <p:cNvSpPr/>
          <p:nvPr/>
        </p:nvSpPr>
        <p:spPr>
          <a:xfrm>
            <a:off x="63627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162800" y="46482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937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团队与下一步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162800" y="51244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鱼力无限 · 作品与规划</a:t>
            </a:r>
          </a:p>
        </p:txBody>
      </p:sp>
      <p:grpSp>
        <p:nvGrpSpPr>
          <p:cNvPr id="54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51" name="Line 5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52" name="TextBox 52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53" name="TextBox 53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609600" y="1219200"/>
              <a:ext cx="10972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445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01 · 需求洞察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衣柜很满，选择仍然很难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1962150"/>
            <a:ext cx="52387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27940" rIns="0" bIns="0" anchor="t" anchorCtr="0">
            <a:noAutofit/>
          </a:bodyPr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照片分散、灵感难落地，</a:t>
            </a:r>
            <a:br>
              <a:rPr lang="zh-CN" sz="18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出门前仍然反复选择那几件。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1526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7" name="AutoShape 7"/>
          <p:cNvSpPr/>
          <p:nvPr/>
        </p:nvSpPr>
        <p:spPr>
          <a:xfrm>
            <a:off x="6324600" y="21526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AutoShape 8"/>
          <p:cNvSpPr/>
          <p:nvPr/>
        </p:nvSpPr>
        <p:spPr>
          <a:xfrm>
            <a:off x="7010400" y="213360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今天，适合穿什么？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7010400" y="2628900"/>
            <a:ext cx="42862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建议有依据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24600" y="33909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1" name="AutoShape 11"/>
          <p:cNvSpPr/>
          <p:nvPr/>
        </p:nvSpPr>
        <p:spPr>
          <a:xfrm>
            <a:off x="6324600" y="3390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010400" y="337185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衣物多，难以记忆和查找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010400" y="3867150"/>
            <a:ext cx="42862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衣柜可搜索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24600" y="4629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5" name="AutoShape 15"/>
          <p:cNvSpPr/>
          <p:nvPr/>
        </p:nvSpPr>
        <p:spPr>
          <a:xfrm>
            <a:off x="6324600" y="4629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010400" y="461010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有灵感，却难用自己的衣物还原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010400" y="5105400"/>
            <a:ext cx="42862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组合可编辑</a:t>
            </a:r>
          </a:p>
        </p:txBody>
      </p:sp>
      <p:grpSp>
        <p:nvGrpSpPr>
          <p:cNvPr id="34" name="图片 17"/>
          <p:cNvGrpSpPr/>
          <p:nvPr/>
        </p:nvGrpSpPr>
        <p:grpSpPr>
          <a:xfrm>
            <a:off x="948023" y="2914650"/>
            <a:ext cx="2305717" cy="2915317"/>
            <a:chOff x="948023" y="2914650"/>
            <a:chExt cx="2305717" cy="2915317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23" y="2914650"/>
              <a:ext cx="2305717" cy="2915317"/>
            </a:xfrm>
            <a:custGeom>
              <a:avLst/>
              <a:gdLst/>
              <a:ahLst/>
              <a:cxnLst/>
              <a:rect l="l" t="t" r="r" b="b"/>
              <a:pathLst>
                <a:path w="2305717" h="2915317">
                  <a:moveTo>
                    <a:pt x="0" y="384334"/>
                  </a:moveTo>
                  <a:cubicBezTo>
                    <a:pt x="0" y="282416"/>
                    <a:pt x="40481" y="184690"/>
                    <a:pt x="112585" y="112585"/>
                  </a:cubicBezTo>
                  <a:cubicBezTo>
                    <a:pt x="184690" y="40481"/>
                    <a:pt x="282416" y="0"/>
                    <a:pt x="384334" y="0"/>
                  </a:cubicBezTo>
                  <a:lnTo>
                    <a:pt x="1921383" y="0"/>
                  </a:lnTo>
                  <a:cubicBezTo>
                    <a:pt x="2023300" y="0"/>
                    <a:pt x="2121027" y="40481"/>
                    <a:pt x="2193131" y="112585"/>
                  </a:cubicBezTo>
                  <a:cubicBezTo>
                    <a:pt x="2265236" y="184690"/>
                    <a:pt x="2305717" y="282416"/>
                    <a:pt x="2305717" y="384334"/>
                  </a:cubicBezTo>
                  <a:lnTo>
                    <a:pt x="2305717" y="2530983"/>
                  </a:lnTo>
                  <a:cubicBezTo>
                    <a:pt x="2305717" y="2632900"/>
                    <a:pt x="2265236" y="2730627"/>
                    <a:pt x="2193131" y="2802731"/>
                  </a:cubicBezTo>
                  <a:cubicBezTo>
                    <a:pt x="2121027" y="2874836"/>
                    <a:pt x="2023300" y="2915317"/>
                    <a:pt x="1921383" y="2915317"/>
                  </a:cubicBezTo>
                  <a:lnTo>
                    <a:pt x="384334" y="2915317"/>
                  </a:lnTo>
                  <a:cubicBezTo>
                    <a:pt x="282416" y="2915317"/>
                    <a:pt x="184690" y="2874836"/>
                    <a:pt x="112585" y="2802731"/>
                  </a:cubicBezTo>
                  <a:cubicBezTo>
                    <a:pt x="40481" y="2730627"/>
                    <a:pt x="0" y="2632900"/>
                    <a:pt x="0" y="2530983"/>
                  </a:cubicBezTo>
                  <a:close/>
                </a:path>
              </a:pathLst>
            </a:custGeom>
          </p:spPr>
        </p:pic>
      </p:grpSp>
      <p:grpSp>
        <p:nvGrpSpPr>
          <p:cNvPr id="38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5" name="Line 3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6" name="TextBox 36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blipFill>
          <a:blip r:embed="rId1">
            <a:alphaModFix amt="7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" name="TextBox 2"/>
            <p:cNvSpPr/>
            <p:nvPr/>
          </p:nvSpPr>
          <p:spPr>
            <a:xfrm>
              <a:off x="609600" y="1219200"/>
              <a:ext cx="10972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445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01 · 项目立意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把衣柜，变成决策资源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609600" y="1885950"/>
              <a:ext cx="106680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556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从真实衣物出发，让每次选择都有依据。</a:t>
              </a:r>
            </a:p>
          </p:txBody>
        </p:sp>
      </p:grpSp>
      <p:grpSp>
        <p:nvGrpSpPr>
          <p:cNvPr id="27" name="decision-chain"/>
          <p:cNvGrpSpPr/>
          <p:nvPr/>
        </p:nvGrpSpPr>
        <p:grpSpPr>
          <a:xfrm>
            <a:off x="609600" y="2781300"/>
            <a:ext cx="10801350" cy="2124075"/>
            <a:chOff x="609600" y="2781300"/>
            <a:chExt cx="10801350" cy="2124075"/>
          </a:xfrm>
        </p:grpSpPr>
        <p:sp>
          <p:nvSpPr>
            <p:cNvPr id="6" name="Line 6"/>
            <p:cNvSpPr/>
            <p:nvPr/>
          </p:nvSpPr>
          <p:spPr>
            <a:xfrm>
              <a:off x="990600" y="2895600"/>
              <a:ext cx="10325100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grpSp>
          <p:nvGrpSpPr>
            <p:cNvPr id="11" name="own"/>
            <p:cNvGrpSpPr/>
            <p:nvPr/>
          </p:nvGrpSpPr>
          <p:grpSpPr>
            <a:xfrm>
              <a:off x="609600" y="2781300"/>
              <a:ext cx="2571750" cy="2124075"/>
              <a:chOff x="609600" y="2781300"/>
              <a:chExt cx="2571750" cy="21240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76300" y="2781300"/>
                <a:ext cx="228600" cy="2286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8" name="TextBox 8"/>
              <p:cNvSpPr/>
              <p:nvPr/>
            </p:nvSpPr>
            <p:spPr>
              <a:xfrm>
                <a:off x="609600" y="3352800"/>
                <a:ext cx="24765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4699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拥有</a:t>
                </a:r>
              </a:p>
            </p:txBody>
          </p:sp>
          <p:sp>
            <p:nvSpPr>
              <p:cNvPr id="9" name="TextBox 9"/>
              <p:cNvSpPr/>
              <p:nvPr/>
            </p:nvSpPr>
            <p:spPr>
              <a:xfrm>
                <a:off x="609600" y="4057650"/>
                <a:ext cx="2571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556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真实衣物</a:t>
                </a:r>
              </a:p>
            </p:txBody>
          </p:sp>
          <p:sp>
            <p:nvSpPr>
              <p:cNvPr id="10" name="TextBox 10"/>
              <p:cNvSpPr/>
              <p:nvPr/>
            </p:nvSpPr>
            <p:spPr>
              <a:xfrm>
                <a:off x="609600" y="4572000"/>
                <a:ext cx="24765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29528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库存成为起点</a:t>
                </a:r>
              </a:p>
            </p:txBody>
          </p:sp>
        </p:grpSp>
        <p:grpSp>
          <p:nvGrpSpPr>
            <p:cNvPr id="16" name="understand"/>
            <p:cNvGrpSpPr/>
            <p:nvPr/>
          </p:nvGrpSpPr>
          <p:grpSpPr>
            <a:xfrm>
              <a:off x="3352800" y="2781300"/>
              <a:ext cx="2571750" cy="2124075"/>
              <a:chOff x="3352800" y="2781300"/>
              <a:chExt cx="2571750" cy="212407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3619500" y="2781300"/>
                <a:ext cx="228600" cy="2286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3" name="TextBox 13"/>
              <p:cNvSpPr/>
              <p:nvPr/>
            </p:nvSpPr>
            <p:spPr>
              <a:xfrm>
                <a:off x="3352800" y="3352800"/>
                <a:ext cx="24765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4699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理解</a:t>
                </a:r>
              </a:p>
            </p:txBody>
          </p:sp>
          <p:sp>
            <p:nvSpPr>
              <p:cNvPr id="14" name="TextBox 14"/>
              <p:cNvSpPr/>
              <p:nvPr/>
            </p:nvSpPr>
            <p:spPr>
              <a:xfrm>
                <a:off x="3352800" y="4057650"/>
                <a:ext cx="2571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556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属性与图像</a:t>
                </a:r>
              </a:p>
            </p:txBody>
          </p:sp>
          <p:sp>
            <p:nvSpPr>
              <p:cNvPr id="15" name="TextBox 15"/>
              <p:cNvSpPr/>
              <p:nvPr/>
            </p:nvSpPr>
            <p:spPr>
              <a:xfrm>
                <a:off x="3352800" y="4572000"/>
                <a:ext cx="24765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29528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知道适合什么</a:t>
                </a:r>
              </a:p>
            </p:txBody>
          </p:sp>
        </p:grpSp>
        <p:grpSp>
          <p:nvGrpSpPr>
            <p:cNvPr id="21" name="choose"/>
            <p:cNvGrpSpPr/>
            <p:nvPr/>
          </p:nvGrpSpPr>
          <p:grpSpPr>
            <a:xfrm>
              <a:off x="6096000" y="2781300"/>
              <a:ext cx="2571750" cy="2124075"/>
              <a:chOff x="6096000" y="2781300"/>
              <a:chExt cx="2571750" cy="212407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362700" y="2781300"/>
                <a:ext cx="228600" cy="2286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8" name="TextBox 18"/>
              <p:cNvSpPr/>
              <p:nvPr/>
            </p:nvSpPr>
            <p:spPr>
              <a:xfrm>
                <a:off x="6096000" y="3352800"/>
                <a:ext cx="24765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4699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选择</a:t>
                </a:r>
              </a:p>
            </p:txBody>
          </p:sp>
          <p:sp>
            <p:nvSpPr>
              <p:cNvPr id="19" name="TextBox 19"/>
              <p:cNvSpPr/>
              <p:nvPr/>
            </p:nvSpPr>
            <p:spPr>
              <a:xfrm>
                <a:off x="6096000" y="4057650"/>
                <a:ext cx="2571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556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场景 · 天气 · 风格</a:t>
                </a:r>
              </a:p>
            </p:txBody>
          </p:sp>
          <p:sp>
            <p:nvSpPr>
              <p:cNvPr id="20" name="TextBox 20"/>
              <p:cNvSpPr/>
              <p:nvPr/>
            </p:nvSpPr>
            <p:spPr>
              <a:xfrm>
                <a:off x="6096000" y="4572000"/>
                <a:ext cx="24765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29528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选择附带理由</a:t>
                </a:r>
              </a:p>
            </p:txBody>
          </p:sp>
        </p:grpSp>
        <p:grpSp>
          <p:nvGrpSpPr>
            <p:cNvPr id="26" name="feedback"/>
            <p:cNvGrpSpPr/>
            <p:nvPr/>
          </p:nvGrpSpPr>
          <p:grpSpPr>
            <a:xfrm>
              <a:off x="8839200" y="2781300"/>
              <a:ext cx="2571750" cy="2124075"/>
              <a:chOff x="8839200" y="2781300"/>
              <a:chExt cx="2571750" cy="212407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105900" y="2781300"/>
                <a:ext cx="228600" cy="2286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3" name="TextBox 23"/>
              <p:cNvSpPr/>
              <p:nvPr/>
            </p:nvSpPr>
            <p:spPr>
              <a:xfrm>
                <a:off x="8839200" y="3352800"/>
                <a:ext cx="24765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4699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反馈</a:t>
                </a:r>
              </a:p>
            </p:txBody>
          </p:sp>
          <p:sp>
            <p:nvSpPr>
              <p:cNvPr id="24" name="TextBox 24"/>
              <p:cNvSpPr/>
              <p:nvPr/>
            </p:nvSpPr>
            <p:spPr>
              <a:xfrm>
                <a:off x="8839200" y="4057650"/>
                <a:ext cx="2571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556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换件 · 喜好 · 恢复</a:t>
                </a:r>
              </a:p>
            </p:txBody>
          </p:sp>
          <p:sp>
            <p:nvSpPr>
              <p:cNvPr id="25" name="TextBox 25"/>
              <p:cNvSpPr/>
              <p:nvPr/>
            </p:nvSpPr>
            <p:spPr>
              <a:xfrm>
                <a:off x="8839200" y="4572000"/>
                <a:ext cx="24765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29528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影响下一次选择</a:t>
                </a:r>
              </a:p>
            </p:txBody>
          </p:sp>
        </p:grpSp>
      </p:grpSp>
      <p:grpSp>
        <p:nvGrpSpPr>
          <p:cNvPr id="29" name="goal"/>
          <p:cNvGrpSpPr/>
          <p:nvPr/>
        </p:nvGrpSpPr>
        <p:grpSpPr>
          <a:xfrm>
            <a:off x="609600" y="5524500"/>
            <a:ext cx="10972800" cy="428625"/>
            <a:chOff x="609600" y="5524500"/>
            <a:chExt cx="10972800" cy="428625"/>
          </a:xfrm>
        </p:grpSpPr>
        <p:sp>
          <p:nvSpPr>
            <p:cNvPr id="28" name="TextBox 28"/>
            <p:cNvSpPr/>
            <p:nvPr/>
          </p:nvSpPr>
          <p:spPr>
            <a:xfrm>
              <a:off x="609600" y="5524500"/>
              <a:ext cx="109728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508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让更多已有衣物进入日常；实际效果仍需用户验证。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324600"/>
            <a:ext cx="10800778" cy="234696"/>
            <a:chOff x="603504" y="6324600"/>
            <a:chExt cx="10800778" cy="234696"/>
          </a:xfrm>
        </p:grpSpPr>
        <p:sp>
          <p:nvSpPr>
            <p:cNvPr id="30" name="TextBox 30"/>
            <p:cNvSpPr/>
            <p:nvPr/>
          </p:nvSpPr>
          <p:spPr>
            <a:xfrm>
              <a:off x="603504" y="6324600"/>
              <a:ext cx="2476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项目立意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11214354" y="6324600"/>
              <a:ext cx="189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7" name="shape-2-foreground"/>
            <p:cNvSpPr/>
            <p:nvPr/>
          </p:nvSpPr>
          <p:spPr>
            <a:xfrm>
              <a:off x="609600" y="1219200"/>
              <a:ext cx="10972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445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02 · 网站功能 / 快速入柜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拍一件，收一件</a:t>
            </a:r>
          </a:p>
        </p:txBody>
      </p:sp>
      <p:grpSp>
        <p:nvGrpSpPr>
          <p:cNvPr id="11" name="Picture 4"/>
          <p:cNvGrpSpPr/>
          <p:nvPr/>
        </p:nvGrpSpPr>
        <p:grpSpPr>
          <a:xfrm>
            <a:off x="4572000" y="1809750"/>
            <a:ext cx="6858000" cy="4286250"/>
            <a:chOff x="4572000" y="1809750"/>
            <a:chExt cx="6858000" cy="42862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000" y="1809750"/>
              <a:ext cx="6858000" cy="4286250"/>
            </a:xfrm>
            <a:prstGeom prst="rect">
              <a:avLst/>
            </a:prstGeom>
          </p:spPr>
        </p:pic>
      </p:grpSp>
      <p:sp>
        <p:nvSpPr>
          <p:cNvPr id="5" name="AutoShape 5"/>
          <p:cNvSpPr/>
          <p:nvPr/>
        </p:nvSpPr>
        <p:spPr>
          <a:xfrm>
            <a:off x="609600" y="5791200"/>
            <a:ext cx="35242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25718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实时网站画面 · 完整操作区</a:t>
            </a:r>
          </a:p>
        </p:txBody>
      </p:sp>
      <p:grpSp>
        <p:nvGrpSpPr>
          <p:cNvPr id="16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13" name="Line 1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  <p:grpSp>
        <p:nvGrpSpPr>
          <p:cNvPr id="21" name="intake-step-1"/>
          <p:cNvGrpSpPr/>
          <p:nvPr/>
        </p:nvGrpSpPr>
        <p:grpSpPr>
          <a:xfrm>
            <a:off x="609600" y="2133600"/>
            <a:ext cx="381000" cy="386207"/>
            <a:chOff x="609600" y="2133600"/>
            <a:chExt cx="381000" cy="386207"/>
          </a:xfrm>
        </p:grpSpPr>
        <p:sp>
          <p:nvSpPr>
            <p:cNvPr id="19" name="Ellipse 19"/>
            <p:cNvSpPr/>
            <p:nvPr/>
          </p:nvSpPr>
          <p:spPr>
            <a:xfrm>
              <a:off x="609600" y="2133600"/>
              <a:ext cx="381000" cy="381000"/>
            </a:xfrm>
            <a:prstGeom prst="ellipse">
              <a:avLst/>
            </a:prstGeom>
            <a:solidFill>
              <a:srgbClr val="1F5C4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7580" y="21971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</p:grpSp>
      <p:grpSp>
        <p:nvGrpSpPr>
          <p:cNvPr id="23" name="intake-title-1"/>
          <p:cNvGrpSpPr/>
          <p:nvPr/>
        </p:nvGrpSpPr>
        <p:grpSpPr>
          <a:xfrm>
            <a:off x="1171194" y="2155190"/>
            <a:ext cx="1332357" cy="381381"/>
            <a:chOff x="1171194" y="2155190"/>
            <a:chExt cx="1332357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1171194" y="215519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拍照或选图</a:t>
              </a:r>
            </a:p>
          </p:txBody>
        </p:sp>
      </p:grpSp>
      <p:grpSp>
        <p:nvGrpSpPr>
          <p:cNvPr id="25" name="intake-body-1"/>
          <p:cNvGrpSpPr/>
          <p:nvPr/>
        </p:nvGrpSpPr>
        <p:grpSpPr>
          <a:xfrm>
            <a:off x="1173099" y="2648902"/>
            <a:ext cx="2206808" cy="308991"/>
            <a:chOff x="1173099" y="2648902"/>
            <a:chExt cx="2206808" cy="308991"/>
          </a:xfrm>
        </p:grpSpPr>
        <p:sp>
          <p:nvSpPr>
            <p:cNvPr id="24" name="TextBox 24"/>
            <p:cNvSpPr txBox="1"/>
            <p:nvPr/>
          </p:nvSpPr>
          <p:spPr>
            <a:xfrm>
              <a:off x="1173099" y="2648902"/>
              <a:ext cx="220680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相册多选 · 拖拽 · 粘贴</a:t>
              </a:r>
            </a:p>
          </p:txBody>
        </p:sp>
      </p:grpSp>
      <p:grpSp>
        <p:nvGrpSpPr>
          <p:cNvPr id="28" name="intake-step-2"/>
          <p:cNvGrpSpPr/>
          <p:nvPr/>
        </p:nvGrpSpPr>
        <p:grpSpPr>
          <a:xfrm>
            <a:off x="609600" y="3276600"/>
            <a:ext cx="381000" cy="386207"/>
            <a:chOff x="609600" y="3276600"/>
            <a:chExt cx="381000" cy="386207"/>
          </a:xfrm>
        </p:grpSpPr>
        <p:sp>
          <p:nvSpPr>
            <p:cNvPr id="26" name="Ellipse 26"/>
            <p:cNvSpPr/>
            <p:nvPr/>
          </p:nvSpPr>
          <p:spPr>
            <a:xfrm>
              <a:off x="609600" y="3276600"/>
              <a:ext cx="381000" cy="381000"/>
            </a:xfrm>
            <a:prstGeom prst="ellipse">
              <a:avLst/>
            </a:prstGeom>
            <a:solidFill>
              <a:srgbClr val="1F5C4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7580" y="33401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</p:grpSp>
      <p:grpSp>
        <p:nvGrpSpPr>
          <p:cNvPr id="30" name="intake-title-2"/>
          <p:cNvGrpSpPr/>
          <p:nvPr/>
        </p:nvGrpSpPr>
        <p:grpSpPr>
          <a:xfrm>
            <a:off x="1171194" y="3298190"/>
            <a:ext cx="1332357" cy="381381"/>
            <a:chOff x="1171194" y="3298190"/>
            <a:chExt cx="1332357" cy="381381"/>
          </a:xfrm>
        </p:grpSpPr>
        <p:sp>
          <p:nvSpPr>
            <p:cNvPr id="29" name="TextBox 29"/>
            <p:cNvSpPr txBox="1"/>
            <p:nvPr/>
          </p:nvSpPr>
          <p:spPr>
            <a:xfrm>
              <a:off x="1171194" y="329819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先看到贴纸</a:t>
              </a:r>
            </a:p>
          </p:txBody>
        </p:sp>
      </p:grpSp>
      <p:grpSp>
        <p:nvGrpSpPr>
          <p:cNvPr id="32" name="intake-body-2"/>
          <p:cNvGrpSpPr/>
          <p:nvPr/>
        </p:nvGrpSpPr>
        <p:grpSpPr>
          <a:xfrm>
            <a:off x="1173099" y="3791902"/>
            <a:ext cx="2355698" cy="308991"/>
            <a:chOff x="1173099" y="3791902"/>
            <a:chExt cx="2355698" cy="308991"/>
          </a:xfrm>
        </p:grpSpPr>
        <p:sp>
          <p:nvSpPr>
            <p:cNvPr id="31" name="TextBox 31"/>
            <p:cNvSpPr txBox="1"/>
            <p:nvPr/>
          </p:nvSpPr>
          <p:spPr>
            <a:xfrm>
              <a:off x="1173099" y="3791902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后台处理，无需原地等待</a:t>
              </a:r>
            </a:p>
          </p:txBody>
        </p:sp>
      </p:grpSp>
      <p:grpSp>
        <p:nvGrpSpPr>
          <p:cNvPr id="35" name="intake-step-3"/>
          <p:cNvGrpSpPr/>
          <p:nvPr/>
        </p:nvGrpSpPr>
        <p:grpSpPr>
          <a:xfrm>
            <a:off x="609600" y="4419600"/>
            <a:ext cx="381000" cy="386207"/>
            <a:chOff x="609600" y="4419600"/>
            <a:chExt cx="381000" cy="386207"/>
          </a:xfrm>
        </p:grpSpPr>
        <p:sp>
          <p:nvSpPr>
            <p:cNvPr id="33" name="Ellipse 33"/>
            <p:cNvSpPr/>
            <p:nvPr/>
          </p:nvSpPr>
          <p:spPr>
            <a:xfrm>
              <a:off x="609600" y="4419600"/>
              <a:ext cx="381000" cy="381000"/>
            </a:xfrm>
            <a:prstGeom prst="ellipse">
              <a:avLst/>
            </a:prstGeom>
            <a:solidFill>
              <a:srgbClr val="1F5C4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7580" y="44831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37" name="intake-title-3"/>
          <p:cNvGrpSpPr/>
          <p:nvPr/>
        </p:nvGrpSpPr>
        <p:grpSpPr>
          <a:xfrm>
            <a:off x="1171194" y="4441190"/>
            <a:ext cx="1594866" cy="381381"/>
            <a:chOff x="1171194" y="4441190"/>
            <a:chExt cx="1594866" cy="381381"/>
          </a:xfrm>
        </p:grpSpPr>
        <p:sp>
          <p:nvSpPr>
            <p:cNvPr id="36" name="TextBox 36"/>
            <p:cNvSpPr txBox="1"/>
            <p:nvPr/>
          </p:nvSpPr>
          <p:spPr>
            <a:xfrm>
              <a:off x="1171194" y="444119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入柜后可修改</a:t>
              </a:r>
            </a:p>
          </p:txBody>
        </p:sp>
      </p:grpSp>
      <p:grpSp>
        <p:nvGrpSpPr>
          <p:cNvPr id="39" name="intake-body-3"/>
          <p:cNvGrpSpPr/>
          <p:nvPr/>
        </p:nvGrpSpPr>
        <p:grpSpPr>
          <a:xfrm>
            <a:off x="1173099" y="4934902"/>
            <a:ext cx="2355698" cy="308991"/>
            <a:chOff x="1173099" y="4934902"/>
            <a:chExt cx="2355698" cy="308991"/>
          </a:xfrm>
        </p:grpSpPr>
        <p:sp>
          <p:nvSpPr>
            <p:cNvPr id="38" name="TextBox 38"/>
            <p:cNvSpPr txBox="1"/>
            <p:nvPr/>
          </p:nvSpPr>
          <p:spPr>
            <a:xfrm>
              <a:off x="1173099" y="4934902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资料、图片仍可继续调整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pattFill prst="pct25">
          <a:fgClr>
            <a:schemeClr val="accent1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grpSp>
        <p:nvGrpSpPr>
          <p:cNvPr id="40" name="loo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2667000"/>
              <a:ext cx="342900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7772400" y="2667000"/>
              <a:ext cx="342900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9906000" y="3409950"/>
              <a:ext cx="0" cy="38100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886700" y="4572000"/>
              <a:ext cx="342900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grpSp>
          <p:nvGrpSpPr>
            <p:cNvPr id="14" name="intake"/>
            <p:cNvGrpSpPr/>
            <p:nvPr/>
          </p:nvGrpSpPr>
          <p:grpSpPr>
            <a:xfrm>
              <a:off x="609600" y="2000250"/>
              <a:ext cx="3352800" cy="1333500"/>
              <a:chOff x="609600" y="2000250"/>
              <a:chExt cx="3352800" cy="13335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09600" y="2000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38200" y="2228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1" name="TextBox 11"/>
              <p:cNvSpPr/>
              <p:nvPr/>
            </p:nvSpPr>
            <p:spPr>
              <a:xfrm>
                <a:off x="838200" y="2228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2" name="TextBox 12"/>
              <p:cNvSpPr/>
              <p:nvPr/>
            </p:nvSpPr>
            <p:spPr>
              <a:xfrm>
                <a:off x="1485900" y="2228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拍照入柜</a:t>
                </a:r>
              </a:p>
            </p:txBody>
          </p:sp>
          <p:sp>
            <p:nvSpPr>
              <p:cNvPr id="13" name="TextBox 13"/>
              <p:cNvSpPr/>
              <p:nvPr/>
            </p:nvSpPr>
            <p:spPr>
              <a:xfrm>
                <a:off x="1485900" y="2771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照片转成衣物资产</a:t>
                </a:r>
              </a:p>
            </p:txBody>
          </p:sp>
        </p:grpSp>
        <p:grpSp>
          <p:nvGrpSpPr>
            <p:cNvPr id="19" name="search"/>
            <p:cNvGrpSpPr/>
            <p:nvPr/>
          </p:nvGrpSpPr>
          <p:grpSpPr>
            <a:xfrm>
              <a:off x="4419600" y="2000250"/>
              <a:ext cx="3352800" cy="1333500"/>
              <a:chOff x="4419600" y="2000250"/>
              <a:chExt cx="3352800" cy="1333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000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648200" y="2228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6" name="TextBox 16"/>
              <p:cNvSpPr/>
              <p:nvPr/>
            </p:nvSpPr>
            <p:spPr>
              <a:xfrm>
                <a:off x="4648200" y="2228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7" name="TextBox 17"/>
              <p:cNvSpPr/>
              <p:nvPr/>
            </p:nvSpPr>
            <p:spPr>
              <a:xfrm>
                <a:off x="5295900" y="2228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混合检索</a:t>
                </a:r>
              </a:p>
            </p:txBody>
          </p:sp>
          <p:sp>
            <p:nvSpPr>
              <p:cNvPr id="18" name="TextBox 18"/>
              <p:cNvSpPr/>
              <p:nvPr/>
            </p:nvSpPr>
            <p:spPr>
              <a:xfrm>
                <a:off x="5295900" y="2771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字段 · 文本 · 图像</a:t>
                </a:r>
              </a:p>
            </p:txBody>
          </p:sp>
        </p:grpSp>
        <p:grpSp>
          <p:nvGrpSpPr>
            <p:cNvPr id="24" name="recommend"/>
            <p:cNvGrpSpPr/>
            <p:nvPr/>
          </p:nvGrpSpPr>
          <p:grpSpPr>
            <a:xfrm>
              <a:off x="8229600" y="2000250"/>
              <a:ext cx="3352800" cy="1333500"/>
              <a:chOff x="8229600" y="2000250"/>
              <a:chExt cx="3352800" cy="1333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229600" y="2000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8458200" y="2228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1" name="TextBox 21"/>
              <p:cNvSpPr/>
              <p:nvPr/>
            </p:nvSpPr>
            <p:spPr>
              <a:xfrm>
                <a:off x="8458200" y="2228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22" name="TextBox 22"/>
              <p:cNvSpPr/>
              <p:nvPr/>
            </p:nvSpPr>
            <p:spPr>
              <a:xfrm>
                <a:off x="9105900" y="2228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计算推荐</a:t>
                </a:r>
              </a:p>
            </p:txBody>
          </p:sp>
          <p:sp>
            <p:nvSpPr>
              <p:cNvPr id="23" name="TextBox 23"/>
              <p:cNvSpPr/>
              <p:nvPr/>
            </p:nvSpPr>
            <p:spPr>
              <a:xfrm>
                <a:off x="9105900" y="2771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组合 · 评分 · 理由</a:t>
                </a:r>
              </a:p>
            </p:txBody>
          </p:sp>
        </p:grpSp>
        <p:grpSp>
          <p:nvGrpSpPr>
            <p:cNvPr id="29" name="compose"/>
            <p:cNvGrpSpPr/>
            <p:nvPr/>
          </p:nvGrpSpPr>
          <p:grpSpPr>
            <a:xfrm>
              <a:off x="8229600" y="3905250"/>
              <a:ext cx="3352800" cy="1333500"/>
              <a:chOff x="8229600" y="3905250"/>
              <a:chExt cx="3352800" cy="1333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229600" y="3905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458200" y="4133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6" name="TextBox 26"/>
              <p:cNvSpPr/>
              <p:nvPr/>
            </p:nvSpPr>
            <p:spPr>
              <a:xfrm>
                <a:off x="8458200" y="4133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27" name="TextBox 27"/>
              <p:cNvSpPr/>
              <p:nvPr/>
            </p:nvSpPr>
            <p:spPr>
              <a:xfrm>
                <a:off x="9105900" y="4133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搭台编辑</a:t>
                </a:r>
              </a:p>
            </p:txBody>
          </p:sp>
          <p:sp>
            <p:nvSpPr>
              <p:cNvPr id="28" name="TextBox 28"/>
              <p:cNvSpPr/>
              <p:nvPr/>
            </p:nvSpPr>
            <p:spPr>
              <a:xfrm>
                <a:off x="9105900" y="4676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多画板，自由接手</a:t>
                </a:r>
              </a:p>
            </p:txBody>
          </p:sp>
        </p:grpSp>
        <p:grpSp>
          <p:nvGrpSpPr>
            <p:cNvPr id="34" name="ootd"/>
            <p:cNvGrpSpPr/>
            <p:nvPr/>
          </p:nvGrpSpPr>
          <p:grpSpPr>
            <a:xfrm>
              <a:off x="4419600" y="3905250"/>
              <a:ext cx="3352800" cy="1333500"/>
              <a:chOff x="4419600" y="3905250"/>
              <a:chExt cx="3352800" cy="13335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4419600" y="3905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648200" y="4133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31" name="TextBox 31"/>
              <p:cNvSpPr/>
              <p:nvPr/>
            </p:nvSpPr>
            <p:spPr>
              <a:xfrm>
                <a:off x="4648200" y="4133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32" name="TextBox 32"/>
              <p:cNvSpPr/>
              <p:nvPr/>
            </p:nvSpPr>
            <p:spPr>
              <a:xfrm>
                <a:off x="5295900" y="4133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OOTD 预览</a:t>
                </a:r>
              </a:p>
            </p:txBody>
          </p:sp>
          <p:sp>
            <p:nvSpPr>
              <p:cNvPr id="33" name="TextBox 33"/>
              <p:cNvSpPr/>
              <p:nvPr/>
            </p:nvSpPr>
            <p:spPr>
              <a:xfrm>
                <a:off x="5295900" y="4676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模特 · 动作 · 调整</a:t>
                </a:r>
              </a:p>
            </p:txBody>
          </p:sp>
        </p:grpSp>
        <p:grpSp>
          <p:nvGrpSpPr>
            <p:cNvPr id="39" name="feedback"/>
            <p:cNvGrpSpPr/>
            <p:nvPr/>
          </p:nvGrpSpPr>
          <p:grpSpPr>
            <a:xfrm>
              <a:off x="609600" y="3905250"/>
              <a:ext cx="3352800" cy="1333500"/>
              <a:chOff x="609600" y="3905250"/>
              <a:chExt cx="3352800" cy="13335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09600" y="3905250"/>
                <a:ext cx="33528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E8E9EE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38200" y="41338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36" name="TextBox 36"/>
              <p:cNvSpPr/>
              <p:nvPr/>
            </p:nvSpPr>
            <p:spPr>
              <a:xfrm>
                <a:off x="838200" y="41338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101600" rIns="0" bIns="0" anchor="t" anchorCtr="0">
                <a:no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37" name="TextBox 37"/>
              <p:cNvSpPr/>
              <p:nvPr/>
            </p:nvSpPr>
            <p:spPr>
              <a:xfrm>
                <a:off x="1485900" y="4133850"/>
                <a:ext cx="23241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115" rIns="0" bIns="0" anchor="t" anchorCtr="0">
                <a:noAutofit/>
              </a:bodyPr>
              <a:lstStyle/>
              <a:p>
                <a:pPr algn="l"/>
                <a:r>
                  <a:rPr lang="zh-CN" sz="195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反馈调整</a:t>
                </a:r>
              </a:p>
            </p:txBody>
          </p:sp>
          <p:sp>
            <p:nvSpPr>
              <p:cNvPr id="38" name="TextBox 38"/>
              <p:cNvSpPr/>
              <p:nvPr/>
            </p:nvSpPr>
            <p:spPr>
              <a:xfrm>
                <a:off x="1485900" y="4676775"/>
                <a:ext cx="23241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175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偏好可恢复</a:t>
                </a:r>
              </a:p>
            </p:txBody>
          </p:sp>
        </p:grpSp>
      </p:grpSp>
      <p:sp>
        <p:nvSpPr>
          <p:cNvPr id="2" name="文本框 1"/>
          <p:cNvSpPr/>
          <p:nvPr/>
        </p:nvSpPr>
        <p:spPr>
          <a:xfrm>
            <a:off x="609600" y="5734050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21273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OOTD 仅作效果预览；真实合身与细节仍需线下确认。</a:t>
            </a:r>
          </a:p>
        </p:txBody>
      </p:sp>
      <p:sp>
        <p:nvSpPr>
          <p:cNvPr id="5" name="文本框 4"/>
          <p:cNvSpPr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从入柜到出门，一个完整闭环</a:t>
            </a:r>
          </a:p>
        </p:txBody>
      </p:sp>
      <p:sp>
        <p:nvSpPr>
          <p:cNvPr id="41" name="AutoShape 2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02 · 六步核心功能</a:t>
            </a:r>
          </a:p>
        </p:txBody>
      </p:sp>
      <p:grpSp>
        <p:nvGrpSpPr>
          <p:cNvPr id="65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62" name="Line 6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63" name="TextBox 63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64" name="TextBox 64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75" name="loop-link-0"/>
          <p:cNvGrpSpPr/>
          <p:nvPr/>
        </p:nvGrpSpPr>
        <p:grpSpPr>
          <a:xfrm>
            <a:off x="4076700" y="4572000"/>
            <a:ext cx="342900" cy="1"/>
            <a:chOff x="4076700" y="4572000"/>
            <a:chExt cx="342900" cy="1"/>
          </a:xfrm>
        </p:grpSpPr>
        <p:sp>
          <p:nvSpPr>
            <p:cNvPr id="74" name="Line 74"/>
            <p:cNvSpPr/>
            <p:nvPr/>
          </p:nvSpPr>
          <p:spPr>
            <a:xfrm flipH="1">
              <a:off x="4076700" y="4572000"/>
              <a:ext cx="342900" cy="1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</p:grpSp>
      <p:grpSp>
        <p:nvGrpSpPr>
          <p:cNvPr id="77" name="loop-link-1"/>
          <p:cNvGrpSpPr/>
          <p:nvPr/>
        </p:nvGrpSpPr>
        <p:grpSpPr>
          <a:xfrm>
            <a:off x="838200" y="3448050"/>
            <a:ext cx="1" cy="342900"/>
            <a:chOff x="838200" y="3448050"/>
            <a:chExt cx="1" cy="342900"/>
          </a:xfrm>
        </p:grpSpPr>
        <p:sp>
          <p:nvSpPr>
            <p:cNvPr id="76" name="Line 76"/>
            <p:cNvSpPr/>
            <p:nvPr/>
          </p:nvSpPr>
          <p:spPr>
            <a:xfrm flipV="1">
              <a:off x="838200" y="3448050"/>
              <a:ext cx="1" cy="34290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先看见价值，再看它如何工作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02 · 视频展示 / 素材制作完成后插入</a:t>
            </a:r>
          </a:p>
        </p:txBody>
      </p: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41" name="Line 4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11" name="video-slot-1"/>
          <p:cNvGrpSpPr/>
          <p:nvPr/>
        </p:nvGrpSpPr>
        <p:grpSpPr>
          <a:xfrm>
            <a:off x="609600" y="2095500"/>
            <a:ext cx="5257800" cy="2957512"/>
            <a:chOff x="609600" y="2095500"/>
            <a:chExt cx="5257800" cy="2957512"/>
          </a:xfrm>
        </p:grpSpPr>
        <p:sp>
          <p:nvSpPr>
            <p:cNvPr id="8" name="Rectangle 8"/>
            <p:cNvSpPr/>
            <p:nvPr/>
          </p:nvSpPr>
          <p:spPr>
            <a:xfrm>
              <a:off x="609600" y="2095500"/>
              <a:ext cx="5257800" cy="2957512"/>
            </a:xfrm>
            <a:prstGeom prst="roundRect">
              <a:avLst>
                <a:gd name="adj" fmla="val 5153"/>
              </a:avLst>
            </a:prstGeom>
            <a:solidFill>
              <a:srgbClr val="EEF6F1"/>
            </a:solidFill>
            <a:ln w="14288">
              <a:solidFill>
                <a:srgbClr val="1F5C45"/>
              </a:solidFill>
              <a:prstDash val="lgDash"/>
            </a:ln>
          </p:spPr>
        </p:sp>
        <p:sp>
          <p:nvSpPr>
            <p:cNvPr id="9" name="Ellipse 9"/>
            <p:cNvSpPr/>
            <p:nvPr/>
          </p:nvSpPr>
          <p:spPr>
            <a:xfrm>
              <a:off x="2905125" y="2752725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3162300" y="29337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0" y="304800"/>
                  </a:lnTo>
                  <a:lnTo>
                    <a:pt x="228600" y="152400"/>
                  </a:lnTo>
                  <a:close/>
                </a:path>
              </a:pathLst>
            </a:custGeom>
            <a:solidFill>
              <a:srgbClr val="1F5C45"/>
            </a:solidFill>
            <a:ln>
              <a:noFill/>
            </a:ln>
          </p:spPr>
        </p:sp>
      </p:grpSp>
      <p:grpSp>
        <p:nvGrpSpPr>
          <p:cNvPr id="13" name="video-title-1"/>
          <p:cNvGrpSpPr/>
          <p:nvPr/>
        </p:nvGrpSpPr>
        <p:grpSpPr>
          <a:xfrm>
            <a:off x="2621280" y="3673475"/>
            <a:ext cx="1234440" cy="440055"/>
            <a:chOff x="2621280" y="3673475"/>
            <a:chExt cx="123444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2621280" y="36734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宣传视频</a:t>
              </a:r>
            </a:p>
          </p:txBody>
        </p:sp>
      </p:grpSp>
      <p:grpSp>
        <p:nvGrpSpPr>
          <p:cNvPr id="15" name="video-status-1"/>
          <p:cNvGrpSpPr/>
          <p:nvPr/>
        </p:nvGrpSpPr>
        <p:grpSpPr>
          <a:xfrm>
            <a:off x="2387822" y="4289425"/>
            <a:ext cx="1701356" cy="293370"/>
            <a:chOff x="2387822" y="4289425"/>
            <a:chExt cx="1701356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2387822" y="4289425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视频待插入 · 16:9</a:t>
              </a:r>
            </a:p>
          </p:txBody>
        </p:sp>
      </p:grpSp>
      <p:grpSp>
        <p:nvGrpSpPr>
          <p:cNvPr id="17" name="video-caption-1"/>
          <p:cNvGrpSpPr/>
          <p:nvPr/>
        </p:nvGrpSpPr>
        <p:grpSpPr>
          <a:xfrm>
            <a:off x="1675257" y="5342255"/>
            <a:ext cx="3126486" cy="322707"/>
            <a:chOff x="1675257" y="5342255"/>
            <a:chExt cx="3126486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1675257" y="534225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从穿搭困境，到鱼搭的日常价值</a:t>
              </a:r>
            </a:p>
          </p:txBody>
        </p:sp>
      </p:grpSp>
      <p:grpSp>
        <p:nvGrpSpPr>
          <p:cNvPr id="21" name="video-slot-2"/>
          <p:cNvGrpSpPr/>
          <p:nvPr/>
        </p:nvGrpSpPr>
        <p:grpSpPr>
          <a:xfrm>
            <a:off x="6324600" y="2095500"/>
            <a:ext cx="5257800" cy="2957512"/>
            <a:chOff x="6324600" y="2095500"/>
            <a:chExt cx="5257800" cy="2957512"/>
          </a:xfrm>
        </p:grpSpPr>
        <p:sp>
          <p:nvSpPr>
            <p:cNvPr id="18" name="Rectangle 18"/>
            <p:cNvSpPr/>
            <p:nvPr/>
          </p:nvSpPr>
          <p:spPr>
            <a:xfrm>
              <a:off x="6324600" y="2095500"/>
              <a:ext cx="5257800" cy="2957512"/>
            </a:xfrm>
            <a:prstGeom prst="roundRect">
              <a:avLst>
                <a:gd name="adj" fmla="val 5153"/>
              </a:avLst>
            </a:prstGeom>
            <a:solidFill>
              <a:srgbClr val="EEF6F1"/>
            </a:solidFill>
            <a:ln w="14288">
              <a:solidFill>
                <a:srgbClr val="1F5C45"/>
              </a:solidFill>
              <a:prstDash val="lgDash"/>
            </a:ln>
          </p:spPr>
        </p:sp>
        <p:sp>
          <p:nvSpPr>
            <p:cNvPr id="19" name="Ellipse 19"/>
            <p:cNvSpPr/>
            <p:nvPr/>
          </p:nvSpPr>
          <p:spPr>
            <a:xfrm>
              <a:off x="8620125" y="2752725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Polygon 20"/>
            <p:cNvSpPr/>
            <p:nvPr/>
          </p:nvSpPr>
          <p:spPr>
            <a:xfrm>
              <a:off x="8877300" y="29337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0" y="304800"/>
                  </a:lnTo>
                  <a:lnTo>
                    <a:pt x="228600" y="152400"/>
                  </a:lnTo>
                  <a:close/>
                </a:path>
              </a:pathLst>
            </a:custGeom>
            <a:solidFill>
              <a:srgbClr val="1F5C45"/>
            </a:solidFill>
            <a:ln>
              <a:noFill/>
            </a:ln>
          </p:spPr>
        </p:sp>
      </p:grpSp>
      <p:grpSp>
        <p:nvGrpSpPr>
          <p:cNvPr id="25" name="video-title-2"/>
          <p:cNvGrpSpPr/>
          <p:nvPr/>
        </p:nvGrpSpPr>
        <p:grpSpPr>
          <a:xfrm>
            <a:off x="8336280" y="3673475"/>
            <a:ext cx="1234440" cy="440055"/>
            <a:chOff x="8336280" y="3673475"/>
            <a:chExt cx="1234440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8336280" y="36734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演示视频</a:t>
              </a:r>
            </a:p>
          </p:txBody>
        </p:sp>
      </p:grpSp>
      <p:grpSp>
        <p:nvGrpSpPr>
          <p:cNvPr id="27" name="video-status-2"/>
          <p:cNvGrpSpPr/>
          <p:nvPr/>
        </p:nvGrpSpPr>
        <p:grpSpPr>
          <a:xfrm>
            <a:off x="8102822" y="4289425"/>
            <a:ext cx="1701356" cy="293370"/>
            <a:chOff x="8102822" y="4289425"/>
            <a:chExt cx="1701356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8102822" y="4289425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视频待插入 · 16:9</a:t>
              </a:r>
            </a:p>
          </p:txBody>
        </p:sp>
      </p:grpSp>
      <p:grpSp>
        <p:nvGrpSpPr>
          <p:cNvPr id="29" name="video-caption-2"/>
          <p:cNvGrpSpPr/>
          <p:nvPr/>
        </p:nvGrpSpPr>
        <p:grpSpPr>
          <a:xfrm>
            <a:off x="7583253" y="5342255"/>
            <a:ext cx="2740495" cy="322707"/>
            <a:chOff x="7583253" y="5342255"/>
            <a:chExt cx="2740495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7583253" y="5342255"/>
              <a:ext cx="27404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入柜 → 推荐 → 搭台 → OOTD</a:t>
              </a:r>
            </a:p>
          </p:txBody>
        </p:sp>
      </p:grpSp>
      <p:grpSp>
        <p:nvGrpSpPr>
          <p:cNvPr id="31" name="video-note"/>
          <p:cNvGrpSpPr/>
          <p:nvPr/>
        </p:nvGrpSpPr>
        <p:grpSpPr>
          <a:xfrm>
            <a:off x="602742" y="5900420"/>
            <a:ext cx="4011930" cy="264033"/>
            <a:chOff x="602742" y="5900420"/>
            <a:chExt cx="4011930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602742" y="590042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同一页预留两个独立视频位，保留完整画面比例。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6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从用户问题，到可解释的实现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创新机制与用户价值</a:t>
            </a:r>
          </a:p>
        </p:txBody>
      </p:sp>
      <p:grpSp>
        <p:nvGrpSpPr>
          <p:cNvPr id="40" name="Table 4"/>
          <p:cNvGrpSpPr/>
          <p:nvPr/>
        </p:nvGrpSpPr>
        <p:grpSpPr>
          <a:xfrm>
            <a:off x="888968" y="1714500"/>
            <a:ext cx="10414064" cy="4191000"/>
            <a:chOff x="888968" y="1714500"/>
            <a:chExt cx="10414064" cy="4191000"/>
          </a:xfrm>
        </p:grpSpPr>
        <p:grpSp>
          <p:nvGrpSpPr>
            <p:cNvPr id="24" name="Group 24"/>
            <p:cNvGrpSpPr/>
            <p:nvPr/>
          </p:nvGrpSpPr>
          <p:grpSpPr>
            <a:xfrm>
              <a:off x="888968" y="1714500"/>
              <a:ext cx="10414064" cy="4191000"/>
              <a:chOff x="888968" y="1714500"/>
              <a:chExt cx="10414064" cy="4191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88968" y="1714500"/>
                <a:ext cx="1905000" cy="635032"/>
              </a:xfrm>
              <a:prstGeom prst="rect">
                <a:avLst/>
              </a:prstGeom>
              <a:solidFill>
                <a:srgbClr val="EEF6F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793968" y="1714500"/>
                <a:ext cx="4254532" cy="635032"/>
              </a:xfrm>
              <a:prstGeom prst="rect">
                <a:avLst/>
              </a:prstGeom>
              <a:solidFill>
                <a:srgbClr val="EEF6F1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048500" y="1714500"/>
                <a:ext cx="4254532" cy="635032"/>
              </a:xfrm>
              <a:prstGeom prst="rect">
                <a:avLst/>
              </a:prstGeom>
              <a:solidFill>
                <a:srgbClr val="EEF6F1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88968" y="2349532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793968" y="2349532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048500" y="2349532"/>
                <a:ext cx="4254532" cy="888968"/>
              </a:xfrm>
              <a:prstGeom prst="rect">
                <a:avLst/>
              </a:prstGeom>
              <a:solidFill>
                <a:srgbClr val="EEF6F1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88968" y="3238500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793968" y="3238500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7048500" y="3238500"/>
                <a:ext cx="4254532" cy="888968"/>
              </a:xfrm>
              <a:prstGeom prst="rect">
                <a:avLst/>
              </a:prstGeom>
              <a:solidFill>
                <a:srgbClr val="EEF6F1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88968" y="4127468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793968" y="4127468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048500" y="4127468"/>
                <a:ext cx="4254532" cy="888968"/>
              </a:xfrm>
              <a:prstGeom prst="rect">
                <a:avLst/>
              </a:prstGeom>
              <a:solidFill>
                <a:srgbClr val="EEF6F1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88968" y="5016532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793968" y="5016532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048500" y="5016532"/>
                <a:ext cx="4254532" cy="888968"/>
              </a:xfrm>
              <a:prstGeom prst="rect">
                <a:avLst/>
              </a:prstGeom>
              <a:solidFill>
                <a:srgbClr val="EEF6F1">
                  <a:alpha val="8000"/>
                </a:srgbClr>
              </a:solidFill>
              <a:ln>
                <a:noFill/>
              </a:ln>
            </p:spPr>
          </p:sp>
        </p:grpSp>
        <p:sp>
          <p:nvSpPr>
            <p:cNvPr id="25" name="TextBox 25"/>
            <p:cNvSpPr/>
            <p:nvPr/>
          </p:nvSpPr>
          <p:spPr>
            <a:xfrm>
              <a:off x="1066800" y="18097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7305" rIns="0" bIns="0" anchor="t" anchorCtr="0">
              <a:noAutofit/>
            </a:bodyPr>
            <a:lstStyle/>
            <a:p>
              <a:pPr algn="ctr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048000" y="1809750"/>
              <a:ext cx="37147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7305" rIns="0" bIns="0" anchor="t" anchorCtr="0">
              <a:noAutofit/>
            </a:bodyPr>
            <a:lstStyle/>
            <a:p>
              <a:pPr algn="ctr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用户问题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7239000" y="1809750"/>
              <a:ext cx="3905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7305" rIns="0" bIns="0" anchor="t" anchorCtr="0">
              <a:noAutofit/>
            </a:bodyPr>
            <a:lstStyle/>
            <a:p>
              <a:pPr algn="ctr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鱼搭机制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1066800" y="2400300"/>
              <a:ext cx="15240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图片处理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3048000" y="2400300"/>
              <a:ext cx="37147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上传后还要原地等待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7239000" y="2333625"/>
              <a:ext cx="390525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350" rIns="0" bIns="0" anchor="t" anchorCtr="0">
              <a:noAutofit/>
            </a:bodyPr>
            <a:lstStyle/>
            <a:p>
              <a:pPr algn="ctr">
                <a:lnSpc>
                  <a:spcPts val="2175"/>
                </a:lnSpc>
              </a:pP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持久任务</a:t>
              </a:r>
              <a:b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提交后查看状态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1066800" y="3289268"/>
              <a:ext cx="15240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输入可靠性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3048000" y="3289268"/>
              <a:ext cx="37147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背景复杂，属性难确认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7239000" y="3222593"/>
              <a:ext cx="390525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350" rIns="0" bIns="0" anchor="t" anchorCtr="0">
              <a:noAutofit/>
            </a:bodyPr>
            <a:lstStyle/>
            <a:p>
              <a:pPr algn="ctr">
                <a:lnSpc>
                  <a:spcPts val="2175"/>
                </a:lnSpc>
              </a:pP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本地抠图 · 属性证据</a:t>
              </a:r>
              <a:b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用户可核对与修正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66800" y="4178237"/>
              <a:ext cx="15240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推荐选择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3048000" y="4178237"/>
              <a:ext cx="37147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理由不清楚，结果总重复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7239000" y="4111562"/>
              <a:ext cx="390525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350" rIns="0" bIns="0" anchor="t" anchorCtr="0">
              <a:noAutofit/>
            </a:bodyPr>
            <a:lstStyle/>
            <a:p>
              <a:pPr algn="ctr">
                <a:lnSpc>
                  <a:spcPts val="2175"/>
                </a:lnSpc>
              </a:pP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规则解释 · 曝光均衡</a:t>
              </a:r>
              <a:b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反馈可恢复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1066800" y="5067205"/>
              <a:ext cx="15240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执行与成本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3048000" y="5067205"/>
              <a:ext cx="37147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ctr"/>
              <a:r>
                <a:rPr lang="zh-CN" sz="15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耗时与上游结果不确定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7239000" y="5000530"/>
              <a:ext cx="390525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350" rIns="0" bIns="0" anchor="t" anchorCtr="0">
              <a:noAutofit/>
            </a:bodyPr>
            <a:lstStyle/>
            <a:p>
              <a:pPr algn="ctr">
                <a:lnSpc>
                  <a:spcPts val="2175"/>
                </a:lnSpc>
              </a:pP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授权 · 回执 · 额度快照</a:t>
              </a:r>
              <a:b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5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未知结果不盲目重试</a:t>
              </a:r>
            </a:p>
          </p:txBody>
        </p:sp>
      </p:grp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41" name="Line 4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照片入柜，三道可靠性工序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图像处理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3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83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52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图像规整</a:t>
            </a:r>
          </a:p>
        </p:txBody>
      </p:sp>
      <p:sp>
        <p:nvSpPr>
          <p:cNvPr id="8" name="AutoShape 8"/>
          <p:cNvSpPr/>
          <p:nvPr/>
        </p:nvSpPr>
        <p:spPr>
          <a:xfrm>
            <a:off x="83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尺寸与方向规整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原图与展示派生分开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4038600" y="3524250"/>
            <a:ext cx="266700" cy="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441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464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2" name="AutoShape 12"/>
          <p:cNvSpPr/>
          <p:nvPr/>
        </p:nvSpPr>
        <p:spPr>
          <a:xfrm>
            <a:off x="464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33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本地抠图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64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1580" dirty="0">
                <a:solidFill>
                  <a:srgbClr val="666B76"/>
                </a:solidFill>
                <a:latin typeface="Arial"/>
                <a:ea typeface="Arial"/>
                <a:cs typeface="Arial"/>
              </a:rPr>
              <a:t>U²-Net / GrabCut</a:t>
            </a:r>
            <a:br>
              <a:rPr lang="en-US" sz="1580" dirty="0">
                <a:solidFill>
                  <a:srgbClr val="666B76"/>
                </a:solidFill>
                <a:latin typeface="Arial"/>
                <a:ea typeface="Arial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透明检查与恢复路径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7848600" y="3524250"/>
            <a:ext cx="266700" cy="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22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45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8" name="AutoShape 18"/>
          <p:cNvSpPr/>
          <p:nvPr/>
        </p:nvSpPr>
        <p:spPr>
          <a:xfrm>
            <a:off x="845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14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属性证据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45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确认 · 推测 · 未知 · 冲突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核对后形成衣物资料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09600" y="546735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后台处理，让用户继续下一件；实际耗时随图片、模型和资源变化。</a:t>
            </a:r>
          </a:p>
        </p:txBody>
      </p: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推荐有依据，变化也可计算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推荐算法 / 计算推荐不依赖远程大模型决策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3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83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52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混合召回</a:t>
            </a:r>
          </a:p>
        </p:txBody>
      </p:sp>
      <p:sp>
        <p:nvSpPr>
          <p:cNvPr id="8" name="AutoShape 8"/>
          <p:cNvSpPr/>
          <p:nvPr/>
        </p:nvSpPr>
        <p:spPr>
          <a:xfrm>
            <a:off x="83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字段与关键词约束候选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BGE / 可选 CLIP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补充语义相关性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4038600" y="3524250"/>
            <a:ext cx="266700" cy="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441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464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2" name="AutoShape 12"/>
          <p:cNvSpPr/>
          <p:nvPr/>
        </p:nvSpPr>
        <p:spPr>
          <a:xfrm>
            <a:off x="464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33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规则与风格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64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11 维评分 · 18 风格画像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结构底线 + 软评分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每次选择保留理由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7848600" y="3524250"/>
            <a:ext cx="266700" cy="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229600" y="2095500"/>
            <a:ext cx="3352800" cy="28575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45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8" name="AutoShape 18"/>
          <p:cNvSpPr/>
          <p:nvPr/>
        </p:nvSpPr>
        <p:spPr>
          <a:xfrm>
            <a:off x="845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144000" y="23812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曝光与反馈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458200" y="3257550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625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动态候选 · 曝光均衡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反馈衰减与重新排序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减少反复推荐同几件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09600" y="546735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复用预训练模型，贡献领域规则、可解释评分、重排与执行协议。</a:t>
            </a:r>
          </a:p>
        </p:txBody>
      </p: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2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网站架构：交互、计算与执行解耦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04 · 四层架构 / 技术与职责分开呈现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1809750"/>
            <a:ext cx="10972800" cy="838200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2571750" y="1924050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25083" rIns="0" bIns="0" anchor="t" anchorCtr="0">
            <a:noAutofit/>
          </a:bodyPr>
          <a:lstStyle/>
          <a:p>
            <a:pPr algn="l"/>
            <a:r>
              <a:rPr lang="en-US" sz="172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Vue 3 · TypeScript · Ant Design Vue · Konva</a:t>
            </a:r>
          </a:p>
        </p:txBody>
      </p:sp>
      <p:sp>
        <p:nvSpPr>
          <p:cNvPr id="6" name="AutoShape 6"/>
          <p:cNvSpPr/>
          <p:nvPr/>
        </p:nvSpPr>
        <p:spPr>
          <a:xfrm>
            <a:off x="2571750" y="2305050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21272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响应式网页 · 衣柜与组合台 · 任务回执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1676400" y="2647950"/>
            <a:ext cx="0" cy="11430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triangle" w="lg" len="lg"/>
          </a:ln>
        </p:spPr>
      </p:cxnSp>
      <p:sp>
        <p:nvSpPr>
          <p:cNvPr id="8" name="AutoShape 8"/>
          <p:cNvSpPr/>
          <p:nvPr/>
        </p:nvSpPr>
        <p:spPr>
          <a:xfrm>
            <a:off x="609600" y="2800350"/>
            <a:ext cx="10972800" cy="838200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9" name="AutoShape 9"/>
          <p:cNvSpPr/>
          <p:nvPr/>
        </p:nvSpPr>
        <p:spPr>
          <a:xfrm>
            <a:off x="2571750" y="2914650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25082" rIns="0" bIns="0" anchor="t" anchorCtr="0">
            <a:noAutofit/>
          </a:bodyPr>
          <a:lstStyle/>
          <a:p>
            <a:pPr algn="l"/>
            <a:r>
              <a:rPr lang="en-US" sz="172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Java 21 · Spring Boot · Spring Security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571750" y="3295650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21272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API 与数据归属 · 推荐规则 · 额度与持久任务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1676400" y="3638550"/>
            <a:ext cx="0" cy="11430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triangle" w="lg" len="lg"/>
          </a:ln>
        </p:spPr>
      </p:cxnSp>
      <p:sp>
        <p:nvSpPr>
          <p:cNvPr id="12" name="AutoShape 12"/>
          <p:cNvSpPr/>
          <p:nvPr/>
        </p:nvSpPr>
        <p:spPr>
          <a:xfrm>
            <a:off x="609600" y="3790950"/>
            <a:ext cx="10972800" cy="8382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2571750" y="3905250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25082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ONNX Runtime · U²-Net / BGE / 可选 CLIP · LangGraph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571750" y="4286250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21272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本地推理与对话编排 · CPU / 识别 / 生成分池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1676400" y="4629150"/>
            <a:ext cx="0" cy="11430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triangle" w="lg" len="lg"/>
          </a:ln>
        </p:spPr>
      </p:cxnSp>
      <p:sp>
        <p:nvSpPr>
          <p:cNvPr id="16" name="AutoShape 16"/>
          <p:cNvSpPr/>
          <p:nvPr/>
        </p:nvSpPr>
        <p:spPr>
          <a:xfrm>
            <a:off x="609600" y="4781550"/>
            <a:ext cx="10972800" cy="838200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2571750" y="4895850"/>
            <a:ext cx="876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25082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H2 · MyBatis Plus · Flyway · 本地 / S3 图片 · Docker / CI</a:t>
            </a:r>
          </a:p>
        </p:txBody>
      </p:sp>
      <p:sp>
        <p:nvSpPr>
          <p:cNvPr id="18" name="AutoShape 18"/>
          <p:cNvSpPr/>
          <p:nvPr/>
        </p:nvSpPr>
        <p:spPr>
          <a:xfrm>
            <a:off x="2571750" y="5276850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21273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数据持久化与版本迁移 · 图片存储 · 可控单机交付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09600" y="59055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21273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持久记录 · 网页内查看状态 · 未知结果不自动重发</a:t>
            </a:r>
          </a:p>
        </p:txBody>
      </p:sp>
      <p:grpSp>
        <p:nvGrpSpPr>
          <p:cNvPr id="38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5" name="Line 3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6" name="TextBox 36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  <p:grpSp>
        <p:nvGrpSpPr>
          <p:cNvPr id="40" name="architecture-tier-0"/>
          <p:cNvGrpSpPr/>
          <p:nvPr/>
        </p:nvGrpSpPr>
        <p:grpSpPr>
          <a:xfrm>
            <a:off x="829818" y="2103755"/>
            <a:ext cx="683133" cy="322707"/>
            <a:chOff x="829818" y="2103755"/>
            <a:chExt cx="683133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829818" y="210375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交互层</a:t>
              </a:r>
            </a:p>
          </p:txBody>
        </p:sp>
      </p:grpSp>
      <p:grpSp>
        <p:nvGrpSpPr>
          <p:cNvPr id="42" name="architecture-tier-1"/>
          <p:cNvGrpSpPr/>
          <p:nvPr/>
        </p:nvGrpSpPr>
        <p:grpSpPr>
          <a:xfrm>
            <a:off x="829818" y="3094355"/>
            <a:ext cx="683133" cy="322707"/>
            <a:chOff x="829818" y="3094355"/>
            <a:chExt cx="683133" cy="322707"/>
          </a:xfrm>
        </p:grpSpPr>
        <p:sp>
          <p:nvSpPr>
            <p:cNvPr id="41" name="TextBox 41"/>
            <p:cNvSpPr txBox="1"/>
            <p:nvPr/>
          </p:nvSpPr>
          <p:spPr>
            <a:xfrm>
              <a:off x="829818" y="309435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服务层</a:t>
              </a:r>
            </a:p>
          </p:txBody>
        </p:sp>
      </p:grpSp>
      <p:grpSp>
        <p:nvGrpSpPr>
          <p:cNvPr id="44" name="architecture-tier-2"/>
          <p:cNvGrpSpPr/>
          <p:nvPr/>
        </p:nvGrpSpPr>
        <p:grpSpPr>
          <a:xfrm>
            <a:off x="829818" y="4084955"/>
            <a:ext cx="1127379" cy="322707"/>
            <a:chOff x="829818" y="4084955"/>
            <a:chExt cx="1127379" cy="322707"/>
          </a:xfrm>
        </p:grpSpPr>
        <p:sp>
          <p:nvSpPr>
            <p:cNvPr id="43" name="TextBox 43"/>
            <p:cNvSpPr txBox="1"/>
            <p:nvPr/>
          </p:nvSpPr>
          <p:spPr>
            <a:xfrm>
              <a:off x="829818" y="408495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智能与执行</a:t>
              </a:r>
            </a:p>
          </p:txBody>
        </p:sp>
      </p:grpSp>
      <p:grpSp>
        <p:nvGrpSpPr>
          <p:cNvPr id="46" name="architecture-tier-3"/>
          <p:cNvGrpSpPr/>
          <p:nvPr/>
        </p:nvGrpSpPr>
        <p:grpSpPr>
          <a:xfrm>
            <a:off x="829818" y="5075555"/>
            <a:ext cx="1127379" cy="322707"/>
            <a:chOff x="829818" y="5075555"/>
            <a:chExt cx="1127379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829818" y="507555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数据与交付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先验证，谁会反复使用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05 · 目标用户与市场验证计划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20002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-36830" rIns="0" bIns="0" anchor="t" anchorCtr="0">
            <a:noAutofit/>
          </a:bodyPr>
          <a:lstStyle/>
          <a:p>
            <a:pPr algn="l">
              <a:lnSpc>
                <a:spcPts val="3375"/>
              </a:lnSpc>
            </a:pPr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高校与初入职场人群</a:t>
            </a:r>
            <a:b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</a:br>
            <a:r>
              <a:rPr lang="zh-CN" sz="21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衣物不少，日常选择很难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" y="3638550"/>
            <a:ext cx="51435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4699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30–50 位共创者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441960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-51118" rIns="0" bIns="0" anchor="t" anchorCtr="0">
            <a:noAutofit/>
          </a:bodyPr>
          <a:lstStyle/>
          <a:p>
            <a:pPr algn="l">
              <a:lnSpc>
                <a:spcPts val="3000"/>
              </a:lnSpc>
            </a:pPr>
            <a:r>
              <a:rPr lang="zh-CN" sz="17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计划观察 4 周</a:t>
            </a:r>
            <a:br>
              <a:rPr lang="zh-CN" sz="17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7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采纳 · 穿着覆盖 · 留存 · 付费意愿</a:t>
            </a:r>
          </a:p>
        </p:txBody>
      </p:sp>
      <p:sp>
        <p:nvSpPr>
          <p:cNvPr id="8" name="AutoShape 8"/>
          <p:cNvSpPr/>
          <p:nvPr/>
        </p:nvSpPr>
        <p:spPr>
          <a:xfrm>
            <a:off x="6324600" y="1866900"/>
            <a:ext cx="5257800" cy="40386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9" name="AutoShape 9"/>
          <p:cNvSpPr/>
          <p:nvPr/>
        </p:nvSpPr>
        <p:spPr>
          <a:xfrm>
            <a:off x="6629400" y="2095500"/>
            <a:ext cx="45720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25083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待验证的三个问题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629400" y="27432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1" name="AutoShape 11"/>
          <p:cNvSpPr/>
          <p:nvPr/>
        </p:nvSpPr>
        <p:spPr>
          <a:xfrm>
            <a:off x="66294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315200" y="2733675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33338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第一次就能用上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315200" y="3171825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入柜后，得到可采纳的搭配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629400" y="37719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5" name="AutoShape 15"/>
          <p:cNvSpPr/>
          <p:nvPr/>
        </p:nvSpPr>
        <p:spPr>
          <a:xfrm>
            <a:off x="6629400" y="3771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315200" y="3762375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33338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每天愿意再回来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315200" y="4200525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观察真实使用与实际穿着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629400" y="48006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9" name="AutoShape 19"/>
          <p:cNvSpPr/>
          <p:nvPr/>
        </p:nvSpPr>
        <p:spPr>
          <a:xfrm>
            <a:off x="66294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315200" y="4791075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33338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持续价值能收费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315200" y="5229225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访谈与小额实验验证意愿</a:t>
            </a:r>
          </a:p>
        </p:txBody>
      </p:sp>
      <p:grpSp>
        <p:nvGrpSpPr>
          <p:cNvPr id="42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9" name="Line 39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0" name="TextBox 40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从日常服务，走向可验证的收入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05 · 商业设计 / 计划验证，尚无收费成绩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1962150"/>
            <a:ext cx="33528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38200" y="21907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838200" y="21907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838200" y="29527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持续订阅</a:t>
            </a:r>
          </a:p>
        </p:txBody>
      </p:sp>
      <p:sp>
        <p:nvSpPr>
          <p:cNvPr id="8" name="AutoShape 8"/>
          <p:cNvSpPr/>
          <p:nvPr/>
        </p:nvSpPr>
        <p:spPr>
          <a:xfrm>
            <a:off x="838200" y="3562350"/>
            <a:ext cx="2895600" cy="11239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基础衣柜与计算推荐作入口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高级管理、长期洞察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探索订阅服务</a:t>
            </a:r>
          </a:p>
        </p:txBody>
      </p:sp>
      <p:sp>
        <p:nvSpPr>
          <p:cNvPr id="9" name="AutoShape 9"/>
          <p:cNvSpPr/>
          <p:nvPr/>
        </p:nvSpPr>
        <p:spPr>
          <a:xfrm>
            <a:off x="4419600" y="1962150"/>
            <a:ext cx="33528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4648200" y="21907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1" name="AutoShape 11"/>
          <p:cNvSpPr/>
          <p:nvPr/>
        </p:nvSpPr>
        <p:spPr>
          <a:xfrm>
            <a:off x="4648200" y="21907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48200" y="29527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OOTD 生成额度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48200" y="3562350"/>
            <a:ext cx="2895600" cy="11239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按次或额度包收费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覆盖真实上游生成成本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先核算，再验证付费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229600" y="1962150"/>
            <a:ext cx="33528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5" name="AutoShape 15"/>
          <p:cNvSpPr/>
          <p:nvPr/>
        </p:nvSpPr>
        <p:spPr>
          <a:xfrm>
            <a:off x="8458200" y="21907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6" name="AutoShape 16"/>
          <p:cNvSpPr/>
          <p:nvPr/>
        </p:nvSpPr>
        <p:spPr>
          <a:xfrm>
            <a:off x="8458200" y="21907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458200" y="29527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未来机构工作台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458200" y="3562350"/>
            <a:ext cx="2895600" cy="11239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面向造型与整理服务商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共创授权工作台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用户衣柜数据不出售</a:t>
            </a:r>
          </a:p>
        </p:txBody>
      </p:sp>
      <p:grpSp>
        <p:nvGrpSpPr>
          <p:cNvPr id="35" name="commercial-scenario"/>
          <p:cNvGrpSpPr/>
          <p:nvPr/>
        </p:nvGrpSpPr>
        <p:grpSpPr>
          <a:xfrm>
            <a:off x="838200" y="5381625"/>
            <a:ext cx="10515600" cy="828675"/>
            <a:chOff x="838200" y="5381625"/>
            <a:chExt cx="10515600" cy="828675"/>
          </a:xfrm>
        </p:grpSpPr>
        <p:sp>
          <p:nvSpPr>
            <p:cNvPr id="32" name="Rectangle 32"/>
            <p:cNvSpPr/>
            <p:nvPr/>
          </p:nvSpPr>
          <p:spPr>
            <a:xfrm>
              <a:off x="885825" y="5381625"/>
              <a:ext cx="10420350" cy="828675"/>
            </a:xfrm>
            <a:prstGeom prst="roundRect">
              <a:avLst>
                <a:gd name="adj" fmla="val 13793"/>
              </a:avLst>
            </a:prstGeom>
            <a:solidFill>
              <a:srgbClr val="EEF6F1"/>
            </a:solidFill>
            <a:ln>
              <a:noFill/>
            </a:ln>
          </p:spPr>
        </p:sp>
        <p:sp>
          <p:nvSpPr>
            <p:cNvPr id="33" name="TextBox 33"/>
            <p:cNvSpPr/>
            <p:nvPr/>
          </p:nvSpPr>
          <p:spPr>
            <a:xfrm>
              <a:off x="838200" y="5391150"/>
              <a:ext cx="105156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937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10,000 活跃用户 × 5% × 199 元/年 = 9.95 万元/年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38200" y="5905500"/>
              <a:ext cx="10515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3495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情景演算，非预测或净利润；未扣获客、计算、存储、支持与税费。</a:t>
              </a:r>
            </a:p>
          </p:txBody>
        </p:sp>
      </p:grp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已实现什么，下一步验证什么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项目进展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914400" y="4133850"/>
            <a:ext cx="8229600" cy="0"/>
          </a:xfrm>
          <a:prstGeom prst="straightConnector1">
            <a:avLst/>
          </a:prstGeom>
          <a:noFill/>
          <a:ln w="19050">
            <a:solidFill>
              <a:srgbClr val="1F5C45"/>
            </a:solidFill>
            <a:tailEnd type="triangle" w="lg" len="lg"/>
          </a:ln>
        </p:spPr>
      </p:cxnSp>
      <p:sp>
        <p:nvSpPr>
          <p:cNvPr id="5" name="AutoShape 5"/>
          <p:cNvSpPr/>
          <p:nvPr/>
        </p:nvSpPr>
        <p:spPr>
          <a:xfrm>
            <a:off x="800100" y="4019550"/>
            <a:ext cx="228600" cy="228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609600" y="23241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Web 网站闭环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2933700"/>
            <a:ext cx="25146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衣柜 · 入柜 · 搜索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计算推荐已打通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" y="45339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已实现</a:t>
            </a:r>
          </a:p>
        </p:txBody>
      </p:sp>
      <p:sp>
        <p:nvSpPr>
          <p:cNvPr id="9" name="AutoShape 9"/>
          <p:cNvSpPr/>
          <p:nvPr/>
        </p:nvSpPr>
        <p:spPr>
          <a:xfrm>
            <a:off x="3543300" y="4019550"/>
            <a:ext cx="228600" cy="228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0" name="AutoShape 10"/>
          <p:cNvSpPr/>
          <p:nvPr/>
        </p:nvSpPr>
        <p:spPr>
          <a:xfrm>
            <a:off x="3352800" y="23241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搭台与个人 OOTD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352800" y="2933700"/>
            <a:ext cx="25146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多画板 · 模特 / 动作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生成确认已有实现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352800" y="45339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已实现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86500" y="4019550"/>
            <a:ext cx="228600" cy="228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4" name="AutoShape 14"/>
          <p:cNvSpPr/>
          <p:nvPr/>
        </p:nvSpPr>
        <p:spPr>
          <a:xfrm>
            <a:off x="6096000" y="23241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工程与管理接入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096000" y="2933700"/>
            <a:ext cx="25146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持久任务 · 数据归属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管理 API 默认关闭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096000" y="45339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已有实现</a:t>
            </a:r>
          </a:p>
        </p:txBody>
      </p:sp>
      <p:sp>
        <p:nvSpPr>
          <p:cNvPr id="17" name="AutoShape 17"/>
          <p:cNvSpPr/>
          <p:nvPr/>
        </p:nvSpPr>
        <p:spPr>
          <a:xfrm>
            <a:off x="9029700" y="4019550"/>
            <a:ext cx="228600" cy="228600"/>
          </a:xfrm>
          <a:prstGeom prst="ellipse">
            <a:avLst/>
          </a:prstGeom>
          <a:solidFill>
            <a:srgbClr val="666B76"/>
          </a:solidFill>
          <a:ln>
            <a:noFill/>
          </a:ln>
        </p:spPr>
      </p:sp>
      <p:sp>
        <p:nvSpPr>
          <p:cNvPr id="18" name="AutoShape 18"/>
          <p:cNvSpPr/>
          <p:nvPr/>
        </p:nvSpPr>
        <p:spPr>
          <a:xfrm>
            <a:off x="8839200" y="23241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用户与商业验证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39200" y="2933700"/>
            <a:ext cx="25146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共创 · 留存 · 付费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单位成本仍待验证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39200" y="45339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下一阶段</a:t>
            </a:r>
          </a:p>
        </p:txBody>
      </p:sp>
      <p:grpSp>
        <p:nvGrpSpPr>
          <p:cNvPr id="43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40" name="Line 4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1" name="TextBox 41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2" name="TextBox 42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  <p:grpSp>
        <p:nvGrpSpPr>
          <p:cNvPr id="44" name="progress-evidence"/>
          <p:cNvGrpSpPr/>
          <p:nvPr/>
        </p:nvGrpSpPr>
        <p:grpSpPr>
          <a:xfrm>
            <a:off x="601599" y="5630228"/>
            <a:ext cx="6822389" cy="308991"/>
            <a:chOff x="601599" y="5630228"/>
            <a:chExt cx="6822389" cy="308991"/>
          </a:xfrm>
        </p:grpSpPr>
        <p:sp>
          <p:nvSpPr>
            <p:cNvPr id="39" name="TextBox 39"/>
            <p:cNvSpPr txBox="1"/>
            <p:nvPr/>
          </p:nvSpPr>
          <p:spPr>
            <a:xfrm>
              <a:off x="601599" y="5630228"/>
              <a:ext cx="68223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实现能力来自项目源码与既有验证材料，用户效果以共创实验继续验证。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1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把“总穿那几件”，变成可测问题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历史模拟 / 固定意图，连续 28 天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" y="2438400"/>
            <a:ext cx="2590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4699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167 件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3257550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仿内测衣柜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" y="409575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实验条件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52800" y="2438400"/>
            <a:ext cx="2590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4699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49 → 97 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352800" y="3257550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进入推荐的衣物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352800" y="409575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曝光覆盖改善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96000" y="2438400"/>
            <a:ext cx="2590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4699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5C45"/>
                </a:solidFill>
                <a:latin typeface="Arial"/>
                <a:ea typeface="Arial"/>
                <a:cs typeface="Arial"/>
              </a:rPr>
              <a:t>20% → 8%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096000" y="3257550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单品最高占比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096000" y="409575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降低过度集中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39200" y="2438400"/>
            <a:ext cx="25908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43180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待验证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39200" y="3257550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曝光不等于实际穿着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39200" y="4095750"/>
            <a:ext cx="2590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下一步：用户研究</a:t>
            </a:r>
          </a:p>
        </p:txBody>
      </p:sp>
      <p:grpSp>
        <p:nvGrpSpPr>
          <p:cNvPr id="39" name="experiment-qualification"/>
          <p:cNvGrpSpPr/>
          <p:nvPr/>
        </p:nvGrpSpPr>
        <p:grpSpPr>
          <a:xfrm>
            <a:off x="838200" y="4953000"/>
            <a:ext cx="10515600" cy="1104900"/>
            <a:chOff x="838200" y="4953000"/>
            <a:chExt cx="10515600" cy="1104900"/>
          </a:xfrm>
        </p:grpSpPr>
        <p:sp>
          <p:nvSpPr>
            <p:cNvPr id="36" name="Rectangle 36"/>
            <p:cNvSpPr/>
            <p:nvPr/>
          </p:nvSpPr>
          <p:spPr>
            <a:xfrm>
              <a:off x="885825" y="4953000"/>
              <a:ext cx="10420350" cy="1104900"/>
            </a:xfrm>
            <a:prstGeom prst="roundRect">
              <a:avLst>
                <a:gd name="adj" fmla="val 10345"/>
              </a:avLst>
            </a:prstGeom>
            <a:solidFill>
              <a:srgbClr val="EEF6F1"/>
            </a:solidFill>
            <a:ln>
              <a:noFill/>
            </a:ln>
          </p:spPr>
        </p:sp>
        <p:sp>
          <p:nvSpPr>
            <p:cNvPr id="37" name="TextBox 37"/>
            <p:cNvSpPr/>
            <p:nvPr/>
          </p:nvSpPr>
          <p:spPr>
            <a:xfrm>
              <a:off x="838200" y="5162550"/>
              <a:ext cx="105156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3338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支持推荐曝光覆盖改善；真实穿着与消费影响仍需验证。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838200" y="5734050"/>
              <a:ext cx="10515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3495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来源：2026-10-10 审美报告；历史模拟，非本轮重测，并非所有公平指标均改善。</a:t>
              </a:r>
            </a:p>
          </p:txBody>
        </p:sp>
      </p:grp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40" name="Line 4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1" name="TextBox 41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2" name="TextBox 42"/>
            <p:cNvSpPr/>
            <p:nvPr/>
          </p:nvSpPr>
          <p:spPr>
            <a:xfrm>
              <a:off x="4509516" y="650243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历史模拟，非实际穿着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5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鱼力无限，以作品接受评审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四项能力方向 / 不代表成员人数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20193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5" name="AutoShape 5"/>
          <p:cNvSpPr/>
          <p:nvPr/>
        </p:nvSpPr>
        <p:spPr>
          <a:xfrm>
            <a:off x="609600" y="2019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" y="27813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33909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响应式网页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交互与组合画布</a:t>
            </a:r>
          </a:p>
        </p:txBody>
      </p:sp>
      <p:sp>
        <p:nvSpPr>
          <p:cNvPr id="8" name="AutoShape 8"/>
          <p:cNvSpPr/>
          <p:nvPr/>
        </p:nvSpPr>
        <p:spPr>
          <a:xfrm>
            <a:off x="3352800" y="20193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9" name="AutoShape 9"/>
          <p:cNvSpPr/>
          <p:nvPr/>
        </p:nvSpPr>
        <p:spPr>
          <a:xfrm>
            <a:off x="3352800" y="2019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52800" y="27813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后端架构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352800" y="33909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API · 权限 · 存储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持久任务与调度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096000" y="20193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3" name="AutoShape 13"/>
          <p:cNvSpPr/>
          <p:nvPr/>
        </p:nvSpPr>
        <p:spPr>
          <a:xfrm>
            <a:off x="6096000" y="2019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96000" y="27813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算法与图像处理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096000" y="33909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本地检索与抠图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规则推荐与解释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839200" y="201930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7" name="AutoShape 17"/>
          <p:cNvSpPr/>
          <p:nvPr/>
        </p:nvSpPr>
        <p:spPr>
          <a:xfrm>
            <a:off x="8839200" y="2019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39200" y="2781300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3556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产品与设计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39200" y="33909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-33972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需求与交互</a:t>
            </a:r>
            <a:b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视觉与项目文档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09600" y="4629150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3175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团队起点与作品证据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09600" y="5105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38735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全新团队，第一次参加比赛。</a:t>
            </a:r>
          </a:p>
        </p:txBody>
      </p:sp>
      <p:sp>
        <p:nvSpPr>
          <p:cNvPr id="23" name="TextBox 10"/>
          <p:cNvSpPr/>
          <p:nvPr/>
        </p:nvSpPr>
        <p:spPr>
          <a:xfrm>
            <a:off x="609600" y="58293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暂无过往竞赛奖项；以产品闭环、算法依据和工程交付展示实力。</a:t>
            </a:r>
          </a:p>
        </p:txBody>
      </p:sp>
      <p:grpSp>
        <p:nvGrpSpPr>
          <p:cNvPr id="46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43" name="Line 4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4" name="TextBox 44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5" name="TextBox 45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609600" y="590550"/>
              <a:ext cx="109728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下一步，围绕三个验证目标推进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609600" y="1219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发展路线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" y="2095500"/>
            <a:ext cx="3352800" cy="3333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3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6" name="AutoShape 6"/>
          <p:cNvSpPr/>
          <p:nvPr/>
        </p:nvSpPr>
        <p:spPr>
          <a:xfrm>
            <a:off x="83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838200" y="3105150"/>
            <a:ext cx="2895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短期 · 打磨体验</a:t>
            </a:r>
          </a:p>
        </p:txBody>
      </p:sp>
      <p:sp>
        <p:nvSpPr>
          <p:cNvPr id="8" name="AutoShape 8"/>
          <p:cNvSpPr/>
          <p:nvPr/>
        </p:nvSpPr>
        <p:spPr>
          <a:xfrm>
            <a:off x="838200" y="38100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-61595" rIns="0" bIns="0" anchor="t" anchorCtr="0">
            <a:noAutofit/>
          </a:bodyPr>
          <a:lstStyle/>
          <a:p>
            <a:pPr algn="l">
              <a:lnSpc>
                <a:spcPts val="3000"/>
              </a:lnSpc>
            </a:pP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减少入柜摩擦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记录采纳与实际穿着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完善任务对账与压测</a:t>
            </a:r>
          </a:p>
        </p:txBody>
      </p:sp>
      <p:sp>
        <p:nvSpPr>
          <p:cNvPr id="9" name="AutoShape 9"/>
          <p:cNvSpPr/>
          <p:nvPr/>
        </p:nvSpPr>
        <p:spPr>
          <a:xfrm>
            <a:off x="4419600" y="2095500"/>
            <a:ext cx="3352800" cy="3333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464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1" name="AutoShape 11"/>
          <p:cNvSpPr/>
          <p:nvPr/>
        </p:nvSpPr>
        <p:spPr>
          <a:xfrm>
            <a:off x="464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48200" y="3105150"/>
            <a:ext cx="2895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中期 · 验证付费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48200" y="38100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-61595" rIns="0" bIns="0" anchor="t" anchorCtr="0">
            <a:noAutofit/>
          </a:bodyPr>
          <a:lstStyle/>
          <a:p>
            <a:pPr algn="l">
              <a:lnSpc>
                <a:spcPts val="3000"/>
              </a:lnSpc>
            </a:pP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试验订阅与生成额度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验证留存与付费意愿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核算单位服务成本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229600" y="2095500"/>
            <a:ext cx="3352800" cy="3333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</p:spPr>
      </p:sp>
      <p:sp>
        <p:nvSpPr>
          <p:cNvPr id="15" name="AutoShape 15"/>
          <p:cNvSpPr/>
          <p:nvPr/>
        </p:nvSpPr>
        <p:spPr>
          <a:xfrm>
            <a:off x="8458200" y="2343150"/>
            <a:ext cx="457200" cy="4572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</p:sp>
      <p:sp>
        <p:nvSpPr>
          <p:cNvPr id="16" name="AutoShape 16"/>
          <p:cNvSpPr/>
          <p:nvPr/>
        </p:nvSpPr>
        <p:spPr>
          <a:xfrm>
            <a:off x="8458200" y="23431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458200" y="3105150"/>
            <a:ext cx="2895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3111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长期 · 共创 B 端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458200" y="3810000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-61595" rIns="0" bIns="0" anchor="t" anchorCtr="0">
            <a:noAutofit/>
          </a:bodyPr>
          <a:lstStyle/>
          <a:p>
            <a:pPr algn="l">
              <a:lnSpc>
                <a:spcPts val="3000"/>
              </a:lnSpc>
            </a:pP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与造型 / 整理商共创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验证授权工作台需求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评估数据库与容量扩展</a:t>
            </a:r>
          </a:p>
        </p:txBody>
      </p:sp>
      <p:grpSp>
        <p:nvGrpSpPr>
          <p:cNvPr id="35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32" name="Line 3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1E3A8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11" name="shape-2-foreground"/>
            <p:cNvSpPr/>
            <p:nvPr/>
          </p:nvSpPr>
          <p:spPr>
            <a:xfrm>
              <a:off x="381000" y="254032"/>
              <a:ext cx="888968" cy="888968"/>
            </a:xfrm>
            <a:prstGeom prst="ellipse">
              <a:avLst/>
            </a:prstGeom>
            <a:solidFill>
              <a:srgbClr val="1F5C45">
                <a:alpha val="25000"/>
              </a:srgbClr>
            </a:solidFill>
            <a:ln>
              <a:noFill/>
            </a:ln>
          </p:spPr>
        </p:sp>
      </p:grpSp>
      <p:sp>
        <p:nvSpPr>
          <p:cNvPr id="3" name="AutoShape 3"/>
          <p:cNvSpPr/>
          <p:nvPr/>
        </p:nvSpPr>
        <p:spPr>
          <a:xfrm>
            <a:off x="10922032" y="254032"/>
            <a:ext cx="888968" cy="8889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7968" y="5778532"/>
            <a:ext cx="888968" cy="8889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4968" y="5778532"/>
            <a:ext cx="1016032" cy="1016032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19200" y="1733550"/>
            <a:ext cx="9753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27305" rIns="0" bIns="0" anchor="t" anchorCtr="0">
            <a:noAutofit/>
          </a:bodyPr>
          <a:lstStyle/>
          <a:p>
            <a:pPr algn="ctr"/>
            <a:r>
              <a:rPr lang="zh-CN" sz="16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鱼力无限 · 鱼搭 AI 数字衣柜网站</a:t>
            </a:r>
          </a:p>
        </p:txBody>
      </p:sp>
      <p:sp>
        <p:nvSpPr>
          <p:cNvPr id="7" name="AutoShape 7"/>
          <p:cNvSpPr/>
          <p:nvPr/>
        </p:nvSpPr>
        <p:spPr>
          <a:xfrm>
            <a:off x="1219200" y="2667000"/>
            <a:ext cx="97536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-55880" rIns="0" bIns="0" anchor="t" anchorCtr="0">
            <a:noAutofit/>
          </a:bodyPr>
          <a:lstStyle/>
          <a:p>
            <a:pPr algn="ctr">
              <a:lnSpc>
                <a:spcPts val="5850"/>
              </a:lnSpc>
            </a:pPr>
            <a:r>
              <a:rPr lang="zh-CN" sz="3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理解衣柜，解释选择。</a:t>
            </a:r>
            <a:br>
              <a:rPr lang="zh-CN" sz="3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</a:br>
            <a:r>
              <a:rPr lang="zh-CN" sz="3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让已有衣物，重新有机会。</a:t>
            </a:r>
          </a:p>
        </p:txBody>
      </p:sp>
      <p:cxnSp>
        <p:nvCxnSpPr>
          <p:cNvPr id="8" name="Connector 8"/>
          <p:cNvCxnSpPr/>
          <p:nvPr/>
        </p:nvCxnSpPr>
        <p:spPr>
          <a:xfrm rot="-38195">
            <a:off x="5524499" y="4311682"/>
            <a:ext cx="1143000" cy="12668"/>
          </a:xfrm>
          <a:prstGeom prst="straightConnector1">
            <a:avLst/>
          </a:prstGeom>
          <a:solidFill>
            <a:srgbClr val="E8E9EE"/>
          </a:solidFill>
          <a:ln w="50800" cap="flat">
            <a:solidFill>
              <a:srgbClr val="1F5C45"/>
            </a:solidFill>
            <a:round/>
          </a:ln>
        </p:spPr>
      </p:cxnSp>
      <p:sp>
        <p:nvSpPr>
          <p:cNvPr id="9" name="AutoShape 9"/>
          <p:cNvSpPr/>
          <p:nvPr/>
        </p:nvSpPr>
        <p:spPr>
          <a:xfrm>
            <a:off x="1219200" y="5067300"/>
            <a:ext cx="9753600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33338" rIns="0" bIns="0" anchor="t" anchorCtr="0">
            <a:noAutofit/>
          </a:bodyPr>
          <a:lstStyle/>
          <a:p>
            <a:pPr algn="ctr"/>
            <a:r>
              <a:rPr lang="zh-CN" sz="18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欢迎现场体验网站，共创日常穿搭价值。</a:t>
            </a:r>
          </a:p>
        </p:txBody>
      </p:sp>
      <p:grpSp>
        <p:nvGrpSpPr>
          <p:cNvPr id="18" name="yuda-footer"/>
          <p:cNvGrpSpPr/>
          <p:nvPr/>
        </p:nvGrpSpPr>
        <p:grpSpPr>
          <a:xfrm>
            <a:off x="604266" y="6400800"/>
            <a:ext cx="10978134" cy="306991"/>
            <a:chOff x="604266" y="6400800"/>
            <a:chExt cx="10978134" cy="306991"/>
          </a:xfrm>
        </p:grpSpPr>
        <p:sp>
          <p:nvSpPr>
            <p:cNvPr id="15" name="Line 1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604266" y="6502432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11272266" y="650243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1941</ns0:Words>
  <ns0:Application>WPS 演示</ns0:Application>
  <ns0:PresentationFormat/>
  <ns0:Paragraphs>439</ns0:Paragraphs>
  <ns0:Slides>18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12</ns1:i4>
      </ns1:variant>
      <ns1:variant>
        <ns1:lpstr>主题</ns1:lpstr>
      </ns1:variant>
      <ns1:variant>
        <ns1:i4>3</ns1:i4>
      </ns1:variant>
      <ns1:variant>
        <ns1:lpstr>幻灯片标题</ns1:lpstr>
      </ns1:variant>
      <ns1:variant>
        <ns1:i4>16</ns1:i4>
      </ns1:variant>
    </ns1:vector>
  </ns0:HeadingPairs>
  <ns0:TitlesOfParts>
    <ns1:vector size="31" baseType="lpstr">
      <ns1:lpstr>Arial</ns1:lpstr>
      <ns1:lpstr>宋体</ns1:lpstr>
      <ns1:lpstr>Wingdings</ns1:lpstr>
      <ns1:lpstr>Arial</ns1:lpstr>
      <ns1:lpstr>Noto Sans SC</ns1:lpstr>
      <ns1:lpstr>975Maru SC</ns1:lpstr>
      <ns1:lpstr>FFont-Family</ns1:lpstr>
      <ns1:lpstr>微软雅黑</ns1:lpstr>
      <ns1:lpstr>Arial Unicode MS</ns1:lpstr>
      <ns1:lpstr>黑体</ns1:lpstr>
      <ns1:lpstr>隶书</ns1:lpstr>
      <ns1:lpstr>楷体</ns1:lpstr>
      <ns1:lpstr>Office 主题​​</ns1:lpstr>
      <ns1:lpstr>默认主题</ns1:lpstr>
      <ns1:lpstr>1_默认主题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张榆晓丸子.</cp:lastModifiedBy>
  <cp:revision>2</cp:revision>
  <dcterms:created xsi:type="dcterms:W3CDTF">2026-10-15T07:25:15Z</dcterms:created>
  <dcterms:modified xsi:type="dcterms:W3CDTF">2026-10-15T07:26:58Z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{"Label":"1","ContentProducer":"001191110102MACQD9K64010000","ProduceID":"7696093738686778338","ReservedCode1":"","ContentPropagator":"","PropagateID":"","ReservedCode2":""}</vt:lpwstr>
  </property>
  <property fmtid="{D5CDD505-2E9C-101B-9397-08002B2CF9AE}" pid="3" name="KSOProductBuildVer">
    <vt:lpwstr>2052-11.1.0.10009</vt:lpwstr>
  </property>
</Properties>
</file>