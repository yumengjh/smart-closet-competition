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3" r:id="rId4"/>
  </p:sldMasterIdLst>
  <p:notesMasterIdLst>
    <p:notesMasterId r:id="rId6"/>
  </p:notesMasterIdLst>
  <p:sldIdLst>
    <p:sldId id="256" r:id="rId5"/>
    <p:sldId id="257" r:id="rId7"/>
    <p:sldId id="258" r:id="rId8"/>
    <p:sldId id="271" r:id="rId9"/>
    <p:sldId id="259" r:id="rId10"/>
    <p:sldId id="273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16"/>
        <p:guide pos="300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各位评委老师好，我们带来的项目叫"鱼搭"，是一款 AI 电子衣橱微信小程序。它解决的核心问题，是用户上传衣服照片时频繁遇到的卡顿、抠图差、手动录入繁琐。我们的核心创新，是用异步智能整理架构把耗时的图像处理放到后台执行，让上传丝般顺滑。接下来我从痛点、方案、技术、市场和团队五部分展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今天汇报六个部分：项目痛点、产品与核心功能、创新对比与算法、技术架构、市场与商业模式、团队与未来规划。其中第三、四部分是重点，讲我们的异步架构和图像处理创新。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先看痛点。现有电子衣橱有三个问题：第一，上传同步跑 AI，图片一大就转圈，用户等不及直接退出；第二，衣服抠图差，背景杂乱、有褶皱，效果图没法用；第三，录入全靠手填，整理一柜子要半天。三件事叠加，用户用两次就放弃。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的判断是，很多时候缺少的是一套从拥有到选择的过程。先保留真实衣物，再用属性和图像理解它，结合场景、天气和风格做选择，最后把换件、喜好和恢复反馈带回下一次推荐。这是我们对项目立意的整理。让更多衣物真正被穿到是目标，目前还需要用户研究，不能把推荐曝光直接当成实际穿着效果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鱼搭一句话：拍照上传，剩下的交给鱼搭自动完成。用户批量拍下衣服上传后，系统后台异步完成抠图、识别、打标签，用户不用等、也不用手填，几秒就搭好一个自己的电子衣橱。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这是鱼搭的核心功能。上面两张是真实界面：左边是按颜色、品类、季节一键整理的衣橱，右边是一键扫描整个衣柜。下面四步流程：批量上传和图片预处理、AI 自动抠图去背景、自动识别打标签、最后衣橱检索和穿搭辅助。整个流程用户几乎不用动手。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这是和现有产品的对比，也是创新核心。别人是同步处理，上传后必须等 AI 算完，图片一大就卡死；鱼搭是异步队列，提交立刻返回，后台慢慢算。抠图我们专门针对服饰场景优化，录入用 AI 自动打标代替手填。一句话，我们不是又做一个电子衣橱，而是从架构层面解决上传卡顿这个行业通病。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技术上，衣物图片要过三道工序。第一步图像预处理，压缩和色彩矫正，降低推理成本；第二步是我们重点优化的服饰分割抠图，针对衣服轮廓和褶皱专门调优；第三步衣物多维度识别，自动判断类别、颜色、季节并打标签。这三步全部在后台异步执行，用户上传完就可以去做别的，不用盯着进度条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这是整体架构，也是我们最核心的设计。四层：前端是微信小程序；API 服务层接收图片、创建任务后立刻返回成功，绝不等待 AI；中间高亮的是异步任务队列，所有耗时的预处理、抠图、识别都在后台消费者里依次执行；最后是对象存储和数据库。这样前端请求和后端重计算完全解耦，从根本上解决上传卡顿。右边是用户感受：上传后提示处理中，可以直接退出，做完推送通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市场方面，目标用户很清晰：衣物多、爱穿搭、却总觉得没衣服穿的年轻人，尤其在校大学生。我们从校园冷启动，人群集中、传播快。右边是市场判断：需求真实存在，现有产品体验差，鱼搭用流畅的异步体验打出差异化。具体规模数据会在技术文档里补充第三方来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盈利点设计三条路。第一，C 端会员，高级批量额度、高清导出、AI 穿搭推荐订阅付费；第二，穿搭导购，基于用户衣橱画像做服饰推荐，对接电商赚佣金；第三是想象力最大的，把衣物抠图和批量处理能力开放给 B 端服装商家，帮他们批量处理商品图，按调用量收费。C 端做用户和口碑，B 端做收入。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项目当前进展。小程序前端原型和上传流程已完成；最核心的异步任务队列加后台消费者已跑通；后端管理看板正在做任务监控；技术文档和演示录屏是接下来的收尾。下面这张图是鱼搭的穿搭工作台界面，能现场演示。等会儿我会现场演示，重点看上传衣物是不是秒响应，以及后台怎么自动把衣服整理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团队分工明确：前端负责小程序界面和上传交互，后端负责 API、异步队列和存储，算法同学负责服饰抠图和衣物识别，产品负责需求和视觉文档。四位成员覆盖从后端、算法到产品的完整链路。团队过往获奖经历列在下面，这里留了占位，待会按实际奖项补充。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未来分三步走。短期聚焦打磨：提升模型精度、给异步队列做压力测试和失败重试，保证稳定。中期做深价值：上线 AI 穿搭推荐，开放 C 端会员，把用户留下来。长期往 B 端拓展，把衣物图像处理能力做成开放服务，帮服装商家批量生产素材，从一个工具走向平台。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就到这里。总结一句：鱼搭用异步智能整理架构和衣物图像优化，解决了电子衣橱上传卡顿、录入繁琐的痛点，让整理衣橱不再麻烦。接下来欢迎各位评委老师现场看我们演示小程序，也欢迎提问。谢谢大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10045065" y="6363018"/>
            <a:ext cx="2057400" cy="273844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accent1">
                <a:lumMod val="60000"/>
                <a:lumOff val="40000"/>
                <a:alpha val="100000"/>
              </a:scheme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/>
              <a:t>YU/DA</a:t>
            </a:r>
            <a:endParaRPr lang="en-US" alt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7179" r="17179"/>
          <a:stretch>
            <a:fillRect/>
          </a:stretch>
        </p:blipFill>
        <p:spPr>
          <a:xfrm>
            <a:off x="4191000" y="0"/>
            <a:ext cx="8001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889000" y="762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电子衣橱 · 微信小程序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87400" y="1524000"/>
            <a:ext cx="419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2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鱼搭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863600" y="34036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700" b="0" i="0" u="none" strike="noStrike">
                <a:solidFill>
                  <a:srgbClr val="1E3A8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衣物图片处理优化与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700" b="0" i="0" u="none" strike="noStrike">
                <a:solidFill>
                  <a:srgbClr val="1E3A8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异步智能整理架构</a:t>
            </a:r>
            <a:endParaRPr lang="en-US" sz="1700" b="0" i="0" u="none" strike="noStrike">
              <a:solidFill>
                <a:srgbClr val="1E3A8A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42969">
            <a:off x="889040" y="47180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FB718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 txBox="1"/>
          <p:nvPr/>
        </p:nvSpPr>
        <p:spPr>
          <a:xfrm>
            <a:off x="863600" y="4978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参赛团队：鱼搭开发组　|　项目路演答辩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571500"/>
            <a:ext cx="381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目录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914400" y="12065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0A5F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CONTENTS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92">
            <a:off x="889004" y="16192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889000" y="2006600"/>
            <a:ext cx="660400" cy="660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889000" y="2159000"/>
            <a:ext cx="66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752600" y="2032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1800" b="1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Noto Sans SC" panose="020B0500000000000000" charset="-122"/>
              </a:rPr>
              <a:t>项目背景与需求分析</a:t>
            </a:r>
            <a:endParaRPr lang="en-US" sz="1800" b="1">
              <a:solidFill>
                <a:srgbClr val="1E3A8A"/>
              </a:solidFill>
              <a:latin typeface="975Maru SC"/>
              <a:ea typeface="975Maru SC"/>
              <a:cs typeface="975Maru SC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1752600" y="2413000"/>
            <a:ext cx="279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卡顿 · 抠图差 · 录入繁琐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2006600"/>
            <a:ext cx="660400" cy="660400"/>
          </a:xfrm>
          <a:prstGeom prst="ellipse">
            <a:avLst/>
          </a:prstGeom>
          <a:solidFill>
            <a:srgbClr val="FB718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6350000" y="2159000"/>
            <a:ext cx="66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7213600" y="20320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产品与核心功能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7213600" y="2413000"/>
            <a:ext cx="330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批量上传 · 自动整理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9000" y="3276600"/>
            <a:ext cx="660400" cy="660400"/>
          </a:xfrm>
          <a:prstGeom prst="ellipse">
            <a:avLst/>
          </a:prstGeom>
          <a:solidFill>
            <a:srgbClr val="FBBF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889000" y="3429000"/>
            <a:ext cx="66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3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752600" y="33020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创新对比与算法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752600" y="3683000"/>
            <a:ext cx="330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异步架构 · 图像优化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3276600"/>
            <a:ext cx="660400" cy="660400"/>
          </a:xfrm>
          <a:prstGeom prst="ellipse">
            <a:avLst/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 txBox="1"/>
          <p:nvPr/>
        </p:nvSpPr>
        <p:spPr>
          <a:xfrm>
            <a:off x="6350000" y="3429000"/>
            <a:ext cx="66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4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7213600" y="33020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技术架构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7213600" y="3683000"/>
            <a:ext cx="330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小程序 · 任务队列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89000" y="4546600"/>
            <a:ext cx="660400" cy="660400"/>
          </a:xfrm>
          <a:prstGeom prst="ellipse">
            <a:avLst/>
          </a:prstGeom>
          <a:solidFill>
            <a:srgbClr val="A85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 txBox="1"/>
          <p:nvPr/>
        </p:nvSpPr>
        <p:spPr>
          <a:xfrm>
            <a:off x="889000" y="4699000"/>
            <a:ext cx="66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5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1752600" y="4572000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市场与商业模式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752600" y="4953000"/>
            <a:ext cx="330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目标用户 · 盈利点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0000" y="4546600"/>
            <a:ext cx="660400" cy="660400"/>
          </a:xfrm>
          <a:prstGeom prst="ellipse">
            <a:avLst/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 txBox="1"/>
          <p:nvPr/>
        </p:nvSpPr>
        <p:spPr>
          <a:xfrm>
            <a:off x="6350000" y="4699000"/>
            <a:ext cx="66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6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7213600" y="45720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团队与未来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7213600" y="4953000"/>
            <a:ext cx="330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分工 · 规划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6350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0A5F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· 项目</a:t>
            </a:r>
            <a:r>
              <a:rPr lang="zh-CN" altLang="en-US" sz="1200" b="1" i="0" u="none" strike="noStrike">
                <a:solidFill>
                  <a:srgbClr val="60A5F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背景与需求分析</a:t>
            </a:r>
            <a:endParaRPr lang="zh-CN" altLang="en-US" sz="1200" b="1" i="0" u="none" strike="noStrike">
              <a:solidFill>
                <a:srgbClr val="60A5FA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889000" y="1079500"/>
            <a:ext cx="6285865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975Maru SC"/>
                <a:ea typeface="975Maru SC"/>
                <a:cs typeface="975Maru SC"/>
                <a:sym typeface="975Maru SC"/>
              </a:rPr>
              <a:t>衣柜已经装满，为什么仍然不知道穿什么？</a:t>
            </a:r>
            <a:endParaRPr lang="en-US" sz="3600" b="1" i="0" u="none" strike="noStrike">
              <a:solidFill>
                <a:srgbClr val="FFFFFF"/>
              </a:solidFill>
              <a:latin typeface="975Maru SC"/>
              <a:ea typeface="975Maru SC"/>
              <a:cs typeface="975Maru SC"/>
              <a:sym typeface="975Maru SC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889000" y="27305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FDBF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现有电子衣橱同步跑 AI，上传卡顿、抠图粗糙、录入全手动，用一次就想放弃。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5389582">
            <a:off x="4635500" y="3486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B5CA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175500" y="1498600"/>
            <a:ext cx="711200" cy="711200"/>
          </a:xfrm>
          <a:prstGeom prst="ellipse">
            <a:avLst/>
          </a:prstGeom>
          <a:solidFill>
            <a:srgbClr val="FB718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7175500" y="1676400"/>
            <a:ext cx="71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8064500" y="1524000"/>
            <a:ext cx="342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975Maru SC"/>
                <a:ea typeface="975Maru SC"/>
                <a:cs typeface="975Maru SC"/>
                <a:sym typeface="975Maru SC"/>
              </a:rPr>
              <a:t>今天的场合和温度适合什么？</a:t>
            </a:r>
            <a:endParaRPr lang="en-US" sz="1700" b="1" i="0" u="none" strike="noStrike">
              <a:solidFill>
                <a:srgbClr val="FFFFFF"/>
              </a:solidFill>
              <a:latin typeface="975Maru SC"/>
              <a:ea typeface="975Maru SC"/>
              <a:cs typeface="975Maru SC"/>
              <a:sym typeface="975Maru SC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8064500" y="1930400"/>
            <a:ext cx="355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200" b="0" i="0" u="none" strike="noStrike">
                <a:solidFill>
                  <a:srgbClr val="BFDBF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鱼搭给你建议</a:t>
            </a:r>
            <a:endParaRPr lang="zh-CN" altLang="en-US" sz="1200" b="0" i="0" u="none" strike="noStrike">
              <a:solidFill>
                <a:srgbClr val="BFDBFE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175500" y="3022600"/>
            <a:ext cx="711200" cy="711200"/>
          </a:xfrm>
          <a:prstGeom prst="ellipse">
            <a:avLst/>
          </a:prstGeom>
          <a:solidFill>
            <a:srgbClr val="FBBF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7175500" y="3200400"/>
            <a:ext cx="71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E3A8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064500" y="3048000"/>
            <a:ext cx="342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975Maru SC"/>
                <a:ea typeface="975Maru SC"/>
                <a:cs typeface="975Maru SC"/>
                <a:sym typeface="975Maru SC"/>
              </a:rPr>
              <a:t>衣物数量多，难以记忆、查找、整理实体衣柜</a:t>
            </a:r>
            <a:endParaRPr lang="en-US" sz="1700" b="1" i="0" u="none" strike="noStrike">
              <a:solidFill>
                <a:srgbClr val="FFFFFF"/>
              </a:solidFill>
              <a:latin typeface="975Maru SC"/>
              <a:ea typeface="975Maru SC"/>
              <a:cs typeface="975Maru SC"/>
              <a:sym typeface="975Maru SC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8064500" y="3454400"/>
            <a:ext cx="355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200" b="0" i="0" u="none" strike="noStrike">
                <a:solidFill>
                  <a:srgbClr val="BFDBF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鱼搭帮你记忆</a:t>
            </a:r>
            <a:endParaRPr lang="zh-CN" altLang="en-US" sz="1200" b="0" i="0" u="none" strike="noStrike">
              <a:solidFill>
                <a:srgbClr val="BFDBFE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175500" y="4546600"/>
            <a:ext cx="711200" cy="711200"/>
          </a:xfrm>
          <a:prstGeom prst="ellipse">
            <a:avLst/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7175500" y="4724400"/>
            <a:ext cx="71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E3A8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3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8064500" y="4572000"/>
            <a:ext cx="342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975Maru SC"/>
                <a:ea typeface="975Maru SC"/>
                <a:cs typeface="975Maru SC"/>
                <a:sym typeface="975Maru SC"/>
              </a:rPr>
              <a:t>即使收藏了很多穿搭照片，也未必能用自己已有的衣物还原。</a:t>
            </a:r>
            <a:endParaRPr lang="en-US" sz="1700" b="1" i="0" u="none" strike="noStrike">
              <a:solidFill>
                <a:srgbClr val="FFFFFF"/>
              </a:solidFill>
              <a:latin typeface="975Maru SC"/>
              <a:ea typeface="975Maru SC"/>
              <a:cs typeface="975Maru SC"/>
              <a:sym typeface="975Maru SC"/>
            </a:endParaRPr>
          </a:p>
        </p:txBody>
      </p:sp>
      <p:sp>
        <p:nvSpPr>
          <p:cNvPr id="17" name="AutoShape 17"/>
          <p:cNvSpPr txBox="1"/>
          <p:nvPr/>
        </p:nvSpPr>
        <p:spPr>
          <a:xfrm>
            <a:off x="8064500" y="4978400"/>
            <a:ext cx="355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200" b="0" i="0" u="none" strike="noStrike">
                <a:solidFill>
                  <a:srgbClr val="BFDBF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鱼搭助你还原</a:t>
            </a:r>
            <a:endParaRPr lang="zh-CN" altLang="en-US" sz="1200" b="0" i="0" u="none" strike="noStrike">
              <a:solidFill>
                <a:srgbClr val="BFDBFE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9555" y="3581400"/>
            <a:ext cx="2305685" cy="2915285"/>
          </a:xfrm>
          <a:prstGeom prst="roundRect">
            <a:avLst/>
          </a:prstGeom>
          <a:effectLst>
            <a:outerShdw blurRad="50800" dist="50800" dir="5400000" algn="ctr" rotWithShape="0">
              <a:srgbClr val="000000">
                <a:alpha val="84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70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itle"/>
          <p:cNvGrpSpPr/>
          <p:nvPr/>
        </p:nvGrpSpPr>
        <p:grpSpPr>
          <a:xfrm>
            <a:off x="591312" y="549275"/>
            <a:ext cx="5278374" cy="1657731"/>
            <a:chOff x="591312" y="549275"/>
            <a:chExt cx="5278374" cy="1657731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549275"/>
              <a:ext cx="1165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REFRAME</a:t>
              </a:r>
              <a:endParaRPr lang="en-US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1312" y="1006475"/>
              <a:ext cx="4114800" cy="553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这是一套决策过程。</a:t>
              </a:r>
              <a:endParaRPr lang="zh-CN" sz="3600" dirty="0">
                <a:solidFill>
                  <a:srgbClr val="F5F1E8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9694" y="182562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把库存变成可理解、可组合、可反馈的资源。</a:t>
              </a:r>
              <a:endParaRPr lang="zh-CN" sz="1950" dirty="0">
                <a:solidFill>
                  <a:srgbClr val="F5F1E8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decision-chain"/>
          <p:cNvGrpSpPr/>
          <p:nvPr/>
        </p:nvGrpSpPr>
        <p:grpSpPr>
          <a:xfrm>
            <a:off x="591439" y="3227705"/>
            <a:ext cx="10896219" cy="1820545"/>
            <a:chOff x="595884" y="2962275"/>
            <a:chExt cx="10896219" cy="1820545"/>
          </a:xfrm>
        </p:grpSpPr>
        <p:sp>
          <p:nvSpPr>
            <p:cNvPr id="6" name="Line 6"/>
            <p:cNvSpPr/>
            <p:nvPr/>
          </p:nvSpPr>
          <p:spPr>
            <a:xfrm>
              <a:off x="1362075" y="3057525"/>
              <a:ext cx="92964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grpSp>
          <p:nvGrpSpPr>
            <p:cNvPr id="11" name="own"/>
            <p:cNvGrpSpPr/>
            <p:nvPr/>
          </p:nvGrpSpPr>
          <p:grpSpPr>
            <a:xfrm>
              <a:off x="595884" y="2962275"/>
              <a:ext cx="1232916" cy="1820545"/>
              <a:chOff x="595884" y="2962275"/>
              <a:chExt cx="1232916" cy="1820545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276350" y="2962275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595884" y="3349625"/>
                <a:ext cx="79552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>
                    <a:solidFill>
                      <a:srgbClr val="F5F1E8"/>
                    </a:solidFill>
                    <a:latin typeface="+mj-lt"/>
                    <a:ea typeface="+mj-ea"/>
                    <a:cs typeface="+mj-cs"/>
                  </a:rPr>
                  <a:t>拥有</a:t>
                </a:r>
                <a:endParaRPr lang="zh-CN" sz="270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99694" y="3997325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真实衣物</a:t>
                </a:r>
                <a:endParaRPr lang="zh-CN" sz="195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01980" y="4489450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库存成为起点</a:t>
                </a:r>
                <a:endPara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understand"/>
            <p:cNvGrpSpPr/>
            <p:nvPr/>
          </p:nvGrpSpPr>
          <p:grpSpPr>
            <a:xfrm>
              <a:off x="3367659" y="2962275"/>
              <a:ext cx="1434846" cy="1820545"/>
              <a:chOff x="3367659" y="2962275"/>
              <a:chExt cx="1434846" cy="1820545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4029075" y="2962275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367659" y="3349625"/>
                <a:ext cx="79552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>
                    <a:solidFill>
                      <a:srgbClr val="F5F1E8"/>
                    </a:solidFill>
                    <a:latin typeface="+mj-lt"/>
                    <a:ea typeface="+mj-ea"/>
                    <a:cs typeface="+mj-cs"/>
                  </a:rPr>
                  <a:t>理解</a:t>
                </a:r>
                <a:endParaRPr lang="zh-CN" sz="270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371469" y="3997325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属性与图像</a:t>
                </a:r>
                <a:endParaRPr lang="zh-CN" sz="195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373755" y="4489450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知道它适合什么</a:t>
                </a:r>
                <a:endPara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choose"/>
            <p:cNvGrpSpPr/>
            <p:nvPr/>
          </p:nvGrpSpPr>
          <p:grpSpPr>
            <a:xfrm>
              <a:off x="6139434" y="2962275"/>
              <a:ext cx="2123694" cy="1820545"/>
              <a:chOff x="6139434" y="2962275"/>
              <a:chExt cx="2123694" cy="1820545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6810375" y="2962275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139434" y="3349625"/>
                <a:ext cx="79552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>
                    <a:solidFill>
                      <a:srgbClr val="F5F1E8"/>
                    </a:solidFill>
                    <a:latin typeface="+mj-lt"/>
                    <a:ea typeface="+mj-ea"/>
                    <a:cs typeface="+mj-cs"/>
                  </a:rPr>
                  <a:t>选择</a:t>
                </a:r>
                <a:endParaRPr lang="zh-CN" sz="270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143244" y="3997325"/>
                <a:ext cx="211988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场景、天气、风格</a:t>
                </a:r>
                <a:endParaRPr lang="zh-CN" sz="195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145530" y="4489450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每次都有依据</a:t>
                </a:r>
                <a:endPara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feedback"/>
            <p:cNvGrpSpPr/>
            <p:nvPr/>
          </p:nvGrpSpPr>
          <p:grpSpPr>
            <a:xfrm>
              <a:off x="9368409" y="2962275"/>
              <a:ext cx="2123694" cy="1820545"/>
              <a:chOff x="9368409" y="2962275"/>
              <a:chExt cx="2123694" cy="1820545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10258425" y="2962275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368409" y="3349625"/>
                <a:ext cx="79552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>
                    <a:solidFill>
                      <a:srgbClr val="F5F1E8"/>
                    </a:solidFill>
                    <a:latin typeface="+mj-lt"/>
                    <a:ea typeface="+mj-ea"/>
                    <a:cs typeface="+mj-cs"/>
                  </a:rPr>
                  <a:t>反馈</a:t>
                </a:r>
                <a:endParaRPr lang="zh-CN" sz="270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372219" y="3997325"/>
                <a:ext cx="211988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F5F1E8"/>
                    </a:solidFill>
                    <a:latin typeface="+mn-lt"/>
                    <a:ea typeface="+mn-ea"/>
                    <a:cs typeface="+mn-cs"/>
                  </a:rPr>
                  <a:t>换件、喜好、恢复</a:t>
                </a:r>
                <a:endParaRPr lang="zh-CN" sz="195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374505" y="4489450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影响下一次选择</a:t>
                </a:r>
                <a:endPara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" name="goal"/>
          <p:cNvGrpSpPr/>
          <p:nvPr/>
        </p:nvGrpSpPr>
        <p:grpSpPr>
          <a:xfrm>
            <a:off x="599694" y="5454650"/>
            <a:ext cx="6845046" cy="381381"/>
            <a:chOff x="599694" y="5454650"/>
            <a:chExt cx="6845046" cy="381381"/>
          </a:xfrm>
        </p:grpSpPr>
        <p:sp>
          <p:nvSpPr>
            <p:cNvPr id="28" name="TextBox 28"/>
            <p:cNvSpPr txBox="1"/>
            <p:nvPr/>
          </p:nvSpPr>
          <p:spPr>
            <a:xfrm>
              <a:off x="599694" y="5454650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目标：让更多已有衣物进入日常穿着。效果仍需用户验证。</a:t>
              </a:r>
              <a:endParaRPr lang="zh-CN" sz="19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603504" y="6324600"/>
            <a:ext cx="10800740" cy="234696"/>
            <a:chOff x="603504" y="6324600"/>
            <a:chExt cx="10800740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603504" y="632460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鱼搭 / 立意</a:t>
              </a:r>
              <a:endPara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14354" y="63246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wardrobe-hero"/>
          <p:cNvGrpSpPr/>
          <p:nvPr/>
        </p:nvGrpSpPr>
        <p:grpSpPr>
          <a:xfrm>
            <a:off x="9568815" y="243840"/>
            <a:ext cx="2540635" cy="2453574"/>
            <a:chOff x="7191375" y="1412875"/>
            <a:chExt cx="4191000" cy="3903629"/>
          </a:xfrm>
          <a:effectLst>
            <a:outerShdw blurRad="50800" dist="38100" dir="2700000" algn="tl" rotWithShape="0">
              <a:schemeClr val="tx1">
                <a:alpha val="40000"/>
              </a:schemeClr>
            </a:outerShdw>
            <a:reflection blurRad="6350" stA="50000" endA="300" endPos="38500" dist="50800" dir="5400000" sy="-100000" algn="bl" rotWithShape="0"/>
          </a:effectLst>
        </p:grpSpPr>
        <p:sp>
          <p:nvSpPr>
            <p:cNvPr id="34" name="Line 11"/>
            <p:cNvSpPr/>
            <p:nvPr/>
          </p:nvSpPr>
          <p:spPr>
            <a:xfrm>
              <a:off x="7191375" y="14192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35" name="Freeform 12"/>
            <p:cNvSpPr/>
            <p:nvPr/>
          </p:nvSpPr>
          <p:spPr>
            <a:xfrm>
              <a:off x="9013825" y="1412875"/>
              <a:ext cx="292100" cy="406400"/>
            </a:xfrm>
            <a:custGeom>
              <a:avLst/>
              <a:gdLst/>
              <a:ahLst/>
              <a:cxnLst/>
              <a:rect l="l" t="t" r="r" b="b"/>
              <a:pathLst>
                <a:path w="292100" h="406400">
                  <a:moveTo>
                    <a:pt x="63500" y="406400"/>
                  </a:moveTo>
                  <a:cubicBezTo>
                    <a:pt x="0" y="196850"/>
                    <a:pt x="19050" y="69850"/>
                    <a:pt x="120650" y="25400"/>
                  </a:cubicBezTo>
                  <a:cubicBezTo>
                    <a:pt x="215900" y="0"/>
                    <a:pt x="273050" y="25400"/>
                    <a:pt x="292100" y="101600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6" name="Freeform 13"/>
            <p:cNvSpPr/>
            <p:nvPr/>
          </p:nvSpPr>
          <p:spPr>
            <a:xfrm>
              <a:off x="8258175" y="1819275"/>
              <a:ext cx="1905000" cy="457200"/>
            </a:xfrm>
            <a:custGeom>
              <a:avLst/>
              <a:gdLst/>
              <a:ahLst/>
              <a:cxnLst/>
              <a:rect l="l" t="t" r="r" b="b"/>
              <a:pathLst>
                <a:path w="1905000" h="457200">
                  <a:moveTo>
                    <a:pt x="0" y="428625"/>
                  </a:moveTo>
                  <a:lnTo>
                    <a:pt x="819150" y="0"/>
                  </a:lnTo>
                  <a:lnTo>
                    <a:pt x="1905000" y="4572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7" name="Freeform 14"/>
            <p:cNvSpPr/>
            <p:nvPr/>
          </p:nvSpPr>
          <p:spPr>
            <a:xfrm>
              <a:off x="7372350" y="2057400"/>
              <a:ext cx="3324225" cy="3228975"/>
            </a:xfrm>
            <a:custGeom>
              <a:avLst/>
              <a:gdLst/>
              <a:ahLst/>
              <a:cxnLst/>
              <a:rect l="l" t="t" r="r" b="b"/>
              <a:pathLst>
                <a:path w="3324225" h="3228975">
                  <a:moveTo>
                    <a:pt x="1152525" y="66675"/>
                  </a:moveTo>
                  <a:lnTo>
                    <a:pt x="1457325" y="161925"/>
                  </a:lnTo>
                  <a:lnTo>
                    <a:pt x="1847850" y="133350"/>
                  </a:lnTo>
                  <a:lnTo>
                    <a:pt x="2095500" y="0"/>
                  </a:lnTo>
                  <a:lnTo>
                    <a:pt x="2895600" y="485775"/>
                  </a:lnTo>
                  <a:lnTo>
                    <a:pt x="3324225" y="1647825"/>
                  </a:lnTo>
                  <a:lnTo>
                    <a:pt x="2952750" y="1828800"/>
                  </a:lnTo>
                  <a:lnTo>
                    <a:pt x="2619375" y="1190625"/>
                  </a:lnTo>
                  <a:lnTo>
                    <a:pt x="2771775" y="3228975"/>
                  </a:lnTo>
                  <a:lnTo>
                    <a:pt x="552450" y="3228975"/>
                  </a:lnTo>
                  <a:lnTo>
                    <a:pt x="733425" y="1209675"/>
                  </a:lnTo>
                  <a:lnTo>
                    <a:pt x="419100" y="1838325"/>
                  </a:lnTo>
                  <a:lnTo>
                    <a:pt x="0" y="1647825"/>
                  </a:lnTo>
                  <a:lnTo>
                    <a:pt x="400050" y="50482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8D739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8" name="Freeform 15"/>
            <p:cNvSpPr/>
            <p:nvPr/>
          </p:nvSpPr>
          <p:spPr>
            <a:xfrm>
              <a:off x="8524875" y="2124075"/>
              <a:ext cx="695325" cy="1085850"/>
            </a:xfrm>
            <a:custGeom>
              <a:avLst/>
              <a:gdLst/>
              <a:ahLst/>
              <a:cxnLst/>
              <a:rect l="l" t="t" r="r" b="b"/>
              <a:pathLst>
                <a:path w="695325" h="1085850">
                  <a:moveTo>
                    <a:pt x="0" y="0"/>
                  </a:moveTo>
                  <a:lnTo>
                    <a:pt x="495300" y="1085850"/>
                  </a:lnTo>
                  <a:lnTo>
                    <a:pt x="695325" y="66675"/>
                  </a:lnTo>
                  <a:lnTo>
                    <a:pt x="504825" y="285750"/>
                  </a:lnTo>
                  <a:lnTo>
                    <a:pt x="209550" y="64770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9" name="Freeform 16"/>
            <p:cNvSpPr/>
            <p:nvPr/>
          </p:nvSpPr>
          <p:spPr>
            <a:xfrm>
              <a:off x="9020175" y="2057400"/>
              <a:ext cx="447675" cy="1152525"/>
            </a:xfrm>
            <a:custGeom>
              <a:avLst/>
              <a:gdLst/>
              <a:ahLst/>
              <a:cxnLst/>
              <a:rect l="l" t="t" r="r" b="b"/>
              <a:pathLst>
                <a:path w="447675" h="1152525">
                  <a:moveTo>
                    <a:pt x="447675" y="0"/>
                  </a:moveTo>
                  <a:lnTo>
                    <a:pt x="0" y="1152525"/>
                  </a:lnTo>
                  <a:lnTo>
                    <a:pt x="200025" y="133350"/>
                  </a:lnTo>
                  <a:lnTo>
                    <a:pt x="333375" y="419100"/>
                  </a:lnTo>
                  <a:lnTo>
                    <a:pt x="276225" y="6381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40" name="Line 17"/>
            <p:cNvSpPr/>
            <p:nvPr/>
          </p:nvSpPr>
          <p:spPr>
            <a:xfrm>
              <a:off x="9020175" y="3209925"/>
              <a:ext cx="9525" cy="2028825"/>
            </a:xfrm>
            <a:custGeom>
              <a:avLst/>
              <a:gdLst/>
              <a:ahLst/>
              <a:cxnLst/>
              <a:rect l="l" t="t" r="r" b="b"/>
              <a:pathLst>
                <a:path w="9525" h="2028825">
                  <a:moveTo>
                    <a:pt x="0" y="0"/>
                  </a:moveTo>
                  <a:lnTo>
                    <a:pt x="0" y="2028825"/>
                  </a:lnTo>
                </a:path>
              </a:pathLst>
            </a:custGeom>
            <a:noFill/>
            <a:ln w="19050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41" name="Ellipse 18"/>
            <p:cNvSpPr/>
            <p:nvPr/>
          </p:nvSpPr>
          <p:spPr>
            <a:xfrm>
              <a:off x="9239250" y="352425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19"/>
            <p:cNvSpPr/>
            <p:nvPr/>
          </p:nvSpPr>
          <p:spPr>
            <a:xfrm>
              <a:off x="9239250" y="39243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Rectangle 20"/>
            <p:cNvSpPr/>
            <p:nvPr/>
          </p:nvSpPr>
          <p:spPr>
            <a:xfrm>
              <a:off x="8315325" y="4181475"/>
              <a:ext cx="361950" cy="5715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  <p:sp>
          <p:nvSpPr>
            <p:cNvPr id="44" name="Rectangle 21"/>
            <p:cNvSpPr/>
            <p:nvPr/>
          </p:nvSpPr>
          <p:spPr>
            <a:xfrm>
              <a:off x="9458325" y="4181475"/>
              <a:ext cx="361950" cy="5715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  <p:sp>
          <p:nvSpPr>
            <p:cNvPr id="45" name="TextBox 22"/>
            <p:cNvSpPr txBox="1"/>
            <p:nvPr/>
          </p:nvSpPr>
          <p:spPr>
            <a:xfrm rot="-5400000">
              <a:off x="9772256" y="4549465"/>
              <a:ext cx="849020" cy="6850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l"/>
              <a:r>
                <a:rPr lang="en-US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RE: WEAR</a:t>
              </a:r>
              <a:endParaRPr lang="en-US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0" y="762000"/>
            <a:ext cx="1219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ctr">
              <a:lnSpc>
                <a:spcPct val="125000"/>
              </a:lnSpc>
              <a:buSzTx/>
              <a:defRPr/>
            </a:pPr>
            <a:r>
              <a:rPr lang="en-US" sz="13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975Maru SC"/>
              </a:rPr>
              <a:t>02</a:t>
            </a:r>
            <a:r>
              <a:rPr lang="en-US" sz="13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·</a:t>
            </a:r>
            <a:r>
              <a:rPr lang="en-US" sz="13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975Maru SC"/>
              </a:rPr>
              <a:t>产品与核心功能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524000" y="1524000"/>
            <a:ext cx="914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42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拍照上传，剩下的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42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交给</a:t>
            </a:r>
            <a:r>
              <a:rPr lang="en-US" sz="4200" b="1" i="0" u="none" strike="noStrike">
                <a:solidFill>
                  <a:srgbClr val="2563EB"/>
                </a:solidFill>
                <a:latin typeface="975Maru SC"/>
                <a:ea typeface="975Maru SC"/>
                <a:cs typeface="975Maru SC"/>
                <a:sym typeface="975Maru SC"/>
              </a:rPr>
              <a:t>鱼搭</a:t>
            </a:r>
            <a:r>
              <a:rPr lang="en-US" sz="42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自有办法</a:t>
            </a:r>
            <a:endParaRPr lang="zh-CN" altLang="en-US" sz="4200" b="1" i="0" u="none" strike="noStrike">
              <a:solidFill>
                <a:srgbClr val="2563EB"/>
              </a:solidFill>
              <a:latin typeface="975Maru SC"/>
              <a:ea typeface="975Maru SC"/>
              <a:cs typeface="975Maru SC"/>
              <a:sym typeface="975Maru SC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19704" b="19704"/>
          <a:stretch>
            <a:fillRect/>
          </a:stretch>
        </p:blipFill>
        <p:spPr>
          <a:xfrm>
            <a:off x="1905000" y="3238500"/>
            <a:ext cx="8382000" cy="2857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0" y="6350000"/>
            <a:ext cx="1219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批量上传 → 后台异步整理 → 自动生成你的电子衣橱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accent1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grpSp>
        <p:nvGrpSpPr>
          <p:cNvPr id="40" name="loop"/>
          <p:cNvGrpSpPr/>
          <p:nvPr/>
        </p:nvGrpSpPr>
        <p:grpSpPr>
          <a:xfrm>
            <a:off x="759333" y="2212975"/>
            <a:ext cx="9803892" cy="3217545"/>
            <a:chOff x="759333" y="2212975"/>
            <a:chExt cx="9803892" cy="3217545"/>
          </a:xfrm>
        </p:grpSpPr>
        <p:sp>
          <p:nvSpPr>
            <p:cNvPr id="6" name="Line 6"/>
            <p:cNvSpPr/>
            <p:nvPr/>
          </p:nvSpPr>
          <p:spPr>
            <a:xfrm>
              <a:off x="1895475" y="2619375"/>
              <a:ext cx="829627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10334625" y="2714625"/>
              <a:ext cx="1" cy="1609725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 flipH="1">
              <a:off x="1876425" y="4400550"/>
              <a:ext cx="841057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 flipV="1">
              <a:off x="1676400" y="2724150"/>
              <a:ext cx="1" cy="16192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prstDash val="lgDash"/>
              <a:tailEnd type="triangle" w="lg" len="lg"/>
            </a:ln>
          </p:spPr>
        </p:sp>
        <p:grpSp>
          <p:nvGrpSpPr>
            <p:cNvPr id="14" name="intake"/>
            <p:cNvGrpSpPr/>
            <p:nvPr/>
          </p:nvGrpSpPr>
          <p:grpSpPr>
            <a:xfrm>
              <a:off x="1447800" y="2212975"/>
              <a:ext cx="2731580" cy="798195"/>
              <a:chOff x="1447800" y="2212975"/>
              <a:chExt cx="2731580" cy="798195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1447800" y="2390775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613249" y="250507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311908" y="22129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拍照入柜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316480" y="2717800"/>
                <a:ext cx="18629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图片整理 · 属性修正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search"/>
            <p:cNvGrpSpPr/>
            <p:nvPr/>
          </p:nvGrpSpPr>
          <p:grpSpPr>
            <a:xfrm>
              <a:off x="5791835" y="2212975"/>
              <a:ext cx="2454529" cy="798195"/>
              <a:chOff x="5791835" y="2212975"/>
              <a:chExt cx="2454529" cy="798195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5791835" y="2390775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5956649" y="2505075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550533" y="22129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混合检索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555105" y="2717800"/>
                <a:ext cx="169125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字段 · 文本 · 图像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recommend"/>
            <p:cNvGrpSpPr/>
            <p:nvPr/>
          </p:nvGrpSpPr>
          <p:grpSpPr>
            <a:xfrm>
              <a:off x="8474583" y="2390775"/>
              <a:ext cx="2088642" cy="1591945"/>
              <a:chOff x="8474583" y="2390775"/>
              <a:chExt cx="2088642" cy="1591945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10106025" y="2390775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281603" y="2505075"/>
                <a:ext cx="106045" cy="230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buSzTx/>
                </a:pP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474583" y="3222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计算推荐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479155" y="3689350"/>
                <a:ext cx="169125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组合 · 评分 · 理由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9" name="compose"/>
            <p:cNvGrpSpPr/>
            <p:nvPr/>
          </p:nvGrpSpPr>
          <p:grpSpPr>
            <a:xfrm>
              <a:off x="8417433" y="4171950"/>
              <a:ext cx="2145792" cy="1258570"/>
              <a:chOff x="8417433" y="4171950"/>
              <a:chExt cx="2145792" cy="1258570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10106025" y="4171950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271474" y="428625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417433" y="46704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搭台编辑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422005" y="5137150"/>
                <a:ext cx="14590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多画板 · 可接手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ootd"/>
            <p:cNvGrpSpPr/>
            <p:nvPr/>
          </p:nvGrpSpPr>
          <p:grpSpPr>
            <a:xfrm>
              <a:off x="5083683" y="4171950"/>
              <a:ext cx="1710050" cy="1258570"/>
              <a:chOff x="5083683" y="4171950"/>
              <a:chExt cx="1710050" cy="1258570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5791200" y="4171950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956649" y="428625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5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083683" y="4670425"/>
                <a:ext cx="171005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OOTD 预览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088255" y="5137150"/>
                <a:ext cx="169125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模特 · 动作 · 调整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feedback"/>
            <p:cNvGrpSpPr/>
            <p:nvPr/>
          </p:nvGrpSpPr>
          <p:grpSpPr>
            <a:xfrm>
              <a:off x="759333" y="4171950"/>
              <a:ext cx="1463612" cy="1258570"/>
              <a:chOff x="759333" y="4171950"/>
              <a:chExt cx="1463612" cy="1258570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1447800" y="4171950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613249" y="4286250"/>
                <a:ext cx="1263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6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59333" y="46704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反馈调整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63905" y="5137150"/>
                <a:ext cx="14590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有粒度 · 可恢复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702310" y="5565140"/>
            <a:ext cx="554672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dirty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OOTD 用于效果预览，不能证明尺码合身或保证衣物细节完全一致。</a:t>
            </a:r>
            <a:endParaRPr lang="zh-CN" altLang="en-US" dirty="0">
              <a:solidFill>
                <a:schemeClr val="tx2">
                  <a:lumMod val="50000"/>
                </a:schemeClr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1815" y="782320"/>
            <a:ext cx="6227445" cy="70675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pPr algn="l"/>
            <a:r>
              <a:rPr lang="zh-CN" sz="4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  <a:sym typeface="+mn-ea"/>
              </a:rPr>
              <a:t>一个从入柜到出门的闭环。</a:t>
            </a:r>
            <a:endParaRPr lang="zh-CN" altLang="en-US" sz="4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  <a:sym typeface="+mn-ea"/>
            </a:endParaRPr>
          </a:p>
        </p:txBody>
      </p:sp>
      <p:sp>
        <p:nvSpPr>
          <p:cNvPr id="41" name="AutoShape 2"/>
          <p:cNvSpPr txBox="1"/>
          <p:nvPr/>
        </p:nvSpPr>
        <p:spPr>
          <a:xfrm>
            <a:off x="963295" y="50292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cene3d>
              <a:camera prst="orthographicFront"/>
              <a:lightRig rig="threePt" dir="t"/>
            </a:scene3d>
          </a:bodyPr>
          <a:p>
            <a:pPr marL="0" algn="l">
              <a:lnSpc>
                <a:spcPct val="125000"/>
              </a:lnSpc>
              <a:buSzTx/>
              <a:defRPr/>
            </a:pPr>
            <a:r>
              <a:rPr lang="en-US" sz="1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975Maru SC"/>
              </a:rPr>
              <a:t>02</a:t>
            </a:r>
            <a:r>
              <a:rPr lang="en-US" sz="1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·</a:t>
            </a:r>
            <a:r>
              <a:rPr lang="en-US" sz="1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975Maru SC"/>
              </a:rPr>
              <a:t>产品与核心功能</a:t>
            </a:r>
            <a:endParaRPr lang="en-US" sz="1200" b="1" i="0" u="none" strike="noStrike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975Maru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5715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四个动作，搭好衣橱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914400" y="1168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0A5F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· 核心功能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552" r="552"/>
          <a:stretch>
            <a:fillRect/>
          </a:stretch>
        </p:blipFill>
        <p:spPr>
          <a:xfrm>
            <a:off x="889000" y="1651000"/>
            <a:ext cx="4572000" cy="260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889000" y="43815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按颜色 · 按品类 · 按季节，一秒整理好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552" r="552"/>
          <a:stretch>
            <a:fillRect/>
          </a:stretch>
        </p:blipFill>
        <p:spPr>
          <a:xfrm>
            <a:off x="6858000" y="1651000"/>
            <a:ext cx="4572000" cy="260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 txBox="1"/>
          <p:nvPr/>
        </p:nvSpPr>
        <p:spPr>
          <a:xfrm>
            <a:off x="6858000" y="43815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一键扫描整个衣柜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4192">
            <a:off x="889004" y="5073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5270500"/>
            <a:ext cx="431800" cy="4318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952500" y="5359400"/>
            <a:ext cx="431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498600" y="52324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批量上传 · 图片预处理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000500" y="5270500"/>
            <a:ext cx="431800" cy="431800"/>
          </a:xfrm>
          <a:prstGeom prst="ellipse">
            <a:avLst/>
          </a:prstGeom>
          <a:solidFill>
            <a:srgbClr val="FB718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4000500" y="5359400"/>
            <a:ext cx="431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4546600" y="52324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AI 自动抠图去背景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048500" y="5270500"/>
            <a:ext cx="431800" cy="431800"/>
          </a:xfrm>
          <a:prstGeom prst="ellipse">
            <a:avLst/>
          </a:prstGeom>
          <a:solidFill>
            <a:srgbClr val="FBBF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7048500" y="5359400"/>
            <a:ext cx="431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3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7594600" y="52324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自动识别打标签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842500" y="5270500"/>
            <a:ext cx="431800" cy="431800"/>
          </a:xfrm>
          <a:prstGeom prst="ellipse">
            <a:avLst/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/>
        </p:nvSpPr>
        <p:spPr>
          <a:xfrm>
            <a:off x="9842500" y="5359400"/>
            <a:ext cx="431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4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0312400" y="52324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穿搭辅助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889000" y="57785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左边两张是小程序真实界面截图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5715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同样电子衣橱，我们快在哪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914400" y="1168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0A5F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· 创新对比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89000" y="1714500"/>
          <a:ext cx="10414000" cy="419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4254500"/>
                <a:gridCol w="4254500"/>
              </a:tblGrid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维度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现有产品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鱼搭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>
                        <a:alpha val="100000"/>
                      </a:srgbClr>
                    </a:solidFill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3A8A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图片处理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同步处理，大图易卡死超时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D4ED8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异步后台队列，提交即返回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>
                        <a:alpha val="8000"/>
                      </a:srgbClr>
                    </a:solidFill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3A8A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抠图效果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通用抠图，褶皱边缘毛糙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D4ED8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服饰场景优化，轮廓更精细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>
                        <a:alpha val="8000"/>
                      </a:srgbClr>
                    </a:solidFill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3A8A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录入方式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品类、颜色全靠手填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D4ED8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AI 自动识别，一键打标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>
                        <a:alpha val="8000"/>
                      </a:srgbClr>
                    </a:solidFill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E3A8A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用户体验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75569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长时间转圈，中途退出率高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D4ED8"/>
                          </a:solidFill>
                          <a:latin typeface="Noto Sans SC" panose="020B0500000000000000" charset="-122"/>
                          <a:ea typeface="Noto Sans SC" panose="020B0500000000000000" charset="-122"/>
                          <a:cs typeface="Noto Sans SC" panose="020B0500000000000000" charset="-122"/>
                          <a:sym typeface="Noto Sans SC" panose="020B0500000000000000" charset="-122"/>
                        </a:rPr>
                        <a:t>秒级响应，完成后通知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>
                        <a:alpha val="8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571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衣物图像处理三道工序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914400" y="11684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0A5F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· 核心算法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89000" y="2095500"/>
            <a:ext cx="3175000" cy="2667000"/>
          </a:xfrm>
          <a:prstGeom prst="roundRect">
            <a:avLst>
              <a:gd name="adj" fmla="val 952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43000" y="2286000"/>
            <a:ext cx="609600" cy="6096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1143000" y="2438400"/>
            <a:ext cx="609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905000" y="23368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图像预处理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143000" y="3048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图片压缩、尺寸归一、色彩矫正，降低推理成本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14549">
            <a:off x="4127606" y="3422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0" name="AutoShape 10"/>
          <p:cNvSpPr/>
          <p:nvPr/>
        </p:nvSpPr>
        <p:spPr>
          <a:xfrm>
            <a:off x="4635500" y="2095500"/>
            <a:ext cx="3175000" cy="2667000"/>
          </a:xfrm>
          <a:prstGeom prst="roundRect">
            <a:avLst>
              <a:gd name="adj" fmla="val 952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889500" y="2286000"/>
            <a:ext cx="609600" cy="609600"/>
          </a:xfrm>
          <a:prstGeom prst="ellipse">
            <a:avLst/>
          </a:prstGeom>
          <a:solidFill>
            <a:srgbClr val="FB718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4889500" y="2438400"/>
            <a:ext cx="609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5651500" y="23368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服饰分割抠图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4889500" y="3048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针对衣物轮廓与褶皱优化，去背景、保边缘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14549">
            <a:off x="7874106" y="3422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6" name="AutoShape 16"/>
          <p:cNvSpPr/>
          <p:nvPr/>
        </p:nvSpPr>
        <p:spPr>
          <a:xfrm>
            <a:off x="8382000" y="2095500"/>
            <a:ext cx="2921000" cy="2667000"/>
          </a:xfrm>
          <a:prstGeom prst="roundRect">
            <a:avLst>
              <a:gd name="adj" fmla="val 952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636000" y="2286000"/>
            <a:ext cx="609600" cy="609600"/>
          </a:xfrm>
          <a:prstGeom prst="ellipse">
            <a:avLst/>
          </a:prstGeom>
          <a:solidFill>
            <a:srgbClr val="FBBF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 txBox="1"/>
          <p:nvPr/>
        </p:nvSpPr>
        <p:spPr>
          <a:xfrm>
            <a:off x="8636000" y="2438400"/>
            <a:ext cx="609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3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9398000" y="23368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多维度识别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8636000" y="3048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识别类别、颜色、季节，自动生成标签入库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889000" y="52070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D4ED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三道工序全部在后台异步执行，用户上传后无需等待</a:t>
            </a:r>
            <a:r>
              <a:rPr lang="zh-CN" altLang="en-US" sz="1300" b="1" i="0" u="none" strike="noStrike">
                <a:solidFill>
                  <a:srgbClr val="1D4ED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（</a:t>
            </a:r>
            <a:r>
              <a:rPr lang="en-US" altLang="zh-CN" sz="1300" b="1" i="0" u="none" strike="noStrike">
                <a:solidFill>
                  <a:srgbClr val="1D4ED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1-2min</a:t>
            </a:r>
            <a:r>
              <a:rPr lang="zh-CN" altLang="en-US" sz="1300" b="1" i="0" u="none" strike="noStrike">
                <a:solidFill>
                  <a:srgbClr val="1D4ED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）</a:t>
            </a:r>
            <a:endParaRPr lang="zh-CN" altLang="en-US" sz="1300" b="1" i="0" u="none" strike="noStrike">
              <a:solidFill>
                <a:srgbClr val="1D4ED8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508000"/>
            <a:ext cx="8890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异步队列：上传与 AI 计算解耦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914400" y="10160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0A5F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 · 技术架构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89000" y="1422400"/>
            <a:ext cx="7366000" cy="787400"/>
          </a:xfrm>
          <a:prstGeom prst="roundRect">
            <a:avLst>
              <a:gd name="adj" fmla="val 1935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1143000" y="1524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前端层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143000" y="1854200"/>
            <a:ext cx="685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微信小程序 · 上传图片 · 接收处理完成通知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4972499">
            <a:off x="4521200" y="22546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889000" y="2336800"/>
            <a:ext cx="7366000" cy="787400"/>
          </a:xfrm>
          <a:prstGeom prst="roundRect">
            <a:avLst>
              <a:gd name="adj" fmla="val 1935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1143000" y="24384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API 服务层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143000" y="2768600"/>
            <a:ext cx="685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接收图片 · 创建任务 · 立即返回成功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4972499">
            <a:off x="4521200" y="31690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2" name="AutoShape 12"/>
          <p:cNvSpPr/>
          <p:nvPr/>
        </p:nvSpPr>
        <p:spPr>
          <a:xfrm>
            <a:off x="889000" y="3251200"/>
            <a:ext cx="7366000" cy="990600"/>
          </a:xfrm>
          <a:prstGeom prst="roundRect">
            <a:avLst>
              <a:gd name="adj" fmla="val 15384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1143000" y="33782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975Maru SC"/>
                <a:ea typeface="975Maru SC"/>
                <a:cs typeface="975Maru SC"/>
                <a:sym typeface="975Maru SC"/>
              </a:rPr>
              <a:t>异步任务队列层（核心）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143000" y="3759200"/>
            <a:ext cx="685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BEAF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任务入队 → 后台消费者依次执行：预处理 · 抠图 · 识别打标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4972499">
            <a:off x="4521200" y="4286645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6" name="AutoShape 16"/>
          <p:cNvSpPr/>
          <p:nvPr/>
        </p:nvSpPr>
        <p:spPr>
          <a:xfrm>
            <a:off x="889000" y="4368800"/>
            <a:ext cx="7366000" cy="787400"/>
          </a:xfrm>
          <a:prstGeom prst="roundRect">
            <a:avLst>
              <a:gd name="adj" fmla="val 1935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1143000" y="44704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存储层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143000" y="4800600"/>
            <a:ext cx="685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对象存储（图片）· 数据库（衣物标签与衣橱）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8763000" y="1524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975Maru SC"/>
                <a:ea typeface="975Maru SC"/>
                <a:cs typeface="975Maru SC"/>
                <a:sym typeface="975Maru SC"/>
              </a:rPr>
              <a:t>用户体验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8763000" y="19304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上传即提示处理中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无需等待，可退出</a:t>
            </a:r>
            <a:endParaRPr lang="en-US" sz="1300" b="0" i="0" u="none" strike="noStrike">
              <a:solidFill>
                <a:srgbClr val="475569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完成后推送通知</a:t>
            </a:r>
            <a:endParaRPr lang="en-US" sz="1300" b="0" i="0" u="none" strike="noStrike">
              <a:solidFill>
                <a:srgbClr val="475569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衣橱自动更新好</a:t>
            </a:r>
            <a:endParaRPr lang="en-US" sz="1300" b="0" i="0" u="none" strike="noStrike">
              <a:solidFill>
                <a:srgbClr val="475569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5715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谁在用鱼搭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914400" y="1168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0A5F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05 · 目标用户与市场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89000" y="1905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衣物多、爱穿搭、却总觉得</a:t>
            </a:r>
            <a:r>
              <a:rPr lang="en-US" sz="1500" b="1" i="0" u="none" strike="noStrike">
                <a:solidFill>
                  <a:srgbClr val="2563E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「没衣服穿」</a:t>
            </a:r>
            <a:r>
              <a:rPr lang="en-US" sz="1500" b="0" i="0" u="none" strike="noStrike">
                <a:solidFill>
                  <a:srgbClr val="47556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的年轻人。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47556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想线上管理衣橱，却被繁琐录入挡在门外。</a:t>
            </a:r>
            <a:endParaRPr lang="en-US" sz="1500" b="0" i="0" u="none" strike="noStrike">
              <a:solidFill>
                <a:srgbClr val="475569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9549">
            <a:off x="889009" y="361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89000" y="38100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切入点：从高校学生冷启动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889000" y="4191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校园人群集中、传播快、穿搭分享意愿强，先用流畅体验形成口碑，再向外扩展。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1778000"/>
            <a:ext cx="4953000" cy="3937000"/>
          </a:xfrm>
          <a:prstGeom prst="roundRect">
            <a:avLst>
              <a:gd name="adj" fmla="val 6451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6731000" y="20955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93C5F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市场机会判断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731000" y="2603500"/>
            <a:ext cx="660400" cy="660400"/>
          </a:xfrm>
          <a:prstGeom prst="ellipse">
            <a:avLst/>
          </a:prstGeom>
          <a:solidFill>
            <a:srgbClr val="FB718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6731000" y="2743200"/>
            <a:ext cx="66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7556500" y="2667000"/>
            <a:ext cx="342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975Maru SC"/>
                <a:ea typeface="975Maru SC"/>
                <a:cs typeface="975Maru SC"/>
                <a:sym typeface="975Maru SC"/>
              </a:rPr>
              <a:t>需求真实存在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7556500" y="3048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FDBF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年轻人想管理衣橱却缺好工具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731000" y="3708400"/>
            <a:ext cx="660400" cy="660400"/>
          </a:xfrm>
          <a:prstGeom prst="ellipse">
            <a:avLst/>
          </a:prstGeom>
          <a:solidFill>
            <a:srgbClr val="FBBF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6731000" y="3848100"/>
            <a:ext cx="66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7556500" y="3771900"/>
            <a:ext cx="342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975Maru SC"/>
                <a:ea typeface="975Maru SC"/>
                <a:cs typeface="975Maru SC"/>
                <a:sym typeface="975Maru SC"/>
              </a:rPr>
              <a:t>现有产品体验差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7556500" y="41529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FDBF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卡顿、录入重，用户留存低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731000" y="4813300"/>
            <a:ext cx="660400" cy="660400"/>
          </a:xfrm>
          <a:prstGeom prst="ellipse">
            <a:avLst/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/>
        </p:nvSpPr>
        <p:spPr>
          <a:xfrm>
            <a:off x="6731000" y="4953000"/>
            <a:ext cx="66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3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7556500" y="4876800"/>
            <a:ext cx="342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975Maru SC"/>
                <a:ea typeface="975Maru SC"/>
                <a:cs typeface="975Maru SC"/>
                <a:sym typeface="975Maru SC"/>
              </a:rPr>
              <a:t>鱼搭打出差异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7556500" y="52578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FDBF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异步架构带来流畅体验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5715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鱼搭靠什么赚钱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914400" y="1168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0A5F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05 · 商业模式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89000" y="2032000"/>
            <a:ext cx="3175000" cy="3556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43000" y="2032000"/>
            <a:ext cx="660400" cy="660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1143000" y="2184400"/>
            <a:ext cx="66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43000" y="29210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C 端会员增值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143000" y="33782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高级批量额度、高清导出、AI 穿搭推荐，订阅付费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34205" y="2032000"/>
            <a:ext cx="3175000" cy="3556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762500" y="2032000"/>
            <a:ext cx="660400" cy="660400"/>
          </a:xfrm>
          <a:prstGeom prst="ellipse">
            <a:avLst/>
          </a:prstGeom>
          <a:solidFill>
            <a:srgbClr val="FB718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4762500" y="2184400"/>
            <a:ext cx="66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4762500" y="29210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穿搭导购分成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4762500" y="33782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基于衣橱画像种草推荐，对接电商赚佣金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64500" y="2032000"/>
            <a:ext cx="3175000" cy="3556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382000" y="2032000"/>
            <a:ext cx="660400" cy="660400"/>
          </a:xfrm>
          <a:prstGeom prst="ellipse">
            <a:avLst/>
          </a:prstGeom>
          <a:solidFill>
            <a:srgbClr val="FBBF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8382000" y="2184400"/>
            <a:ext cx="66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3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8382000" y="29210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B 端处理服务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8382000" y="33782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把衣物抠图、批量处理开放给服装商家，按调用收费</a:t>
            </a:r>
            <a:endParaRPr lang="en-US" sz="1100"/>
          </a:p>
        </p:txBody>
      </p:sp>
      <p:grpSp>
        <p:nvGrpSpPr>
          <p:cNvPr id="19" name="annual"/>
          <p:cNvGrpSpPr/>
          <p:nvPr/>
        </p:nvGrpSpPr>
        <p:grpSpPr>
          <a:xfrm>
            <a:off x="7091680" y="264160"/>
            <a:ext cx="4608000" cy="1440000"/>
            <a:chOff x="6791325" y="2209800"/>
            <a:chExt cx="4791075" cy="2333625"/>
          </a:xfrm>
        </p:grpSpPr>
        <p:sp>
          <p:nvSpPr>
            <p:cNvPr id="20" name="Rectangle 14"/>
            <p:cNvSpPr/>
            <p:nvPr/>
          </p:nvSpPr>
          <p:spPr>
            <a:xfrm>
              <a:off x="6791325" y="2209800"/>
              <a:ext cx="4791075" cy="2333625"/>
            </a:xfrm>
            <a:prstGeom prst="flowChartAlternateProcess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15"/>
            <p:cNvSpPr txBox="1"/>
            <p:nvPr/>
          </p:nvSpPr>
          <p:spPr>
            <a:xfrm>
              <a:off x="7040880" y="2489200"/>
              <a:ext cx="2064830" cy="3289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年订阅收入 / 情景数据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16"/>
            <p:cNvSpPr txBox="1"/>
            <p:nvPr/>
          </p:nvSpPr>
          <p:spPr>
            <a:xfrm>
              <a:off x="7029450" y="2863850"/>
              <a:ext cx="2090517" cy="13460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l"/>
              <a:r>
                <a:rPr lang="zh-CN" sz="5400" b="1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9.95</a:t>
              </a:r>
              <a:endParaRPr lang="zh-CN" sz="5400" b="1" dirty="0">
                <a:solidFill>
                  <a:srgbClr val="F5F1E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17"/>
            <p:cNvSpPr txBox="1"/>
            <p:nvPr/>
          </p:nvSpPr>
          <p:spPr>
            <a:xfrm>
              <a:off x="9530334" y="3282950"/>
              <a:ext cx="795528" cy="5925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l"/>
              <a:r>
                <a:rPr lang="zh-CN" sz="2700" dirty="0">
                  <a:solidFill>
                    <a:srgbClr val="F5F1E8"/>
                  </a:solidFill>
                  <a:latin typeface="+mj-lt"/>
                  <a:ea typeface="+mj-ea"/>
                  <a:cs typeface="+mj-cs"/>
                </a:rPr>
                <a:t>万元</a:t>
              </a:r>
              <a:endParaRPr lang="zh-CN" sz="2700" dirty="0">
                <a:solidFill>
                  <a:srgbClr val="F5F1E8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4" name="TextBox 18"/>
            <p:cNvSpPr txBox="1"/>
            <p:nvPr/>
          </p:nvSpPr>
          <p:spPr>
            <a:xfrm>
              <a:off x="7040880" y="4098925"/>
              <a:ext cx="2438400" cy="3289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rgbClr val="F5F1E8"/>
                  </a:solidFill>
                  <a:latin typeface="+mn-lt"/>
                  <a:ea typeface="+mn-ea"/>
                  <a:cs typeface="+mn-cs"/>
                </a:rPr>
                <a:t>不是预测，也不是净利润。</a:t>
              </a:r>
              <a:endParaRPr lang="zh-CN" sz="1500" dirty="0">
                <a:solidFill>
                  <a:srgbClr val="F5F1E8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inputs"/>
          <p:cNvGrpSpPr/>
          <p:nvPr/>
        </p:nvGrpSpPr>
        <p:grpSpPr>
          <a:xfrm>
            <a:off x="3207385" y="5588000"/>
            <a:ext cx="5777865" cy="996315"/>
            <a:chOff x="590550" y="2232025"/>
            <a:chExt cx="5429250" cy="1387475"/>
          </a:xfrm>
        </p:grpSpPr>
        <p:sp>
          <p:nvSpPr>
            <p:cNvPr id="26" name="TextBox 5"/>
            <p:cNvSpPr txBox="1"/>
            <p:nvPr/>
          </p:nvSpPr>
          <p:spPr>
            <a:xfrm>
              <a:off x="590550" y="2279650"/>
              <a:ext cx="1997225" cy="8993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10,000</a:t>
              </a:r>
              <a:endPara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6"/>
            <p:cNvSpPr txBox="1"/>
            <p:nvPr/>
          </p:nvSpPr>
          <p:spPr>
            <a:xfrm>
              <a:off x="601980" y="3022600"/>
              <a:ext cx="1459040" cy="3210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活跃用户 / 假设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Line 7"/>
            <p:cNvSpPr/>
            <p:nvPr/>
          </p:nvSpPr>
          <p:spPr>
            <a:xfrm>
              <a:off x="2705100" y="2733675"/>
              <a:ext cx="73342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9" name="TextBox 8"/>
            <p:cNvSpPr txBox="1"/>
            <p:nvPr/>
          </p:nvSpPr>
          <p:spPr>
            <a:xfrm>
              <a:off x="2659380" y="2232025"/>
              <a:ext cx="742188" cy="3210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5% 转化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9"/>
            <p:cNvSpPr txBox="1"/>
            <p:nvPr/>
          </p:nvSpPr>
          <p:spPr>
            <a:xfrm>
              <a:off x="3819525" y="2279650"/>
              <a:ext cx="1017662" cy="8993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500</a:t>
              </a:r>
              <a:endPara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10"/>
            <p:cNvSpPr txBox="1"/>
            <p:nvPr/>
          </p:nvSpPr>
          <p:spPr>
            <a:xfrm>
              <a:off x="3830955" y="3022600"/>
              <a:ext cx="1459040" cy="3210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年费会员 / 假设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Line 11"/>
            <p:cNvSpPr/>
            <p:nvPr/>
          </p:nvSpPr>
          <p:spPr>
            <a:xfrm>
              <a:off x="609600" y="3609975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5715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现在做到哪一步了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914400" y="1168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0A5F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06 · 项目进展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774">
            <a:off x="1524004" y="3930650"/>
            <a:ext cx="914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460500" y="3784600"/>
            <a:ext cx="304800" cy="3048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889000" y="2413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小程序原型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889000" y="2819400"/>
            <a:ext cx="254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前端界面与上传流程完成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889000" y="41910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已完成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08500" y="3784600"/>
            <a:ext cx="304800" cy="3048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3810000" y="2413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异步任务架构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3810000" y="2819400"/>
            <a:ext cx="254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队列与后台消费者已跑通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810000" y="41910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已完成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556500" y="3784600"/>
            <a:ext cx="304800" cy="304800"/>
          </a:xfrm>
          <a:prstGeom prst="ellipse">
            <a:avLst/>
          </a:prstGeom>
          <a:solidFill>
            <a:srgbClr val="FBBF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6858000" y="2413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后端管理看板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858000" y="2819400"/>
            <a:ext cx="254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任务监控与数据管理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858000" y="41910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B48C1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进行中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350500" y="3784600"/>
            <a:ext cx="304800" cy="304800"/>
          </a:xfrm>
          <a:prstGeom prst="ellipse">
            <a:avLst/>
          </a:prstGeom>
          <a:solidFill>
            <a:srgbClr val="94A3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 txBox="1"/>
          <p:nvPr/>
        </p:nvSpPr>
        <p:spPr>
          <a:xfrm>
            <a:off x="9398000" y="2413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748B"/>
                </a:solidFill>
                <a:latin typeface="975Maru SC"/>
                <a:ea typeface="975Maru SC"/>
                <a:cs typeface="975Maru SC"/>
                <a:sym typeface="975Maru SC"/>
              </a:rPr>
              <a:t>文档与录屏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9398000" y="2819400"/>
            <a:ext cx="254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技术归档与演示准备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9398000" y="41910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94A3B8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待完成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"/>
          <a:srcRect t="23363" b="23363"/>
          <a:stretch>
            <a:fillRect/>
          </a:stretch>
        </p:blipFill>
        <p:spPr>
          <a:xfrm>
            <a:off x="2921000" y="4762500"/>
            <a:ext cx="6350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5715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我们的团队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914400" y="1168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0A5F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06 · 团队介绍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660400" cy="660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1016000" y="2057400"/>
            <a:ext cx="66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952500" y="2730500"/>
            <a:ext cx="215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前端开发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952500" y="31115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小程序界面、上传交互、衣橱展示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683000" y="1905000"/>
            <a:ext cx="660400" cy="660400"/>
          </a:xfrm>
          <a:prstGeom prst="ellipse">
            <a:avLst/>
          </a:prstGeom>
          <a:solidFill>
            <a:srgbClr val="FB718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3683000" y="2057400"/>
            <a:ext cx="66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3619500" y="2730500"/>
            <a:ext cx="215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后端架构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3619500" y="31115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API、异步队列、存储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1905000"/>
            <a:ext cx="660400" cy="660400"/>
          </a:xfrm>
          <a:prstGeom prst="ellipse">
            <a:avLst/>
          </a:prstGeom>
          <a:solidFill>
            <a:srgbClr val="FBBF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6350000" y="2057400"/>
            <a:ext cx="66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3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6286500" y="27305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算法与图像处理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286500" y="31115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服饰抠图、衣物识别与打标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017000" y="1905000"/>
            <a:ext cx="660400" cy="660400"/>
          </a:xfrm>
          <a:prstGeom prst="ellipse">
            <a:avLst/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9017000" y="2057400"/>
            <a:ext cx="66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4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8953500" y="27305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产品与设计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8953500" y="31115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需求、交互与视觉、文档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4192">
            <a:off x="889004" y="4184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 txBox="1"/>
          <p:nvPr/>
        </p:nvSpPr>
        <p:spPr>
          <a:xfrm>
            <a:off x="889000" y="45085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团队荣誉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840740" y="4953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zh-CN" sz="1800" b="1" dirty="0">
                <a:ln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我们第一次参加比赛。</a:t>
            </a:r>
            <a:endParaRPr lang="zh-CN" sz="1800" b="1" dirty="0">
              <a:ln/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</p:txBody>
      </p:sp>
      <p:sp>
        <p:nvSpPr>
          <p:cNvPr id="23" name="TextBox 10"/>
          <p:cNvSpPr txBox="1"/>
          <p:nvPr/>
        </p:nvSpPr>
        <p:spPr>
          <a:xfrm>
            <a:off x="840740" y="5588000"/>
            <a:ext cx="533400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全新团队，暂无过往竞赛奖项；</a:t>
            </a:r>
            <a:r>
              <a:rPr 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+mn-ea"/>
              </a:rPr>
              <a:t>让已做出的系统成为实力依据。</a:t>
            </a:r>
            <a:endParaRPr lang="zh-CN" sz="15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5715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下一步怎么走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914400" y="1168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0A5F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06 · 未来规划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89000" y="1778000"/>
            <a:ext cx="3175000" cy="3429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43000" y="2032000"/>
            <a:ext cx="660400" cy="6604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1143000" y="2184400"/>
            <a:ext cx="66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143000" y="28575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短期 · 打磨体验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143000" y="33020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提升抠图与识别精度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异步任务压力测试</a:t>
            </a:r>
            <a:endParaRPr lang="en-US" sz="1300" b="0" i="0" u="none" strike="noStrike">
              <a:solidFill>
                <a:srgbClr val="64748B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优化调度与失败重试</a:t>
            </a:r>
            <a:endParaRPr lang="en-US" sz="1300" b="0" i="0" u="none" strike="noStrike">
              <a:solidFill>
                <a:srgbClr val="64748B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508500" y="1778000"/>
            <a:ext cx="3175000" cy="3429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762500" y="2032000"/>
            <a:ext cx="660400" cy="660400"/>
          </a:xfrm>
          <a:prstGeom prst="ellipse">
            <a:avLst/>
          </a:prstGeom>
          <a:solidFill>
            <a:srgbClr val="FB718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4762500" y="2184400"/>
            <a:ext cx="66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4762500" y="28575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中期 · 做深价值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4762500" y="33020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上线 AI 穿搭推荐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衣橱画像搭配建议</a:t>
            </a:r>
            <a:endParaRPr lang="en-US" sz="1300" b="0" i="0" u="none" strike="noStrike">
              <a:solidFill>
                <a:srgbClr val="64748B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开放 C 端会员</a:t>
            </a:r>
            <a:endParaRPr lang="en-US" sz="1300" b="0" i="0" u="none" strike="noStrike">
              <a:solidFill>
                <a:srgbClr val="64748B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175000" cy="3429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382000" y="2032000"/>
            <a:ext cx="660400" cy="660400"/>
          </a:xfrm>
          <a:prstGeom prst="ellipse">
            <a:avLst/>
          </a:prstGeom>
          <a:solidFill>
            <a:srgbClr val="FBBF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8382000" y="2184400"/>
            <a:ext cx="660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3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8382000" y="2857500"/>
            <a:ext cx="266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E3A8A"/>
                </a:solidFill>
                <a:latin typeface="975Maru SC"/>
                <a:ea typeface="975Maru SC"/>
                <a:cs typeface="975Maru SC"/>
                <a:sym typeface="975Maru SC"/>
              </a:rPr>
              <a:t>长期 · 拓展 B 端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8382000" y="33020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图像处理能力开放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服务服装商家批量素材</a:t>
            </a:r>
            <a:endParaRPr lang="en-US" sz="1300" b="0" i="0" u="none" strike="noStrike">
              <a:solidFill>
                <a:srgbClr val="64748B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从工具走向平台</a:t>
            </a:r>
            <a:endParaRPr lang="en-US" sz="1300" b="0" i="0" u="none" strike="noStrike">
              <a:solidFill>
                <a:srgbClr val="64748B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000" y="254000"/>
            <a:ext cx="889000" cy="889000"/>
          </a:xfrm>
          <a:prstGeom prst="ellipse">
            <a:avLst/>
          </a:prstGeom>
          <a:solidFill>
            <a:srgbClr val="FB7185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922000" y="254000"/>
            <a:ext cx="889000" cy="889000"/>
          </a:xfrm>
          <a:prstGeom prst="ellipse">
            <a:avLst/>
          </a:prstGeom>
          <a:solidFill>
            <a:srgbClr val="FBBF24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778500"/>
            <a:ext cx="889000" cy="889000"/>
          </a:xfrm>
          <a:prstGeom prst="ellipse">
            <a:avLst/>
          </a:prstGeom>
          <a:solidFill>
            <a:srgbClr val="34D399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795000" y="5778500"/>
            <a:ext cx="1016000" cy="1016000"/>
          </a:xfrm>
          <a:prstGeom prst="ellipse">
            <a:avLst/>
          </a:prstGeom>
          <a:solidFill>
            <a:srgbClr val="60A5FA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0" y="1524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3C5F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鱼搭 · AI 电子衣橱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651000" y="2222500"/>
            <a:ext cx="889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3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975Maru SC"/>
                <a:ea typeface="975Maru SC"/>
                <a:cs typeface="975Maru SC"/>
                <a:sym typeface="975Maru SC"/>
              </a:rPr>
              <a:t>拍照上传，剩下的交给鱼搭</a:t>
            </a:r>
            <a:endParaRPr lang="en-US" sz="1100"/>
          </a:p>
          <a:p>
            <a:pPr marL="0" indent="0" algn="ctr">
              <a:lnSpc>
                <a:spcPct val="113000"/>
              </a:lnSpc>
            </a:pPr>
            <a:r>
              <a:rPr lang="en-US" sz="4000" b="1" i="0" u="none" strike="noStrike">
                <a:solidFill>
                  <a:srgbClr val="FFFFFF"/>
                </a:solidFill>
                <a:latin typeface="975Maru SC"/>
                <a:ea typeface="975Maru SC"/>
                <a:cs typeface="975Maru SC"/>
                <a:sym typeface="975Maru SC"/>
              </a:rPr>
              <a:t>整理衣橱，从此不再麻烦</a:t>
            </a:r>
            <a:endParaRPr lang="en-US" sz="4000" b="1" i="0" u="none" strike="noStrike">
              <a:solidFill>
                <a:srgbClr val="FFFFFF"/>
              </a:solidFill>
              <a:latin typeface="975Maru SC"/>
              <a:ea typeface="975Maru SC"/>
              <a:cs typeface="975Maru SC"/>
              <a:sym typeface="975Maru SC"/>
            </a:endParaRPr>
          </a:p>
        </p:txBody>
      </p:sp>
      <p:cxnSp>
        <p:nvCxnSpPr>
          <p:cNvPr id="8" name="Connector 8"/>
          <p:cNvCxnSpPr/>
          <p:nvPr/>
        </p:nvCxnSpPr>
        <p:spPr>
          <a:xfrm rot="-38195">
            <a:off x="5524535" y="4311650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FB718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 txBox="1"/>
          <p:nvPr/>
        </p:nvSpPr>
        <p:spPr>
          <a:xfrm>
            <a:off x="0" y="46355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BEAF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感谢聆听 · 欢迎现场演示与提问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1941</Words>
  <Application>WPS 演示</Application>
  <PresentationFormat/>
  <Paragraphs>439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宋体</vt:lpstr>
      <vt:lpstr>Wingdings</vt:lpstr>
      <vt:lpstr>Arial</vt:lpstr>
      <vt:lpstr>Noto Sans SC</vt:lpstr>
      <vt:lpstr>975Maru SC</vt:lpstr>
      <vt:lpstr>FFont-Family</vt:lpstr>
      <vt:lpstr>微软雅黑</vt:lpstr>
      <vt:lpstr>Arial Unicode MS</vt:lpstr>
      <vt:lpstr>黑体</vt:lpstr>
      <vt:lpstr>隶书</vt:lpstr>
      <vt:lpstr>楷体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张榆晓丸子.</cp:lastModifiedBy>
  <cp:revision>2</cp:revision>
  <dcterms:created xsi:type="dcterms:W3CDTF">2026-10-15T07:25:15Z</dcterms:created>
  <dcterms:modified xsi:type="dcterms:W3CDTF">2026-10-15T07:26:58Z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{"Label":"1","ContentProducer":"001191110102MACQD9K64010000","ProduceID":"7696093738686778338","ReservedCode1":"","ContentPropagator":"","PropagateID":"","ReservedCode2":""}</vt:lpwstr>
  </property>
  <property fmtid="{D5CDD505-2E9C-101B-9397-08002B2CF9AE}" pid="3" name="KSOProductBuildVer">
    <vt:lpwstr>2052-11.1.0.10009</vt:lpwstr>
  </property>
</Properties>
</file>